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4173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Web Frontend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PWF — Introduction au web &amp; au langage HTML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6766560" cy="31089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PWF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1993392"/>
            <a:ext cx="6547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04/10/25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— Introduction web : fonctionnement, vocabulaire, outils &amp; HTML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395728"/>
            <a:ext cx="676656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" y="2395728"/>
            <a:ext cx="6547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18/10/25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— HTML et CSS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2798064"/>
            <a:ext cx="6547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08/11/25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— Arborescence et formulaire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676656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" y="3200400"/>
            <a:ext cx="6547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22/11/25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3602736"/>
            <a:ext cx="6547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06/12/25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— Introduction à JavaScript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005072"/>
            <a:ext cx="676656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" y="4005072"/>
            <a:ext cx="6547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10/01/26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4407408"/>
            <a:ext cx="6547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24/01/26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809744"/>
            <a:ext cx="676656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" y="4809744"/>
            <a:ext cx="6547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07/02/26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" y="5212080"/>
            <a:ext cx="6547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21/02/26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— Introduction framework JavaScript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5614416"/>
            <a:ext cx="676656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" y="5614416"/>
            <a:ext cx="6547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14/03/26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1572768"/>
            <a:ext cx="4023360" cy="31089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PWB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99248" y="1993392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28/03/26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2395728"/>
            <a:ext cx="402336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99248" y="2395728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11/04/26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699248" y="2798064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25/04/26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3200400"/>
            <a:ext cx="402336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99248" y="3200400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23/05/26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Examens en fin de module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671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148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292608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site web ?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de base du web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des outils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21671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148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langage HTML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92608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 document HTML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de base en HTML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site web 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063240" y="2148840"/>
            <a:ext cx="6035040" cy="2651760"/>
          </a:xfrm>
          <a:prstGeom prst="roundRect">
            <a:avLst>
              <a:gd name="adj" fmla="val 2759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assets/htt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514600"/>
            <a:ext cx="4572000" cy="16331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507492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(navigateur) envoie une </a:t>
            </a:r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HTTP</a:t>
            </a:r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; le serveur qui héberge le site renvoie une </a:t>
            </a:r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HTTP</a:t>
            </a:r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de 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64240" cy="1359408"/>
          </a:xfrm>
          <a:prstGeom prst="roundRect">
            <a:avLst>
              <a:gd name="adj" fmla="val 403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274320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 / butineur)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703320" y="1947672"/>
            <a:ext cx="0" cy="10302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783080"/>
            <a:ext cx="749808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capable d'envoyer des demandes de documents via internet, de recevoir les informations renvoyées en réponse, et d'interpréter les standards du web pour les transformer en document affichable.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343656"/>
            <a:ext cx="11064240" cy="1359408"/>
          </a:xfrm>
          <a:prstGeom prst="roundRect">
            <a:avLst>
              <a:gd name="adj" fmla="val 403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43656"/>
            <a:ext cx="274320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03320" y="3508248"/>
            <a:ext cx="0" cy="10302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3343656"/>
            <a:ext cx="749808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personne, le navigateur ou l'ordinateur qui visite un site web.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904232"/>
            <a:ext cx="11064240" cy="1359408"/>
          </a:xfrm>
          <a:prstGeom prst="roundRect">
            <a:avLst>
              <a:gd name="adj" fmla="val 403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904232"/>
            <a:ext cx="274320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703320" y="5068824"/>
            <a:ext cx="0" cy="10302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4904232"/>
            <a:ext cx="749808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machine qui héberge le site web, ou le logiciel à l'écoute des demandes (ex : Apache).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de 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703320" y="1947672"/>
            <a:ext cx="0" cy="640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783080"/>
            <a:ext cx="7498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règles qui permettent de mettre en œuvre une communication.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953512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53512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03320" y="3118104"/>
            <a:ext cx="0" cy="640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2953512"/>
            <a:ext cx="7498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permettant d'échanger des fichiers (File Transfer Protocol).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123944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23944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703320" y="4288536"/>
            <a:ext cx="0" cy="640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4123944"/>
            <a:ext cx="7498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permettant d'échanger des hypertextes (HyperText Transfer Protocol).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" y="5294376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294376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703320" y="5458968"/>
            <a:ext cx="0" cy="640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5294376"/>
            <a:ext cx="7498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accompagné de liens permettant le voyage d'un texte à l'autre (ex : un hyperlien).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de 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64240" cy="1359408"/>
          </a:xfrm>
          <a:prstGeom prst="roundRect">
            <a:avLst>
              <a:gd name="adj" fmla="val 403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274320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703320" y="1947672"/>
            <a:ext cx="0" cy="10302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783080"/>
            <a:ext cx="749808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standard d'annotation principal des hypertextes (HyperText Markup Language).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343656"/>
            <a:ext cx="11064240" cy="1359408"/>
          </a:xfrm>
          <a:prstGeom prst="roundRect">
            <a:avLst>
              <a:gd name="adj" fmla="val 403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43656"/>
            <a:ext cx="274320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03320" y="3508248"/>
            <a:ext cx="0" cy="10302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3343656"/>
            <a:ext cx="749808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standardisée permettant de localiser une ressource (Uniform Resource Locator).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904232"/>
            <a:ext cx="11064240" cy="1359408"/>
          </a:xfrm>
          <a:prstGeom prst="roundRect">
            <a:avLst>
              <a:gd name="adj" fmla="val 403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904232"/>
            <a:ext cx="274320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703320" y="5068824"/>
            <a:ext cx="0" cy="10302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4904232"/>
            <a:ext cx="7498080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mémoire du navigateur permettant la copie d'éléments déjà téléchargés.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des outils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panorama des technologies qu'on rencontre côté web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45973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5568" y="22402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01568" y="2240280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245973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50208" y="22402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6208" y="2240280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245973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84848" y="22402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70848" y="2240280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72016" y="245973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19488" y="22402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321868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343814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15568" y="32186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01568" y="321868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02736" y="343814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950208" y="32186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AJAX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36208" y="321868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343814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84848" y="32186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70848" y="321868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72016" y="343814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19488" y="32186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Angular.JS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66928" y="4197096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" y="441655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15568" y="419709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Vue.JS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401568" y="4197096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02736" y="441655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950208" y="419709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36208" y="4197096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7376" y="441655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784848" y="419709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070848" y="4197096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72016" y="441655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19488" y="419709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ASP.NET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66928" y="5175504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8096" y="53949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115568" y="517550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jQuery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3401568" y="5175504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02736" y="53949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950208" y="517550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 WEB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des outils — le logiciel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L'éditeur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navigateurs — 4 grands moteurs de rendu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611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Opera, Brave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3721608"/>
            <a:ext cx="5669280" cy="23774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0" y="3721608"/>
            <a:ext cx="566928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27080" y="3611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270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WebKit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(Apple)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4379976"/>
            <a:ext cx="5669280" cy="23774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379976"/>
            <a:ext cx="1920786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27080" y="4270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22,7 %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9286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5038344"/>
            <a:ext cx="5669280" cy="23774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120640" y="5038344"/>
            <a:ext cx="423081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27080" y="49286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586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Gecko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(Mozilla)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20640" y="5696712"/>
            <a:ext cx="5669280" cy="23774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5120640" y="5696712"/>
            <a:ext cx="109728" cy="237744"/>
          </a:xfrm>
          <a:prstGeom prst="roundRect">
            <a:avLst>
              <a:gd name="adj" fmla="val 108333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27080" y="55869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0,6 %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fr.wikipedia.org/wiki/Navigateur_web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respire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41848" y="397764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à la partie 2 : le langage HTML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LANGAGE HTML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 document HTML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HTML suit toujours la même ossature : une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(informations) et un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(contenu visible).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1691640"/>
            <a:ext cx="566928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/>
        </p:spPr>
      </p:sp>
      <p:pic>
        <p:nvPicPr>
          <p:cNvPr id="7" name="Image 0" descr="assets/html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194560"/>
            <a:ext cx="4114800" cy="33887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LANGAGE HTML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 document HTML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78308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au navigateur que le document est en HTML5.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55117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5117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551176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Balise racine : englobe tout le contenu (tête et corps).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31927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319272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319272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les métadonnées du document.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0873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8736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charset="utf-8"&gt;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408736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des caractères (UTF-8) — affiche correctement les accents.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485546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85546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4855464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affiché dans l'onglet et dans les résultats de recherche.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62356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62356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562356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le contenu de la page, visible par l'utilisateur.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LANGAGE HTML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des balises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HTML repose sur des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balises (tags)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doivent respecter certaines règles.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756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balise ouverte doit être fermée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500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avec contenu : &lt;p&gt;…&lt;/p&gt;, &lt;em&gt;…&lt;/em&gt;  ·  sans contenu : &lt;meta /&gt;, &lt;br /&gt;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0175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Imbrication autorisée, sans croisement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101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balises s'emboîtent mais ne se chevauchent jamais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99592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L'indentation est ignorée à l'affichage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702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espaces servent seulement à la clarté du code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95604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937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303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commentaire --&gt;  (non affiché dans la page)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2057400"/>
            <a:ext cx="5029200" cy="384048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Imbrication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&lt;p&gt;Un texte en 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emphase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&lt;/em&gt;&lt;/p&gt;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 … &lt;em&gt; … &lt;/p&gt; … &lt;/em&gt;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4160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balise &lt;em&gt; ne peut pas se fermer après &lt;/p&gt; : les balises se croiseraient.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LANGAGE HTML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balises techniques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539496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2860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 … &lt;/html&gt;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786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539496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1272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 … &lt;/head&gt;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419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partie information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77056"/>
            <a:ext cx="539496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9684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 … &lt;/body&gt;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2611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partie contenu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7830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D'INFORMATION (head)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2194560"/>
            <a:ext cx="539496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22860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 … &lt;/title&gt;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25786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titre du document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6208" y="3035808"/>
            <a:ext cx="539496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31272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charset="utf-8" /&gt;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419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l'encodage du fichier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3877056"/>
            <a:ext cx="539496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9088" y="39684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42611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d'autres métadonnées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LANGAGE HTML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balises sémantiques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… &lt;/h1&gt;  →  &lt;h6&gt;   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75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et sous-titres (6 niveaux)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78024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478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 … &lt;/p&gt;   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770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172968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172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 … &lt;/strong&gt;   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465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important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867912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867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 … &lt;/em&gt;   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mis en emphase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562856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562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 /&gt;   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855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la ligne forcé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257800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5257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 /&gt;   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550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horizontale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36208" y="1783080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9088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&lt;li&gt; … &lt;/li&gt; &lt;/ul&gt;   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2075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à puces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36208" y="2478024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9088" y="2478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 &lt;li&gt; … &lt;/li&gt; &lt;/ol&gt;   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2770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ordonnée (numérotée)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36208" y="3172968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&lt;table&gt; — tableau structuré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36758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0233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&lt;caption&gt;…&lt;/caption&gt;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titre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3708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 &lt;th&gt;…&lt;/th&gt; &lt;/tr&gt;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ligne d'en-têtes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47183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 &lt;td&gt;…&lt;/td&gt; &lt;/tr&gt;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ligne de cellules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50657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LANGAGE HTML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Balises d'image, de lien et de média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D'IMAGE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737360"/>
            <a:ext cx="8887968" cy="100584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71800" y="18928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src="mon_image.jpg" alt="défaut.jpg" width="42" height="24" /&gt;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20370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connaître : la différence entre les formats jpg et png.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044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999232"/>
            <a:ext cx="8887968" cy="100584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31546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href="http://www.monsite.be" target="_blank"&gt;Click&lt;/a&gt;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46557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Ancres : id="hautDePage" dans le document, atteint via href="#hautDePage".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3068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MÉDIA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4261104"/>
            <a:ext cx="8887968" cy="100584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71800" y="44165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src="mon_media.mp3"&gt;&lt;/audio&gt;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472744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 src="ma_video.wav"&gt;&lt;/video&gt;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LANGAGE HTML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et attributs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forme générale d'une balise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1945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&lt;tag </a:t>
            </a:r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attr="val" attr="val"</a:t>
            </a:r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ct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contenu</a:t>
            </a:r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&lt;/tag&gt;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703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</a:rPr>
              <a:t>■ 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balise (tag)</a:t>
            </a:r>
            <a:pPr algn="ctr" indent="0" marL="0">
              <a:buNone/>
            </a:pPr>
            <a:r>
              <a:rPr lang="en-US" sz="1300" dirty="0">
                <a:solidFill>
                  <a:srgbClr val="FBBF24"/>
                </a:solidFill>
              </a:rPr>
              <a:t>        ■ 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= valeurs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       ■ 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4846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autoplay="autoplay" src="song.mp3"&gt;&lt;/audio&gt;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LANGAGE HTML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attributs généraux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attributs sont utilisables avec n'importe quelle balise 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77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id="…"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0" y="2578608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237744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d'un élément du DOM (Document Object Model).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747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474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title="…"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0" y="3675888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347472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affiché dans le tooltip (l'infobulle) d'un élément.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5720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class, style, …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114800" y="4773168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45720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d'autres attributs communs à toutes les balises.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LANGAGE HTML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URLs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05456" y="178308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05456" y="1783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www.monsite.be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05456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domaine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64224" y="178308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64224" y="1783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/vacances/images/plage.jpg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2468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(adresse absolue)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absolue vs URL relative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6928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858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187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/vacances/images/plage.jpg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553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complet depuis la racine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0528" y="3858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4187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images/plage.jpg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4553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depuis la page courante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212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212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Laquelle privilégier ?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relative résiste mieux si le site change de serveur.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41732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DE JOUER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389120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56285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43891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 1 HTML.txt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524865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63040" y="50749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 1 — énoncé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2026-09-09T15:06:53Z</dcterms:created>
  <dcterms:modified xsi:type="dcterms:W3CDTF">2026-09-09T15:06:53Z</dcterms:modified>
</cp:coreProperties>
</file>