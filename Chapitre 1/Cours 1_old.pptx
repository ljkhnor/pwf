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1" r:id="rId6"/>
    <p:sldId id="263" r:id="rId7"/>
    <p:sldId id="264" r:id="rId8"/>
    <p:sldId id="262" r:id="rId9"/>
    <p:sldId id="266" r:id="rId10"/>
    <p:sldId id="274" r:id="rId11"/>
    <p:sldId id="265" r:id="rId12"/>
    <p:sldId id="275" r:id="rId13"/>
    <p:sldId id="267" r:id="rId14"/>
    <p:sldId id="268" r:id="rId15"/>
    <p:sldId id="272" r:id="rId16"/>
    <p:sldId id="273" r:id="rId17"/>
    <p:sldId id="269" r:id="rId18"/>
    <p:sldId id="270" r:id="rId19"/>
    <p:sldId id="271" r:id="rId20"/>
    <p:sldId id="260" r:id="rId2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07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98B9B3-81FB-353C-1588-52F2B1A2FD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967A25D-AC2A-F097-B44D-C80209AF71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2B2E620-1E0F-A609-7533-75B229262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4DA32-7E64-4EAF-B47D-EC83B898ACFA}" type="datetimeFigureOut">
              <a:rPr lang="fr-BE" smtClean="0"/>
              <a:t>07-10-25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2C6061B-1155-8E54-097B-9AEAC60FD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49D081F-7F31-8078-2DCF-504B99FF3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ED0B5-4676-4037-A408-5FBD8D67A7FD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693671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0FB1314-7A22-C2C3-5191-236C27585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52275DC-C446-8145-6B2D-D954ED8F65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6E72AB9-49F0-B868-45B8-F9062C46F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4DA32-7E64-4EAF-B47D-EC83B898ACFA}" type="datetimeFigureOut">
              <a:rPr lang="fr-BE" smtClean="0"/>
              <a:t>07-10-25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35349C9-8405-94B7-1B60-918379B10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7E3C47A-DFFE-14A4-DEF6-AEA4BCA80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ED0B5-4676-4037-A408-5FBD8D67A7FD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19170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A4F4A1F-DCA1-9736-8278-D1B0111FD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69D72CD-5C0D-936E-AB19-39DE7816FA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B3C78D5-FA11-D39C-6492-CD085B1E2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4DA32-7E64-4EAF-B47D-EC83B898ACFA}" type="datetimeFigureOut">
              <a:rPr lang="fr-BE" smtClean="0"/>
              <a:t>07-10-25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8CC2DFA-9AF3-286B-D4D3-32F0FF354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3C39E8F-023D-E516-5427-508F82032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ED0B5-4676-4037-A408-5FBD8D67A7FD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624476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787684-93AC-8024-B3C5-FFFCFFEC5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5203025-623D-B068-854D-F5E8F84488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DC537E8-F11A-40BF-44A1-16C4A4A0E4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D543B2B-B684-2050-85ED-4C07012CE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4DA32-7E64-4EAF-B47D-EC83B898ACFA}" type="datetimeFigureOut">
              <a:rPr lang="fr-BE" smtClean="0"/>
              <a:t>07-10-25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53DFB1C-E698-0484-4CC5-4D07C7039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8A84DDB-DE0F-2084-D14F-6927378FC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ED0B5-4676-4037-A408-5FBD8D67A7FD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012733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73F587-8CD6-C43D-6B16-241E434D1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C8DF503-38B7-9FC2-6B62-3505969BE6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4C55428-C658-36D1-7138-32AF978912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5FD426B-14B8-5FF0-301B-6DAE5752D9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F3EBFAF4-108E-7C39-C98A-EFB1E603D7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6793DD1-2FF3-40BD-1A0D-28F3540F8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4DA32-7E64-4EAF-B47D-EC83B898ACFA}" type="datetimeFigureOut">
              <a:rPr lang="fr-BE" smtClean="0"/>
              <a:t>07-10-25</a:t>
            </a:fld>
            <a:endParaRPr lang="fr-BE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761D08E5-F4D6-93EC-BAAA-06A56CAE4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1B6CFB1E-8E71-4718-DF20-BC77AD8A5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ED0B5-4676-4037-A408-5FBD8D67A7FD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768167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AE8BA0-E613-C53A-92D1-51024C7E3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81D8A0E-B94A-BE46-973D-21D86FAB5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4DA32-7E64-4EAF-B47D-EC83B898ACFA}" type="datetimeFigureOut">
              <a:rPr lang="fr-BE" smtClean="0"/>
              <a:t>07-10-25</a:t>
            </a:fld>
            <a:endParaRPr lang="fr-BE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A1F8004-5BDC-F9E0-1611-7B3040622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6142B9D-E051-31A0-503A-7E17D6247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ED0B5-4676-4037-A408-5FBD8D67A7FD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038404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782C6F9A-0292-EB4A-54B4-5B532A676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4DA32-7E64-4EAF-B47D-EC83B898ACFA}" type="datetimeFigureOut">
              <a:rPr lang="fr-BE" smtClean="0"/>
              <a:t>07-10-25</a:t>
            </a:fld>
            <a:endParaRPr lang="fr-BE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8FCA5DC-3022-C622-8D5C-E60879C4D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9620000-6A53-A467-D758-D2656ABD8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ED0B5-4676-4037-A408-5FBD8D67A7FD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967868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320E2A-6093-5086-4880-4E11D9262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C5FDD2D-8035-5BC2-B64D-A624C224C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8416B59-4843-9BB9-8B1D-3D43F697BE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34654D1-90AA-B655-EF11-A578F2E06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4DA32-7E64-4EAF-B47D-EC83B898ACFA}" type="datetimeFigureOut">
              <a:rPr lang="fr-BE" smtClean="0"/>
              <a:t>07-10-25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772763F-3030-3946-7E4C-B210FCA7B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9516E04-1790-8D5C-6DBF-99D956EC7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ED0B5-4676-4037-A408-5FBD8D67A7FD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316643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F6EA8A6-1F5B-4E08-ADFB-0E8BC9771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7EBA711-B5BD-E709-971C-D7301132E7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2B92A24-48D2-3DBE-9E13-7680992CF2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95435E7-CD46-FD78-3BF2-9DF091BB1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4DA32-7E64-4EAF-B47D-EC83B898ACFA}" type="datetimeFigureOut">
              <a:rPr lang="fr-BE" smtClean="0"/>
              <a:t>07-10-25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F1BC3E3-FA13-5F8A-1950-E3FA7407C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BDF97A3-74A0-8E96-CA04-00473128E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ED0B5-4676-4037-A408-5FBD8D67A7FD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8326978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C38AB1-90E1-08C5-CE11-0084FA0DE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499AFB1-4BF1-3116-31B4-2BF8507873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013DF31-F469-1CEA-E1E2-69A65B52B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4DA32-7E64-4EAF-B47D-EC83B898ACFA}" type="datetimeFigureOut">
              <a:rPr lang="fr-BE" smtClean="0"/>
              <a:t>07-10-25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4AE89DA-644D-3F33-8E11-9A2142CF1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87764D9-AB37-000A-3794-532AF602E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ED0B5-4676-4037-A408-5FBD8D67A7FD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782807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A5E8ADAC-7ABC-592C-F836-A6B7CEB468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180EDC7-CE7E-31D3-8F79-A20A6A2734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A330212-8927-CF57-0413-25F534C5F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4DA32-7E64-4EAF-B47D-EC83B898ACFA}" type="datetimeFigureOut">
              <a:rPr lang="fr-BE" smtClean="0"/>
              <a:t>07-10-25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8D143DA-92CC-537C-3136-B3AB253C3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212C094-E02E-CC94-8FC6-227D16EF5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ED0B5-4676-4037-A408-5FBD8D67A7FD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264963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BDB515D-56FC-1EA2-60B8-ADED2FF07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D22E922-063F-16FC-C46A-0F7F2FB824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D57B58E-35B7-9977-5415-0F1B137DFC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E4DA32-7E64-4EAF-B47D-EC83B898ACFA}" type="datetimeFigureOut">
              <a:rPr lang="fr-BE" smtClean="0"/>
              <a:t>07-10-25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197FCBD-BA3E-9EAE-DD9C-1CE84FD1E2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6CBBAED-F504-E8A8-B96E-AAD34D0ECC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FED0B5-4676-4037-A408-5FBD8D67A7FD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612086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evaypaula4b.blogspot.com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oogle.com/?hl=fr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fr.wikipedia.org/wiki/Navigateur_web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://www.monsite.be/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75FACC-8ACE-DAF2-94CB-153B705894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BE"/>
              <a:t>Module 1 – Programmation web Frontend</a:t>
            </a:r>
            <a:endParaRPr lang="fr-BE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8111BB8-DD37-898D-401E-FB29C62BBC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7686551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AEC9C27-ECFE-D14F-00A7-511FE5C6E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Planning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8D2DDCE-0A4A-D02D-726C-377C363C1E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fr-BE" dirty="0"/>
              <a:t>PWF</a:t>
            </a:r>
          </a:p>
          <a:p>
            <a:r>
              <a:rPr lang="fr-BE" dirty="0"/>
              <a:t>4/10/25 – Chapitre 1. Introduction web – fonctionnement, vocabulaire, prise en main des outils et Introduction au langage HTML</a:t>
            </a:r>
          </a:p>
          <a:p>
            <a:r>
              <a:rPr lang="fr-BE" dirty="0"/>
              <a:t>18/10/25– Chapitre 2. Introduction web – HTML et CSS</a:t>
            </a:r>
          </a:p>
          <a:p>
            <a:r>
              <a:rPr lang="fr-BE" dirty="0"/>
              <a:t>8/11/25 – Chapitre 3. Introduction web – Arborescence et Formulaire</a:t>
            </a:r>
          </a:p>
          <a:p>
            <a:r>
              <a:rPr lang="fr-BE" dirty="0"/>
              <a:t>22/11 /25 – Chapitre 4. </a:t>
            </a:r>
          </a:p>
          <a:p>
            <a:r>
              <a:rPr lang="fr-BE" dirty="0"/>
              <a:t>6/12 /25– Chapitre 5. Introduction à Javascript</a:t>
            </a:r>
          </a:p>
          <a:p>
            <a:r>
              <a:rPr lang="fr-BE" dirty="0"/>
              <a:t>10/01/26 – Chapitre 6.</a:t>
            </a:r>
          </a:p>
          <a:p>
            <a:r>
              <a:rPr lang="fr-BE" dirty="0"/>
              <a:t>24/01/26  - Chapitre 7.</a:t>
            </a:r>
          </a:p>
          <a:p>
            <a:r>
              <a:rPr lang="fr-BE" dirty="0"/>
              <a:t>07/02/26  - Chapitre 8.</a:t>
            </a:r>
          </a:p>
          <a:p>
            <a:r>
              <a:rPr lang="fr-BE" dirty="0"/>
              <a:t>21/02/26  - Chapitre 9. Introduction Framework Javascript</a:t>
            </a:r>
          </a:p>
          <a:p>
            <a:r>
              <a:rPr lang="fr-BE" dirty="0"/>
              <a:t>14/03/26  - Examen</a:t>
            </a:r>
          </a:p>
          <a:p>
            <a:pPr marL="0" indent="0">
              <a:buNone/>
            </a:pPr>
            <a:r>
              <a:rPr lang="fr-BE" dirty="0"/>
              <a:t>PWB</a:t>
            </a:r>
          </a:p>
          <a:p>
            <a:r>
              <a:rPr lang="fr-BE" dirty="0"/>
              <a:t>28/03/26 – Chapitre 1.</a:t>
            </a:r>
          </a:p>
          <a:p>
            <a:r>
              <a:rPr lang="fr-BE" dirty="0"/>
              <a:t>11/04/26 – Chapitre 2.</a:t>
            </a:r>
          </a:p>
          <a:p>
            <a:r>
              <a:rPr lang="fr-BE" dirty="0"/>
              <a:t>25/04/26 – Chapitre 3.</a:t>
            </a:r>
          </a:p>
          <a:p>
            <a:r>
              <a:rPr lang="fr-BE" dirty="0"/>
              <a:t>23/05/26  - Examen </a:t>
            </a:r>
          </a:p>
        </p:txBody>
      </p:sp>
    </p:spTree>
    <p:extLst>
      <p:ext uri="{BB962C8B-B14F-4D97-AF65-F5344CB8AC3E}">
        <p14:creationId xmlns:p14="http://schemas.microsoft.com/office/powerpoint/2010/main" val="908974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8476510-AD5A-2AD6-9E44-6B374F710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Chapitre 1.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BC10A3C-3DA3-D7B2-C86D-1E07731261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BE" dirty="0"/>
              <a:t>1. Introduction au web </a:t>
            </a:r>
          </a:p>
          <a:p>
            <a:pPr lvl="1"/>
            <a:r>
              <a:rPr lang="fr-BE" dirty="0"/>
              <a:t>Qu'est-ce qu'un site web ? </a:t>
            </a:r>
          </a:p>
          <a:p>
            <a:pPr lvl="1"/>
            <a:r>
              <a:rPr lang="fr-BE" dirty="0"/>
              <a:t>Vocabulaire de base du web </a:t>
            </a:r>
          </a:p>
          <a:p>
            <a:pPr lvl="1"/>
            <a:r>
              <a:rPr lang="fr-BE" dirty="0"/>
              <a:t>Prise en main des outils</a:t>
            </a:r>
          </a:p>
          <a:p>
            <a:pPr marL="0" indent="0">
              <a:buNone/>
            </a:pPr>
            <a:r>
              <a:rPr lang="fr-BE" dirty="0"/>
              <a:t>2. Introduction au langage HTML </a:t>
            </a:r>
          </a:p>
          <a:p>
            <a:pPr lvl="1"/>
            <a:r>
              <a:rPr lang="fr-BE" dirty="0"/>
              <a:t>Structure d'un document HTML</a:t>
            </a:r>
          </a:p>
          <a:p>
            <a:pPr lvl="1"/>
            <a:r>
              <a:rPr lang="fr-BE" dirty="0"/>
              <a:t>Principes de base en HTML</a:t>
            </a:r>
          </a:p>
        </p:txBody>
      </p:sp>
    </p:spTree>
    <p:extLst>
      <p:ext uri="{BB962C8B-B14F-4D97-AF65-F5344CB8AC3E}">
        <p14:creationId xmlns:p14="http://schemas.microsoft.com/office/powerpoint/2010/main" val="20877880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1681099-B578-8E9C-645F-FDC700BF0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1. Introduction web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E5DA406-E6B4-BD6F-C920-37B9210D7F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Qu'est-ce qu'un site web ? </a:t>
            </a:r>
          </a:p>
          <a:p>
            <a:pPr marL="0" indent="0">
              <a:buNone/>
            </a:pPr>
            <a:endParaRPr lang="fr-BE" dirty="0"/>
          </a:p>
        </p:txBody>
      </p:sp>
      <p:pic>
        <p:nvPicPr>
          <p:cNvPr id="8" name="Image 7" descr="Une image contenant texte, capture d’écran, croquis, diagramme">
            <a:extLst>
              <a:ext uri="{FF2B5EF4-FFF2-40B4-BE49-F238E27FC236}">
                <a16:creationId xmlns:a16="http://schemas.microsoft.com/office/drawing/2014/main" id="{4A7E9D18-2D06-1C6E-22D8-EFF9BB0F7E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237804" y="2417531"/>
            <a:ext cx="9716391" cy="3471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5444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FC30B-BE7E-E37A-1AB5-AB1C473A8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C0B5EF1-B4BB-9140-BDCE-FDF2934DA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1. Introduction web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8A27A14-A11F-B63D-6B93-6D0478861B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Vocabulaire de base du web</a:t>
            </a:r>
          </a:p>
          <a:p>
            <a:pPr lvl="1"/>
            <a:r>
              <a:rPr lang="fr-BE" dirty="0"/>
              <a:t>Navigateur (browser / butineur)</a:t>
            </a:r>
          </a:p>
          <a:p>
            <a:pPr lvl="2"/>
            <a:r>
              <a:rPr lang="fr-BE" dirty="0"/>
              <a:t>Logiciel capable </a:t>
            </a:r>
          </a:p>
          <a:p>
            <a:pPr lvl="3"/>
            <a:r>
              <a:rPr lang="fr-BE" dirty="0"/>
              <a:t>D’envoyer des demandes de documents via internet</a:t>
            </a:r>
          </a:p>
          <a:p>
            <a:pPr lvl="3"/>
            <a:r>
              <a:rPr lang="fr-BE" dirty="0"/>
              <a:t>De recevoir les informations renvoyés en réponses</a:t>
            </a:r>
          </a:p>
          <a:p>
            <a:pPr lvl="3"/>
            <a:r>
              <a:rPr lang="fr-BE" dirty="0"/>
              <a:t>D’interpréter les standards utilisés par le web pour les transformer en document affichable</a:t>
            </a:r>
          </a:p>
          <a:p>
            <a:pPr lvl="1"/>
            <a:r>
              <a:rPr lang="fr-BE" dirty="0"/>
              <a:t>Client</a:t>
            </a:r>
          </a:p>
          <a:p>
            <a:pPr lvl="2"/>
            <a:r>
              <a:rPr lang="fr-BE" dirty="0"/>
              <a:t>La personne / navigateur / ordinateur qui visite un site web</a:t>
            </a:r>
          </a:p>
          <a:p>
            <a:pPr lvl="1"/>
            <a:r>
              <a:rPr lang="fr-BE" dirty="0"/>
              <a:t>Serveur</a:t>
            </a:r>
          </a:p>
          <a:p>
            <a:pPr lvl="2"/>
            <a:r>
              <a:rPr lang="fr-BE" dirty="0"/>
              <a:t>La machine qui héberge le site web, ou le logiciel qui est à l’écoute des demandes (ex: Apache)</a:t>
            </a:r>
          </a:p>
        </p:txBody>
      </p:sp>
    </p:spTree>
    <p:extLst>
      <p:ext uri="{BB962C8B-B14F-4D97-AF65-F5344CB8AC3E}">
        <p14:creationId xmlns:p14="http://schemas.microsoft.com/office/powerpoint/2010/main" val="26316129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DC72C-DE1D-2113-E03F-83321863A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D53B95-6B5F-62F3-1172-8C54CC1FF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1. Introduction web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9C63169-31CC-286C-402D-87AAD2B12C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 dirty="0"/>
              <a:t>Vocabulaire de base du web</a:t>
            </a:r>
          </a:p>
          <a:p>
            <a:pPr lvl="1"/>
            <a:r>
              <a:rPr lang="fr-BE" dirty="0"/>
              <a:t>Protocole</a:t>
            </a:r>
          </a:p>
          <a:p>
            <a:pPr lvl="2"/>
            <a:r>
              <a:rPr lang="fr-BE" dirty="0"/>
              <a:t>Ensemble de règles qui permettent de mettre en œuvre une communication</a:t>
            </a:r>
          </a:p>
          <a:p>
            <a:pPr lvl="1"/>
            <a:r>
              <a:rPr lang="fr-BE" dirty="0"/>
              <a:t>FTP</a:t>
            </a:r>
          </a:p>
          <a:p>
            <a:pPr lvl="2"/>
            <a:r>
              <a:rPr lang="fr-BE" dirty="0"/>
              <a:t>Protocole permettant d’échanger des fichiers (File Transfert Protocol)</a:t>
            </a:r>
          </a:p>
          <a:p>
            <a:pPr lvl="1"/>
            <a:r>
              <a:rPr lang="fr-BE" dirty="0"/>
              <a:t>HTTP</a:t>
            </a:r>
          </a:p>
          <a:p>
            <a:pPr lvl="2"/>
            <a:r>
              <a:rPr lang="fr-BE" dirty="0"/>
              <a:t>Protocole permettant d’échanger des hypertextes (HyperText Transfer Protocol)</a:t>
            </a:r>
          </a:p>
          <a:p>
            <a:pPr lvl="1"/>
            <a:r>
              <a:rPr lang="fr-BE" dirty="0"/>
              <a:t>Hypertexte</a:t>
            </a:r>
          </a:p>
          <a:p>
            <a:pPr lvl="2"/>
            <a:r>
              <a:rPr lang="fr-BE" dirty="0"/>
              <a:t>Texte accompagné de lien permettant le voyage d’un texte à l’autre</a:t>
            </a:r>
          </a:p>
          <a:p>
            <a:pPr lvl="3"/>
            <a:r>
              <a:rPr lang="fr-BE" dirty="0">
                <a:hlinkClick r:id="rId2"/>
              </a:rPr>
              <a:t>ceci est un hyperlien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40757023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5605D-9BDE-F7FD-D0BE-F771EC375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1B5BF70-F844-0CAD-DD8B-6048677CE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1. Introduction web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CE0D520-F546-9E1D-BBE9-D56B2847A2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Vocabulaire</a:t>
            </a:r>
          </a:p>
          <a:p>
            <a:pPr lvl="1"/>
            <a:r>
              <a:rPr lang="fr-BE" dirty="0"/>
              <a:t>HTML</a:t>
            </a:r>
          </a:p>
          <a:p>
            <a:pPr lvl="2"/>
            <a:r>
              <a:rPr lang="fr-BE" dirty="0"/>
              <a:t>Langage standard d’annotation principal des hypertextes (HyperText Markup Langage)</a:t>
            </a:r>
          </a:p>
          <a:p>
            <a:pPr lvl="1"/>
            <a:r>
              <a:rPr lang="fr-BE" dirty="0"/>
              <a:t>URL</a:t>
            </a:r>
          </a:p>
          <a:p>
            <a:pPr lvl="2"/>
            <a:r>
              <a:rPr lang="fr-BE" dirty="0"/>
              <a:t>Expression standardisée permettant de localiser une ressource (</a:t>
            </a:r>
            <a:r>
              <a:rPr lang="fr-BE" dirty="0" err="1"/>
              <a:t>Unified</a:t>
            </a:r>
            <a:r>
              <a:rPr lang="fr-BE" dirty="0"/>
              <a:t> Ressource Locator)</a:t>
            </a:r>
          </a:p>
          <a:p>
            <a:pPr lvl="1"/>
            <a:r>
              <a:rPr lang="fr-BE" dirty="0"/>
              <a:t>Cache</a:t>
            </a:r>
          </a:p>
          <a:p>
            <a:pPr lvl="2"/>
            <a:r>
              <a:rPr lang="fr-BE" dirty="0"/>
              <a:t>Stockage mémoire du navigateur permettant la copie d’éléments déjà téléchargés</a:t>
            </a:r>
          </a:p>
        </p:txBody>
      </p:sp>
    </p:spTree>
    <p:extLst>
      <p:ext uri="{BB962C8B-B14F-4D97-AF65-F5344CB8AC3E}">
        <p14:creationId xmlns:p14="http://schemas.microsoft.com/office/powerpoint/2010/main" val="14727427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BDAD4-63E6-9814-A11B-5B6AB4425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9CCFB27-C007-2787-4DD2-9F9E15C57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1. Introduction web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5EF97EC-577B-1335-3D55-DEBD19B127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BE" dirty="0"/>
              <a:t>Prise en main des outils</a:t>
            </a:r>
          </a:p>
          <a:p>
            <a:pPr lvl="1"/>
            <a:r>
              <a:rPr lang="fr-BE" dirty="0"/>
              <a:t>HTML</a:t>
            </a:r>
          </a:p>
          <a:p>
            <a:pPr lvl="1"/>
            <a:r>
              <a:rPr lang="fr-BE" dirty="0"/>
              <a:t>Node.JS</a:t>
            </a:r>
          </a:p>
          <a:p>
            <a:pPr lvl="1"/>
            <a:r>
              <a:rPr lang="fr-BE" dirty="0"/>
              <a:t>CSS</a:t>
            </a:r>
          </a:p>
          <a:p>
            <a:pPr lvl="1"/>
            <a:r>
              <a:rPr lang="fr-BE" dirty="0"/>
              <a:t>PHP</a:t>
            </a:r>
          </a:p>
          <a:p>
            <a:pPr lvl="1"/>
            <a:r>
              <a:rPr lang="fr-BE" dirty="0"/>
              <a:t>AJAX</a:t>
            </a:r>
          </a:p>
          <a:p>
            <a:pPr lvl="1"/>
            <a:r>
              <a:rPr lang="fr-BE" dirty="0"/>
              <a:t>Javascript</a:t>
            </a:r>
          </a:p>
          <a:p>
            <a:pPr lvl="1"/>
            <a:r>
              <a:rPr lang="fr-BE" dirty="0"/>
              <a:t>XML</a:t>
            </a:r>
          </a:p>
          <a:p>
            <a:pPr lvl="1"/>
            <a:r>
              <a:rPr lang="fr-BE" dirty="0"/>
              <a:t>Angular.JS</a:t>
            </a:r>
          </a:p>
          <a:p>
            <a:pPr lvl="1"/>
            <a:r>
              <a:rPr lang="fr-BE" dirty="0"/>
              <a:t>Vue.JS</a:t>
            </a:r>
          </a:p>
          <a:p>
            <a:pPr lvl="1"/>
            <a:r>
              <a:rPr lang="fr-BE" dirty="0"/>
              <a:t>SOAP</a:t>
            </a:r>
          </a:p>
          <a:p>
            <a:pPr lvl="1"/>
            <a:r>
              <a:rPr lang="fr-BE" dirty="0"/>
              <a:t>REST</a:t>
            </a:r>
          </a:p>
          <a:p>
            <a:pPr lvl="1"/>
            <a:r>
              <a:rPr lang="fr-BE" dirty="0"/>
              <a:t>ASP.NET</a:t>
            </a:r>
          </a:p>
          <a:p>
            <a:pPr lvl="1"/>
            <a:r>
              <a:rPr lang="fr-BE" dirty="0" err="1"/>
              <a:t>Jquery</a:t>
            </a:r>
            <a:endParaRPr lang="fr-BE" dirty="0"/>
          </a:p>
          <a:p>
            <a:pPr lvl="1"/>
            <a:r>
              <a:rPr lang="fr-B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5162307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6EEC8-3FCD-428D-C6EE-00EA843BC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9B7725-62E4-39F1-E1D6-375118DBC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1. Introduction web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2BA8479-EFC2-5942-74B8-3A163EB165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 dirty="0"/>
              <a:t>Prise en main des outils – le logiciel</a:t>
            </a:r>
          </a:p>
          <a:p>
            <a:pPr lvl="1"/>
            <a:r>
              <a:rPr lang="fr-BE" dirty="0"/>
              <a:t>VS Code</a:t>
            </a:r>
          </a:p>
          <a:p>
            <a:r>
              <a:rPr lang="fr-FR" dirty="0"/>
              <a:t>Les navigateurs</a:t>
            </a:r>
          </a:p>
          <a:p>
            <a:pPr lvl="1"/>
            <a:r>
              <a:rPr lang="fr-FR" dirty="0"/>
              <a:t>4 grands moteurs</a:t>
            </a:r>
          </a:p>
          <a:p>
            <a:pPr lvl="2"/>
            <a:r>
              <a:rPr lang="fr-FR" dirty="0" err="1"/>
              <a:t>Chromium</a:t>
            </a:r>
            <a:r>
              <a:rPr lang="fr-FR" dirty="0"/>
              <a:t> (</a:t>
            </a:r>
            <a:r>
              <a:rPr lang="fr-BE" dirty="0"/>
              <a:t>Google Chrome, Microsoft Edge, Opera et Brave</a:t>
            </a:r>
            <a:r>
              <a:rPr lang="fr-FR" dirty="0"/>
              <a:t>) – 67%</a:t>
            </a:r>
          </a:p>
          <a:p>
            <a:pPr lvl="2"/>
            <a:r>
              <a:rPr lang="fr-FR" dirty="0"/>
              <a:t>Gecko (Mozilla Firefox) – 0,6%</a:t>
            </a:r>
          </a:p>
          <a:p>
            <a:pPr lvl="2"/>
            <a:r>
              <a:rPr lang="fr-FR" dirty="0" err="1"/>
              <a:t>Webkit</a:t>
            </a:r>
            <a:r>
              <a:rPr lang="fr-FR" dirty="0"/>
              <a:t> (Safari d’Apple) – 22,7%</a:t>
            </a:r>
          </a:p>
          <a:p>
            <a:pPr lvl="2"/>
            <a:r>
              <a:rPr lang="fr-FR" dirty="0" err="1"/>
              <a:t>Blink</a:t>
            </a:r>
            <a:r>
              <a:rPr lang="fr-FR" dirty="0"/>
              <a:t> (Android) - +/- 5%</a:t>
            </a:r>
          </a:p>
          <a:p>
            <a:pPr lvl="2"/>
            <a:endParaRPr lang="fr-FR" dirty="0"/>
          </a:p>
          <a:p>
            <a:pPr lvl="2"/>
            <a:endParaRPr lang="fr-FR" dirty="0"/>
          </a:p>
          <a:p>
            <a:pPr lvl="1"/>
            <a:r>
              <a:rPr lang="fr-FR" dirty="0">
                <a:hlinkClick r:id="rId2"/>
              </a:rPr>
              <a:t>https://fr.wikipedia.org/wiki/Navigateur_web</a:t>
            </a:r>
            <a:r>
              <a:rPr lang="fr-FR" dirty="0"/>
              <a:t> </a:t>
            </a:r>
          </a:p>
          <a:p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7622501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329F578-CA10-93BE-4580-7683B9D31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On respire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A7EC94A-0C0C-6B98-09F4-D14D6205DE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4126910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691E8-1F27-9153-B98D-B3C62ACC0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C6B27D-40E6-CFD4-A19D-E47C1701A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2. Introduction au langage HTML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5458E3A-0CAA-D848-D5F2-1176A11FEB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Structure d'un document HTML</a:t>
            </a:r>
          </a:p>
          <a:p>
            <a:pPr marL="0" indent="0">
              <a:buNone/>
            </a:pPr>
            <a:endParaRPr lang="fr-BE" dirty="0"/>
          </a:p>
        </p:txBody>
      </p:sp>
      <p:pic>
        <p:nvPicPr>
          <p:cNvPr id="7" name="Image 6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8822C004-B50A-A0AD-39F9-DC30361BB2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0813" y="2315089"/>
            <a:ext cx="4690374" cy="3861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2369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54D6C-E674-7617-8F94-1BB7182DA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3EA0DC2-CE81-A8A5-B7F9-58C0B6193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2. Introduction au langage HTML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837967D-0BE2-E0D7-9412-2F7C35222A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BE" dirty="0"/>
              <a:t>Structure d'un document HTML</a:t>
            </a:r>
          </a:p>
          <a:p>
            <a:pPr lvl="1"/>
            <a:r>
              <a:rPr lang="fr-BE" dirty="0"/>
              <a:t>&lt;!DOCTYPE html&gt; : Cette déclaration indique au navigateur que le document est en HTML5 et doit être interprété comme tel. </a:t>
            </a:r>
          </a:p>
          <a:p>
            <a:pPr lvl="1"/>
            <a:r>
              <a:rPr lang="fr-BE" dirty="0"/>
              <a:t>&lt;html&gt; : C'est la balise racine de tout document HTML. Elle englobe tout le contenu de la page, que ce soit dans la section tête ou le corps. </a:t>
            </a:r>
          </a:p>
          <a:p>
            <a:pPr lvl="1"/>
            <a:r>
              <a:rPr lang="fr-BE" dirty="0"/>
              <a:t>&lt;</a:t>
            </a:r>
            <a:r>
              <a:rPr lang="fr-BE" dirty="0" err="1"/>
              <a:t>head</a:t>
            </a:r>
            <a:r>
              <a:rPr lang="fr-BE" dirty="0"/>
              <a:t>&gt; : Cette section contient des métadonnées sur le document. </a:t>
            </a:r>
          </a:p>
          <a:p>
            <a:pPr lvl="1"/>
            <a:r>
              <a:rPr lang="fr-BE" dirty="0"/>
              <a:t>&lt;</a:t>
            </a:r>
            <a:r>
              <a:rPr lang="fr-BE" dirty="0" err="1"/>
              <a:t>meta</a:t>
            </a:r>
            <a:r>
              <a:rPr lang="fr-BE" dirty="0"/>
              <a:t> </a:t>
            </a:r>
            <a:r>
              <a:rPr lang="fr-BE" dirty="0" err="1"/>
              <a:t>charset</a:t>
            </a:r>
            <a:r>
              <a:rPr lang="fr-BE" dirty="0"/>
              <a:t>="utf-8"&gt; : Spécifie l'encodage des caractères (ici, UTF-8), ce qui permet l'affichage correct des caractères spéciaux, comme les accents. </a:t>
            </a:r>
          </a:p>
          <a:p>
            <a:pPr lvl="1"/>
            <a:r>
              <a:rPr lang="fr-BE" dirty="0"/>
              <a:t>&lt;</a:t>
            </a:r>
            <a:r>
              <a:rPr lang="fr-BE" dirty="0" err="1"/>
              <a:t>title</a:t>
            </a:r>
            <a:r>
              <a:rPr lang="fr-BE" dirty="0"/>
              <a:t>&gt; : Définit le titre de la page qui s'affiche dans l'onglet du navigateur et dans les résultats de recherche. </a:t>
            </a:r>
          </a:p>
          <a:p>
            <a:pPr lvl="1"/>
            <a:r>
              <a:rPr lang="fr-BE" dirty="0"/>
              <a:t>&lt;body&gt; : Cette section contient le contenu de la page web, ce qui sera visible par l'utilisateur. </a:t>
            </a:r>
          </a:p>
        </p:txBody>
      </p:sp>
    </p:spTree>
    <p:extLst>
      <p:ext uri="{BB962C8B-B14F-4D97-AF65-F5344CB8AC3E}">
        <p14:creationId xmlns:p14="http://schemas.microsoft.com/office/powerpoint/2010/main" val="29084115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BEF98-AEBF-143C-8BAF-7ACA95BB8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9A957A5-4299-C55E-A9BD-EEDB47BFB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2. Introduction au langage HTML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87C5842-CCA8-579A-1E93-AB99AF7626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BE" dirty="0"/>
              <a:t>Le langage html repose sur des </a:t>
            </a:r>
            <a:r>
              <a:rPr lang="fr-BE" u="sng" dirty="0"/>
              <a:t>balises</a:t>
            </a:r>
            <a:r>
              <a:rPr lang="fr-BE" dirty="0"/>
              <a:t> (tags) qui doivent vérifier certaines règles.</a:t>
            </a:r>
          </a:p>
          <a:p>
            <a:pPr lvl="1"/>
            <a:r>
              <a:rPr lang="fr-BE" dirty="0"/>
              <a:t>Toute balise ouverte doit être fermée.</a:t>
            </a:r>
          </a:p>
          <a:p>
            <a:pPr lvl="2"/>
            <a:r>
              <a:rPr lang="fr-BE" dirty="0"/>
              <a:t>&lt;p&gt;…&lt;/p&gt;, &lt;</a:t>
            </a:r>
            <a:r>
              <a:rPr lang="fr-BE" dirty="0" err="1"/>
              <a:t>em</a:t>
            </a:r>
            <a:r>
              <a:rPr lang="fr-BE" dirty="0"/>
              <a:t>&gt;…&lt;/</a:t>
            </a:r>
            <a:r>
              <a:rPr lang="fr-BE" dirty="0" err="1"/>
              <a:t>em</a:t>
            </a:r>
            <a:r>
              <a:rPr lang="fr-BE" dirty="0"/>
              <a:t>&gt;, … (balise avec contenu)</a:t>
            </a:r>
          </a:p>
          <a:p>
            <a:pPr lvl="2"/>
            <a:r>
              <a:rPr lang="fr-BE" dirty="0"/>
              <a:t>&lt;</a:t>
            </a:r>
            <a:r>
              <a:rPr lang="fr-BE" dirty="0" err="1"/>
              <a:t>meta</a:t>
            </a:r>
            <a:r>
              <a:rPr lang="fr-BE" dirty="0"/>
              <a:t> /&gt;, &lt;</a:t>
            </a:r>
            <a:r>
              <a:rPr lang="fr-BE" dirty="0" err="1"/>
              <a:t>br</a:t>
            </a:r>
            <a:r>
              <a:rPr lang="fr-BE" dirty="0"/>
              <a:t> /&gt;, … (balise sans contenu)</a:t>
            </a:r>
          </a:p>
          <a:p>
            <a:pPr lvl="1"/>
            <a:r>
              <a:rPr lang="fr-BE" dirty="0"/>
              <a:t>Imbrication autorisée, mais pas de croisement.</a:t>
            </a:r>
          </a:p>
          <a:p>
            <a:pPr lvl="2"/>
            <a:r>
              <a:rPr lang="fr-BE" dirty="0"/>
              <a:t>&lt;p&gt; Dans ce p, une &lt;</a:t>
            </a:r>
            <a:r>
              <a:rPr lang="fr-BE" dirty="0" err="1"/>
              <a:t>em</a:t>
            </a:r>
            <a:r>
              <a:rPr lang="fr-BE" dirty="0"/>
              <a:t>&gt;emphase&lt;/</a:t>
            </a:r>
            <a:r>
              <a:rPr lang="fr-BE" dirty="0" err="1"/>
              <a:t>em</a:t>
            </a:r>
            <a:r>
              <a:rPr lang="fr-BE" dirty="0"/>
              <a:t>&gt; 	✅</a:t>
            </a:r>
          </a:p>
          <a:p>
            <a:pPr lvl="2"/>
            <a:r>
              <a:rPr lang="fr-BE" dirty="0"/>
              <a:t>&lt;p&gt; … &lt;</a:t>
            </a:r>
            <a:r>
              <a:rPr lang="fr-BE" dirty="0" err="1"/>
              <a:t>em</a:t>
            </a:r>
            <a:r>
              <a:rPr lang="fr-BE" dirty="0"/>
              <a:t>&gt; … &lt;/p&gt; … &lt;/</a:t>
            </a:r>
            <a:r>
              <a:rPr lang="fr-BE" dirty="0" err="1"/>
              <a:t>em</a:t>
            </a:r>
            <a:r>
              <a:rPr lang="fr-BE" dirty="0"/>
              <a:t>&gt; 			❌</a:t>
            </a:r>
          </a:p>
          <a:p>
            <a:pPr lvl="1"/>
            <a:r>
              <a:rPr lang="fr-BE" dirty="0"/>
              <a:t>Indentation (espace blanc) sont ignorés à l’interprétation (utile pour la clarté)</a:t>
            </a:r>
          </a:p>
          <a:p>
            <a:pPr lvl="1"/>
            <a:r>
              <a:rPr lang="fr-BE" dirty="0"/>
              <a:t>Utilisation de commentaires</a:t>
            </a:r>
          </a:p>
          <a:p>
            <a:pPr lvl="2"/>
            <a:r>
              <a:rPr lang="fr-BE" dirty="0"/>
              <a:t>&lt;!-- commentaires --&gt;</a:t>
            </a:r>
          </a:p>
        </p:txBody>
      </p:sp>
    </p:spTree>
    <p:extLst>
      <p:ext uri="{BB962C8B-B14F-4D97-AF65-F5344CB8AC3E}">
        <p14:creationId xmlns:p14="http://schemas.microsoft.com/office/powerpoint/2010/main" val="22119160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EDD7E-A775-F668-445F-2CC4EC657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FF970A-68DE-92EE-ABE5-EA0BB36F7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2. Introduction au langage HTML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831AE5A-0F6E-E3BE-9AA1-3DD8E8B930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 dirty="0"/>
              <a:t>Les balises techniques</a:t>
            </a:r>
          </a:p>
          <a:p>
            <a:pPr lvl="1"/>
            <a:r>
              <a:rPr lang="fr-BE" dirty="0"/>
              <a:t>De structure</a:t>
            </a:r>
          </a:p>
          <a:p>
            <a:pPr lvl="2"/>
            <a:r>
              <a:rPr lang="fr-BE" dirty="0"/>
              <a:t>&lt;html&gt; … &lt;/html&gt; : le document</a:t>
            </a:r>
          </a:p>
          <a:p>
            <a:pPr lvl="2"/>
            <a:r>
              <a:rPr lang="fr-BE" dirty="0"/>
              <a:t>&lt;</a:t>
            </a:r>
            <a:r>
              <a:rPr lang="fr-BE" dirty="0" err="1"/>
              <a:t>head</a:t>
            </a:r>
            <a:r>
              <a:rPr lang="fr-BE" dirty="0"/>
              <a:t>&gt; … &lt;/</a:t>
            </a:r>
            <a:r>
              <a:rPr lang="fr-BE" dirty="0" err="1"/>
              <a:t>head</a:t>
            </a:r>
            <a:r>
              <a:rPr lang="fr-BE" dirty="0"/>
              <a:t>&gt; : la partie information du document</a:t>
            </a:r>
          </a:p>
          <a:p>
            <a:pPr lvl="2"/>
            <a:r>
              <a:rPr lang="fr-BE" dirty="0"/>
              <a:t>&lt;body&gt; … &lt;/body&gt; : la partie contenu du document</a:t>
            </a:r>
          </a:p>
          <a:p>
            <a:pPr lvl="1"/>
            <a:r>
              <a:rPr lang="fr-BE" dirty="0"/>
              <a:t>D’information (</a:t>
            </a:r>
            <a:r>
              <a:rPr lang="fr-BE" dirty="0" err="1"/>
              <a:t>head</a:t>
            </a:r>
            <a:r>
              <a:rPr lang="fr-BE" dirty="0"/>
              <a:t>)</a:t>
            </a:r>
          </a:p>
          <a:p>
            <a:pPr lvl="2"/>
            <a:r>
              <a:rPr lang="fr-BE" dirty="0"/>
              <a:t>&lt;</a:t>
            </a:r>
            <a:r>
              <a:rPr lang="fr-BE" dirty="0" err="1"/>
              <a:t>title</a:t>
            </a:r>
            <a:r>
              <a:rPr lang="fr-BE" dirty="0"/>
              <a:t>&gt; … &lt;/</a:t>
            </a:r>
            <a:r>
              <a:rPr lang="fr-BE" dirty="0" err="1"/>
              <a:t>title</a:t>
            </a:r>
            <a:r>
              <a:rPr lang="fr-BE" dirty="0"/>
              <a:t>&gt; : le titre du document</a:t>
            </a:r>
          </a:p>
          <a:p>
            <a:pPr lvl="2"/>
            <a:r>
              <a:rPr lang="fr-BE" dirty="0"/>
              <a:t>&lt;</a:t>
            </a:r>
            <a:r>
              <a:rPr lang="fr-BE" dirty="0" err="1"/>
              <a:t>meta</a:t>
            </a:r>
            <a:r>
              <a:rPr lang="fr-BE" dirty="0"/>
              <a:t> </a:t>
            </a:r>
            <a:r>
              <a:rPr lang="fr-BE" dirty="0" err="1"/>
              <a:t>charset</a:t>
            </a:r>
            <a:r>
              <a:rPr lang="fr-BE" dirty="0"/>
              <a:t>=« utf-8» /&gt; : l’encodage du fichier</a:t>
            </a:r>
          </a:p>
          <a:p>
            <a:pPr lvl="2"/>
            <a:r>
              <a:rPr lang="fr-B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6563858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08B65-FA4C-A5EC-0A51-0E878C78A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E21A8DD-C5F5-BEB3-9E1D-533C5388F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2. Introduction au langage HTML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A11CA8F-AB3C-4F76-CA77-E71C82FD44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BE" dirty="0"/>
              <a:t>Les balises</a:t>
            </a:r>
          </a:p>
          <a:p>
            <a:pPr lvl="1"/>
            <a:r>
              <a:rPr lang="fr-BE" dirty="0"/>
              <a:t>De sémantique</a:t>
            </a:r>
          </a:p>
          <a:p>
            <a:pPr lvl="2"/>
            <a:r>
              <a:rPr lang="fr-BE" dirty="0"/>
              <a:t>&lt;h1&gt;…&lt;/h1&gt;, &lt;h2&gt;…&lt;/h2&gt;, &lt;h3&gt;…&lt;/h3&gt; jusqu’à</a:t>
            </a:r>
          </a:p>
          <a:p>
            <a:pPr marL="914400" lvl="2" indent="0">
              <a:buNone/>
            </a:pPr>
            <a:r>
              <a:rPr lang="fr-BE" dirty="0"/>
              <a:t>	&lt;h6&gt;…&lt;/h6&gt; : les titres et les sous-titres</a:t>
            </a:r>
          </a:p>
          <a:p>
            <a:pPr lvl="2"/>
            <a:r>
              <a:rPr lang="fr-BE" dirty="0"/>
              <a:t>&lt;p&gt;…&lt;/p&gt; : les paragraphes</a:t>
            </a:r>
          </a:p>
          <a:p>
            <a:pPr lvl="2"/>
            <a:r>
              <a:rPr lang="fr-BE" dirty="0"/>
              <a:t>&lt;</a:t>
            </a:r>
            <a:r>
              <a:rPr lang="fr-BE" dirty="0" err="1"/>
              <a:t>strong</a:t>
            </a:r>
            <a:r>
              <a:rPr lang="fr-BE" dirty="0"/>
              <a:t>&gt;…&lt;/</a:t>
            </a:r>
            <a:r>
              <a:rPr lang="fr-BE" dirty="0" err="1"/>
              <a:t>strong</a:t>
            </a:r>
            <a:r>
              <a:rPr lang="fr-BE" dirty="0"/>
              <a:t>&gt; : les portions de texte importantes</a:t>
            </a:r>
          </a:p>
          <a:p>
            <a:pPr lvl="2"/>
            <a:r>
              <a:rPr lang="fr-BE" dirty="0"/>
              <a:t>&lt;</a:t>
            </a:r>
            <a:r>
              <a:rPr lang="fr-BE" dirty="0" err="1"/>
              <a:t>em</a:t>
            </a:r>
            <a:r>
              <a:rPr lang="fr-BE" dirty="0"/>
              <a:t>&gt;…&lt;/</a:t>
            </a:r>
            <a:r>
              <a:rPr lang="fr-BE" dirty="0" err="1"/>
              <a:t>em</a:t>
            </a:r>
            <a:r>
              <a:rPr lang="fr-BE" dirty="0"/>
              <a:t>&gt; : les portions de texte mises en emphase</a:t>
            </a:r>
          </a:p>
          <a:p>
            <a:pPr lvl="2"/>
            <a:r>
              <a:rPr lang="fr-BE" dirty="0"/>
              <a:t>&lt;</a:t>
            </a:r>
            <a:r>
              <a:rPr lang="fr-BE" dirty="0" err="1"/>
              <a:t>br</a:t>
            </a:r>
            <a:r>
              <a:rPr lang="fr-BE" dirty="0"/>
              <a:t>/&gt; : un passage à la ligne forcé</a:t>
            </a:r>
          </a:p>
          <a:p>
            <a:pPr lvl="2"/>
            <a:r>
              <a:rPr lang="fr-BE" dirty="0"/>
              <a:t>&lt;</a:t>
            </a:r>
            <a:r>
              <a:rPr lang="fr-BE" dirty="0" err="1"/>
              <a:t>hr</a:t>
            </a:r>
            <a:r>
              <a:rPr lang="fr-BE" dirty="0"/>
              <a:t>/&gt; : une ligne horizontale</a:t>
            </a:r>
          </a:p>
          <a:p>
            <a:pPr lvl="2"/>
            <a:r>
              <a:rPr lang="fr-BE" dirty="0"/>
              <a:t>&lt;table&gt;</a:t>
            </a:r>
          </a:p>
          <a:p>
            <a:pPr lvl="2"/>
            <a:r>
              <a:rPr lang="fr-BE" dirty="0"/>
              <a:t>&lt;</a:t>
            </a:r>
            <a:r>
              <a:rPr lang="fr-BE" dirty="0" err="1"/>
              <a:t>caption</a:t>
            </a:r>
            <a:r>
              <a:rPr lang="fr-BE" dirty="0"/>
              <a:t>&gt;…&lt;/</a:t>
            </a:r>
            <a:r>
              <a:rPr lang="fr-BE" dirty="0" err="1"/>
              <a:t>caption</a:t>
            </a:r>
            <a:r>
              <a:rPr lang="fr-BE" dirty="0"/>
              <a:t>&gt;</a:t>
            </a:r>
          </a:p>
          <a:p>
            <a:pPr lvl="2"/>
            <a:r>
              <a:rPr lang="fr-BE" dirty="0"/>
              <a:t>&lt;tr&gt; &lt;th&gt;…&lt;/th&gt; &lt;th&gt;…&lt;/th&gt; &lt;/tr&gt;</a:t>
            </a:r>
          </a:p>
          <a:p>
            <a:pPr lvl="2"/>
            <a:r>
              <a:rPr lang="fr-BE" dirty="0"/>
              <a:t>&lt;tr&gt; &lt;td&gt;…&lt;/td&gt; &lt;td&gt;…&lt;/td&gt; &lt;/tr&gt;</a:t>
            </a:r>
          </a:p>
          <a:p>
            <a:pPr lvl="2"/>
            <a:r>
              <a:rPr lang="fr-BE" dirty="0"/>
              <a:t>&lt;/table&gt; : tableau avec titre, lignes, en-têtes et cellules</a:t>
            </a:r>
          </a:p>
          <a:p>
            <a:pPr lvl="2"/>
            <a:r>
              <a:rPr lang="fr-BE" dirty="0"/>
              <a:t>&lt;</a:t>
            </a:r>
            <a:r>
              <a:rPr lang="fr-BE" dirty="0" err="1"/>
              <a:t>ul</a:t>
            </a:r>
            <a:r>
              <a:rPr lang="fr-BE" dirty="0"/>
              <a:t>&gt; &lt;li&gt;…&lt;/li&gt; &lt;li&gt;…&lt;/li&gt; &lt;/</a:t>
            </a:r>
            <a:r>
              <a:rPr lang="fr-BE" dirty="0" err="1"/>
              <a:t>ul</a:t>
            </a:r>
            <a:r>
              <a:rPr lang="fr-BE" dirty="0"/>
              <a:t>&gt; : liste à points</a:t>
            </a:r>
          </a:p>
          <a:p>
            <a:pPr lvl="2"/>
            <a:r>
              <a:rPr lang="fr-BE" dirty="0"/>
              <a:t>&lt;</a:t>
            </a:r>
            <a:r>
              <a:rPr lang="fr-BE" dirty="0" err="1"/>
              <a:t>ol</a:t>
            </a:r>
            <a:r>
              <a:rPr lang="fr-BE" dirty="0"/>
              <a:t>&gt; &lt;li&gt;…&lt;/li&gt; &lt;li&gt;…&lt;/li&gt; &lt;/</a:t>
            </a:r>
            <a:r>
              <a:rPr lang="fr-BE" dirty="0" err="1"/>
              <a:t>ol</a:t>
            </a:r>
            <a:r>
              <a:rPr lang="fr-BE" dirty="0"/>
              <a:t>&gt; : liste ordonnée</a:t>
            </a:r>
          </a:p>
          <a:p>
            <a:pPr lvl="2"/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2616643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EBA96-DCFD-1634-5CEE-55B922779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29298C-A63A-D639-A68B-00CB347E0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2. Introduction au langage HTML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B36FA6C-DBB7-E832-ADE6-DC47D283AB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 dirty="0"/>
              <a:t>Les balises</a:t>
            </a:r>
          </a:p>
          <a:p>
            <a:pPr lvl="1"/>
            <a:r>
              <a:rPr lang="fr-BE" dirty="0"/>
              <a:t>D’image</a:t>
            </a:r>
          </a:p>
          <a:p>
            <a:pPr lvl="2"/>
            <a:r>
              <a:rPr lang="fr-BE" dirty="0"/>
              <a:t>&lt;</a:t>
            </a:r>
            <a:r>
              <a:rPr lang="fr-BE" dirty="0" err="1"/>
              <a:t>img</a:t>
            </a:r>
            <a:r>
              <a:rPr lang="fr-BE" dirty="0"/>
              <a:t> src=« mon_image.jpg » alt=«  mon_image_par_defaut.jpg» </a:t>
            </a:r>
            <a:r>
              <a:rPr lang="fr-BE" dirty="0" err="1"/>
              <a:t>width</a:t>
            </a:r>
            <a:r>
              <a:rPr lang="fr-BE" dirty="0"/>
              <a:t>=«  42» </a:t>
            </a:r>
            <a:r>
              <a:rPr lang="fr-BE" dirty="0" err="1"/>
              <a:t>height</a:t>
            </a:r>
            <a:r>
              <a:rPr lang="fr-BE" dirty="0"/>
              <a:t>=«  24» /&gt;</a:t>
            </a:r>
          </a:p>
          <a:p>
            <a:pPr lvl="2"/>
            <a:r>
              <a:rPr lang="fr-BE" dirty="0"/>
              <a:t>Différence format jpg et png</a:t>
            </a:r>
          </a:p>
          <a:p>
            <a:pPr lvl="1"/>
            <a:r>
              <a:rPr lang="fr-BE" dirty="0"/>
              <a:t>De lien</a:t>
            </a:r>
          </a:p>
          <a:p>
            <a:pPr lvl="2"/>
            <a:r>
              <a:rPr lang="pt-BR" dirty="0"/>
              <a:t>&lt;a href="http://www.monsite.be" </a:t>
            </a:r>
            <a:r>
              <a:rPr lang="fr-BE" dirty="0" err="1"/>
              <a:t>target</a:t>
            </a:r>
            <a:r>
              <a:rPr lang="fr-BE" dirty="0"/>
              <a:t>="_</a:t>
            </a:r>
            <a:r>
              <a:rPr lang="fr-BE" dirty="0" err="1"/>
              <a:t>blank</a:t>
            </a:r>
            <a:r>
              <a:rPr lang="fr-BE" dirty="0"/>
              <a:t>"</a:t>
            </a:r>
            <a:r>
              <a:rPr lang="pt-BR" dirty="0"/>
              <a:t> &gt;Click&lt;/a&gt;</a:t>
            </a:r>
            <a:endParaRPr lang="fr-BE" dirty="0"/>
          </a:p>
          <a:p>
            <a:pPr lvl="2"/>
            <a:r>
              <a:rPr lang="fr-BE" dirty="0"/>
              <a:t>Possible de créer des ancres dans le document avec l’utilisation d’un id (ex: id=« </a:t>
            </a:r>
            <a:r>
              <a:rPr lang="fr-BE" dirty="0" err="1"/>
              <a:t>hautDePage</a:t>
            </a:r>
            <a:r>
              <a:rPr lang="fr-BE" dirty="0"/>
              <a:t>»), et de les atteindre via href (ex: href=« #hautDePage »)</a:t>
            </a:r>
          </a:p>
          <a:p>
            <a:pPr lvl="1"/>
            <a:r>
              <a:rPr lang="fr-BE" dirty="0"/>
              <a:t>De media</a:t>
            </a:r>
          </a:p>
          <a:p>
            <a:pPr lvl="2"/>
            <a:r>
              <a:rPr lang="fr-BE" dirty="0"/>
              <a:t>&lt;audio src=« mon_media.mp3 »&gt;&lt;/audio&gt;</a:t>
            </a:r>
          </a:p>
          <a:p>
            <a:pPr lvl="2"/>
            <a:r>
              <a:rPr lang="fr-BE" dirty="0"/>
              <a:t>&lt;</a:t>
            </a:r>
            <a:r>
              <a:rPr lang="fr-BE" dirty="0" err="1"/>
              <a:t>video</a:t>
            </a:r>
            <a:r>
              <a:rPr lang="fr-BE" dirty="0"/>
              <a:t> src=« ma_videeo.wav »&gt;&lt;/</a:t>
            </a:r>
            <a:r>
              <a:rPr lang="fr-BE" dirty="0" err="1"/>
              <a:t>video</a:t>
            </a:r>
            <a:r>
              <a:rPr lang="fr-BE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34930943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41527-CE73-6588-4BDB-2B6642A70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0983839-29C1-C450-D670-90D446FFC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2. Introduction au langage HTML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5723E6A-0F67-AF2E-090F-8417F2D5B8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Les contenu et attribut</a:t>
            </a:r>
          </a:p>
          <a:p>
            <a:pPr lvl="1"/>
            <a:r>
              <a:rPr lang="sv-SE" dirty="0"/>
              <a:t>&lt;tag attr="val" attr="val"&gt; contenu &lt;/tag&gt;</a:t>
            </a:r>
          </a:p>
          <a:p>
            <a:pPr lvl="2"/>
            <a:r>
              <a:rPr lang="sv-SE" dirty="0"/>
              <a:t>Ex: </a:t>
            </a:r>
            <a:r>
              <a:rPr lang="en-GB" dirty="0"/>
              <a:t>&lt;audio autoplay="autoplay" </a:t>
            </a:r>
            <a:r>
              <a:rPr lang="en-GB" dirty="0" err="1"/>
              <a:t>src</a:t>
            </a:r>
            <a:r>
              <a:rPr lang="en-GB" dirty="0"/>
              <a:t>="song.mp3"&gt;&lt;/audio&gt;</a:t>
            </a:r>
            <a:endParaRPr lang="fr-BE" dirty="0"/>
          </a:p>
          <a:p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439321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50E73-063E-7B8E-3BA1-5D9B46A74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41C8893-2521-A4D0-BDFC-B4AEA1372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2. Introduction au langage HTML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09273A7-4D56-47DF-162F-7B2A281FB7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Les attributs généraux</a:t>
            </a:r>
          </a:p>
          <a:p>
            <a:pPr lvl="1"/>
            <a:r>
              <a:rPr lang="fr-BE" dirty="0"/>
              <a:t>Certains attributs sont utilisables avec n’importe quelle balise</a:t>
            </a:r>
          </a:p>
          <a:p>
            <a:pPr lvl="2"/>
            <a:r>
              <a:rPr lang="fr-BE" dirty="0"/>
              <a:t>Id=«  » : identificateur unique pour un élément du DOM (Document Object Model)</a:t>
            </a:r>
          </a:p>
          <a:p>
            <a:pPr lvl="2"/>
            <a:r>
              <a:rPr lang="fr-BE" dirty="0" err="1"/>
              <a:t>Title</a:t>
            </a:r>
            <a:r>
              <a:rPr lang="fr-BE" dirty="0"/>
              <a:t>=«  » : texte afficher dans le </a:t>
            </a:r>
            <a:r>
              <a:rPr lang="fr-BE" dirty="0" err="1"/>
              <a:t>tooltip</a:t>
            </a:r>
            <a:r>
              <a:rPr lang="fr-BE" dirty="0"/>
              <a:t> d’un élément</a:t>
            </a:r>
          </a:p>
          <a:p>
            <a:pPr lvl="2"/>
            <a:r>
              <a:rPr lang="fr-BE" dirty="0"/>
              <a:t>Class, style, …</a:t>
            </a:r>
          </a:p>
          <a:p>
            <a:pPr lvl="1"/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5450954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C63F5-D220-1E26-F59E-41003F055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902812-0F11-583C-0B49-A436D07D1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2. Introduction au langage HTML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39BF588-DB11-9C9B-1700-B6F05D83FC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Les </a:t>
            </a:r>
            <a:r>
              <a:rPr lang="fr-BE" dirty="0" err="1"/>
              <a:t>urls</a:t>
            </a:r>
            <a:endParaRPr lang="fr-BE" dirty="0"/>
          </a:p>
          <a:p>
            <a:pPr lvl="1"/>
            <a:r>
              <a:rPr lang="fr-BE" dirty="0"/>
              <a:t>http:// www.monsite.be /vacances/images/plage.jpg</a:t>
            </a:r>
          </a:p>
          <a:p>
            <a:pPr lvl="2"/>
            <a:r>
              <a:rPr lang="fr-BE" dirty="0"/>
              <a:t>Le protocole </a:t>
            </a:r>
            <a:r>
              <a:rPr lang="fr-BE" dirty="0">
                <a:sym typeface="Wingdings" panose="05000000000000000000" pitchFamily="2" charset="2"/>
              </a:rPr>
              <a:t> http</a:t>
            </a:r>
          </a:p>
          <a:p>
            <a:pPr lvl="2"/>
            <a:r>
              <a:rPr lang="fr-BE" dirty="0">
                <a:sym typeface="Wingdings" panose="05000000000000000000" pitchFamily="2" charset="2"/>
              </a:rPr>
              <a:t>Le nom de domaine  </a:t>
            </a:r>
            <a:r>
              <a:rPr lang="fr-BE" dirty="0">
                <a:sym typeface="Wingdings" panose="05000000000000000000" pitchFamily="2" charset="2"/>
                <a:hlinkClick r:id="rId2"/>
              </a:rPr>
              <a:t>www.monsite.be</a:t>
            </a:r>
            <a:endParaRPr lang="fr-BE" dirty="0">
              <a:sym typeface="Wingdings" panose="05000000000000000000" pitchFamily="2" charset="2"/>
            </a:endParaRPr>
          </a:p>
          <a:p>
            <a:pPr lvl="2"/>
            <a:r>
              <a:rPr lang="fr-BE" dirty="0">
                <a:sym typeface="Wingdings" panose="05000000000000000000" pitchFamily="2" charset="2"/>
              </a:rPr>
              <a:t>L’adresse absolue  </a:t>
            </a:r>
            <a:r>
              <a:rPr lang="fr-BE" dirty="0"/>
              <a:t>/vacances/images/plage.jpg</a:t>
            </a:r>
          </a:p>
          <a:p>
            <a:pPr lvl="2"/>
            <a:endParaRPr lang="fr-BE" dirty="0"/>
          </a:p>
          <a:p>
            <a:pPr lvl="1"/>
            <a:r>
              <a:rPr lang="fr-BE" dirty="0"/>
              <a:t>URL Absolue VS URL Relative</a:t>
            </a:r>
          </a:p>
          <a:p>
            <a:pPr lvl="2"/>
            <a:r>
              <a:rPr lang="fr-BE" dirty="0"/>
              <a:t>/ vacances/images/plage.jpg </a:t>
            </a:r>
            <a:r>
              <a:rPr lang="fr-BE" dirty="0">
                <a:sym typeface="Wingdings" panose="05000000000000000000" pitchFamily="2" charset="2"/>
              </a:rPr>
              <a:t> absolue</a:t>
            </a:r>
          </a:p>
          <a:p>
            <a:pPr lvl="2"/>
            <a:r>
              <a:rPr lang="fr-BE" dirty="0">
                <a:sym typeface="Wingdings" panose="05000000000000000000" pitchFamily="2" charset="2"/>
              </a:rPr>
              <a:t>Images/plages.jpg  relative</a:t>
            </a:r>
          </a:p>
          <a:p>
            <a:pPr marL="457200" lvl="1" indent="0">
              <a:buNone/>
            </a:pPr>
            <a:r>
              <a:rPr lang="fr-BE" dirty="0">
                <a:sym typeface="Wingdings" panose="05000000000000000000" pitchFamily="2" charset="2"/>
              </a:rPr>
              <a:t>Laquelle privilégié ?</a:t>
            </a:r>
          </a:p>
          <a:p>
            <a:pPr marL="457200" lvl="1" indent="0">
              <a:buNone/>
            </a:pPr>
            <a:r>
              <a:rPr lang="fr-BE" dirty="0">
                <a:sym typeface="Wingdings" panose="05000000000000000000" pitchFamily="2" charset="2"/>
              </a:rPr>
              <a:t>Si le site change de serveur</a:t>
            </a:r>
          </a:p>
        </p:txBody>
      </p:sp>
    </p:spTree>
    <p:extLst>
      <p:ext uri="{BB962C8B-B14F-4D97-AF65-F5344CB8AC3E}">
        <p14:creationId xmlns:p14="http://schemas.microsoft.com/office/powerpoint/2010/main" val="21138378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E218693-0A05-99C9-4376-2841A1062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Mise en pratique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5883EB6-AE1E-B5EC-5994-42C3BED1C7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Ressources</a:t>
            </a:r>
          </a:p>
          <a:p>
            <a:pPr lvl="1"/>
            <a:r>
              <a:rPr lang="fr-BE" dirty="0"/>
              <a:t>Exercice 1 HTML.txt</a:t>
            </a:r>
          </a:p>
          <a:p>
            <a:pPr lvl="1"/>
            <a:r>
              <a:rPr lang="fr-BE" dirty="0"/>
              <a:t>Exercice 1 énoncé</a:t>
            </a:r>
          </a:p>
        </p:txBody>
      </p:sp>
    </p:spTree>
    <p:extLst>
      <p:ext uri="{BB962C8B-B14F-4D97-AF65-F5344CB8AC3E}">
        <p14:creationId xmlns:p14="http://schemas.microsoft.com/office/powerpoint/2010/main" val="60719745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1367</TotalTime>
  <Words>1289</Words>
  <Application>Microsoft Office PowerPoint</Application>
  <PresentationFormat>Grand écran</PresentationFormat>
  <Paragraphs>172</Paragraphs>
  <Slides>20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5" baseType="lpstr">
      <vt:lpstr>Aptos</vt:lpstr>
      <vt:lpstr>Aptos Display</vt:lpstr>
      <vt:lpstr>Arial</vt:lpstr>
      <vt:lpstr>Wingdings</vt:lpstr>
      <vt:lpstr>Thème Office</vt:lpstr>
      <vt:lpstr>Module 1 – Programmation web Frontend</vt:lpstr>
      <vt:lpstr>Planning</vt:lpstr>
      <vt:lpstr>Chapitre 1.</vt:lpstr>
      <vt:lpstr>1. Introduction web</vt:lpstr>
      <vt:lpstr>1. Introduction web</vt:lpstr>
      <vt:lpstr>1. Introduction web</vt:lpstr>
      <vt:lpstr>1. Introduction web</vt:lpstr>
      <vt:lpstr>1. Introduction web</vt:lpstr>
      <vt:lpstr>1. Introduction web</vt:lpstr>
      <vt:lpstr>On respire</vt:lpstr>
      <vt:lpstr>2. Introduction au langage HTML </vt:lpstr>
      <vt:lpstr>2. Introduction au langage HTML </vt:lpstr>
      <vt:lpstr>2. Introduction au langage HTML </vt:lpstr>
      <vt:lpstr>2. Introduction au langage HTML </vt:lpstr>
      <vt:lpstr>2. Introduction au langage HTML </vt:lpstr>
      <vt:lpstr>2. Introduction au langage HTML </vt:lpstr>
      <vt:lpstr>2. Introduction au langage HTML </vt:lpstr>
      <vt:lpstr>2. Introduction au langage HTML </vt:lpstr>
      <vt:lpstr>2. Introduction au langage HTML </vt:lpstr>
      <vt:lpstr>Mise en pratique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joachim lejeune</dc:creator>
  <cp:lastModifiedBy>joachim lejeune</cp:lastModifiedBy>
  <cp:revision>15</cp:revision>
  <dcterms:created xsi:type="dcterms:W3CDTF">2025-09-28T12:14:50Z</dcterms:created>
  <dcterms:modified xsi:type="dcterms:W3CDTF">2025-10-07T18:11:53Z</dcterms:modified>
</cp:coreProperties>
</file>