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73" r:id="rId10"/>
    <p:sldId id="274" r:id="rId11"/>
    <p:sldId id="265" r:id="rId12"/>
    <p:sldId id="266" r:id="rId13"/>
    <p:sldId id="261" r:id="rId14"/>
    <p:sldId id="267" r:id="rId15"/>
    <p:sldId id="268" r:id="rId16"/>
    <p:sldId id="269" r:id="rId17"/>
    <p:sldId id="270" r:id="rId18"/>
    <p:sldId id="271" r:id="rId19"/>
    <p:sldId id="272" r:id="rId20"/>
    <p:sldId id="275" r:id="rId21"/>
    <p:sldId id="276" r:id="rId22"/>
    <p:sldId id="282" r:id="rId23"/>
    <p:sldId id="277" r:id="rId24"/>
    <p:sldId id="278" r:id="rId25"/>
    <p:sldId id="279" r:id="rId26"/>
    <p:sldId id="280" r:id="rId27"/>
    <p:sldId id="28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26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790C99-086B-326B-F81C-00DBD4C11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32F952B-5BAA-AD2D-1B25-225DE8FA2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B27591-953E-296B-1615-33E62ACA7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59F0-EFD9-4C17-8BFE-9D967BDBF568}" type="datetimeFigureOut">
              <a:rPr lang="fr-BE" smtClean="0"/>
              <a:t>19-11-25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D431CE-856C-4F07-80DE-FCC632AAF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EDCA50-0583-C302-0EF9-DD7E7DDF6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FE4FB-7F42-422A-AF51-1FB25AB351A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04483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ACA149-2EF5-F373-AFF0-2D947DEEB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866592-AAC9-2D34-51A0-E979DE7C3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D666C4-F2AC-84A9-5E3D-05C9AF90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59F0-EFD9-4C17-8BFE-9D967BDBF568}" type="datetimeFigureOut">
              <a:rPr lang="fr-BE" smtClean="0"/>
              <a:t>19-11-25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5ED0F4-4A6C-92F8-1E5B-CD3F4D632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65194B-CA12-2F0E-12E2-6D939B26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FE4FB-7F42-422A-AF51-1FB25AB351A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17506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FE6778-35AE-DAC3-0F62-70EAC755E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D063F6-22F5-7266-11FF-9A9C7B6F7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E11E65-71F1-7102-784A-50C8954B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59F0-EFD9-4C17-8BFE-9D967BDBF568}" type="datetimeFigureOut">
              <a:rPr lang="fr-BE" smtClean="0"/>
              <a:t>19-11-25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91873B-FB66-AA78-251B-E616D5F2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A64D59-6BD5-6919-C61A-E242AA08B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FE4FB-7F42-422A-AF51-1FB25AB351A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23347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0F74F4-1494-108E-66B2-7A64014B0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489EAD-79B0-392E-54BE-A36E021F10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14FA9E0-464B-7336-EC05-3227C61E9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6BED997-B295-6993-666C-4751C095F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59F0-EFD9-4C17-8BFE-9D967BDBF568}" type="datetimeFigureOut">
              <a:rPr lang="fr-BE" smtClean="0"/>
              <a:t>19-11-25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0F92D1D-D6B2-982F-27DE-361015AB9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BEE6D2-2D4A-A4E3-01BD-921474F76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FE4FB-7F42-422A-AF51-1FB25AB351A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3587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6039E6-8B21-CDBE-6412-007124185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BC6F25-E921-E503-9673-2914850B4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0FB9176-A1E2-DBF3-ECE1-168C5601D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C6E07E0-EA0F-EC0C-5D49-637B2C88C6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F046C3D-5BFA-DCE1-2A2B-3BDD79909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C212948-A3E9-4E61-1042-F504ED973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59F0-EFD9-4C17-8BFE-9D967BDBF568}" type="datetimeFigureOut">
              <a:rPr lang="fr-BE" smtClean="0"/>
              <a:t>19-11-25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344F48F-58FE-4192-C88A-2BC278EF4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2B533C4-C912-50B7-A20A-064D859DF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FE4FB-7F42-422A-AF51-1FB25AB351A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52041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DB1FC2-F579-D89C-9A00-778F7C767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D5141D-A484-FE0E-0775-AF06F94F6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59F0-EFD9-4C17-8BFE-9D967BDBF568}" type="datetimeFigureOut">
              <a:rPr lang="fr-BE" smtClean="0"/>
              <a:t>19-11-25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A662973-230D-7CD1-1F43-D97052B4B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CFB4252-E795-969F-6CD2-4E408F71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FE4FB-7F42-422A-AF51-1FB25AB351A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09024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6D4D036-46A0-3908-957D-3D20B727D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59F0-EFD9-4C17-8BFE-9D967BDBF568}" type="datetimeFigureOut">
              <a:rPr lang="fr-BE" smtClean="0"/>
              <a:t>19-11-25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B70468E-2CF1-A1DB-21D3-FD55666A3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F9181C-FE30-B685-8F18-63AF98951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FE4FB-7F42-422A-AF51-1FB25AB351A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92675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8BDE11-11C1-A502-FC9F-9B32BEBC2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08F08F-0DBB-B8B3-8F20-44EC668FE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096F22A-142D-9B6A-4DB7-BAEB96D35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BCC3E4D-87A6-0587-181D-C8CFF19F3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59F0-EFD9-4C17-8BFE-9D967BDBF568}" type="datetimeFigureOut">
              <a:rPr lang="fr-BE" smtClean="0"/>
              <a:t>19-11-25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6A5008E-72B8-33EE-E3F7-D1B603CA0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FC484A-BACC-A800-70CC-8A7484EAA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FE4FB-7F42-422A-AF51-1FB25AB351A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5686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C6F2E4-5EAD-8873-3BFD-0C53C7FC7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2F601B4-C331-8D50-8362-29ABB58CC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1EFC47D-5326-8E8E-AE90-E01FFF3B1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65C53A-6667-B01B-13A6-7D861AEC3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59F0-EFD9-4C17-8BFE-9D967BDBF568}" type="datetimeFigureOut">
              <a:rPr lang="fr-BE" smtClean="0"/>
              <a:t>19-11-25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EFAF053-4C5D-3745-EE27-A624BBCE4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5AACD9-CECF-7817-8BCC-1AEB86576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FE4FB-7F42-422A-AF51-1FB25AB351A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7343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5B9F8A-B58D-5A45-85D4-C2BAA9B4B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AAD5E71-E9D1-5053-B687-3571AB37E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CD8984-94A1-D598-80D2-B02523B32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59F0-EFD9-4C17-8BFE-9D967BDBF568}" type="datetimeFigureOut">
              <a:rPr lang="fr-BE" smtClean="0"/>
              <a:t>19-11-25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0D9C94-E40B-6774-A931-A1442A00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006613-DB18-34EF-6CC8-5143E55BB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FE4FB-7F42-422A-AF51-1FB25AB351A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9555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A07D002-C341-275F-753E-1A48354ED8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3E23D5-413D-2C33-FE1D-76C2BF678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D58EBA-22A0-D6B6-065D-BC66AC7C9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59F0-EFD9-4C17-8BFE-9D967BDBF568}" type="datetimeFigureOut">
              <a:rPr lang="fr-BE" smtClean="0"/>
              <a:t>19-11-25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41ED87-159E-BB9E-1AB6-A490F6032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8F21BE-BE92-4ABB-133D-BD9216BC5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FE4FB-7F42-422A-AF51-1FB25AB351A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42292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1019FA5-D67C-246F-FE31-2864CFDE2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C783E34-D876-EC46-8231-92A0148FB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9DA755-EF7F-7BC6-06B3-9A6D7BC40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B59F0-EFD9-4C17-8BFE-9D967BDBF568}" type="datetimeFigureOut">
              <a:rPr lang="fr-BE" smtClean="0"/>
              <a:t>19-11-25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254ADD-1538-75D9-BFE8-9C280AFE8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149E0A-521B-1CEC-78AD-87763C424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AFE4FB-7F42-422A-AF51-1FB25AB351A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35690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be/search?q=html+tree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7E8895-FC25-A991-65B9-170D254B9F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dirty="0"/>
              <a:t>Module 1 – Programmation web Frontend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B12384F-1D72-327A-4E95-6D51E782B8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9569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D74E3B-03CB-B882-7DA2-BCDEB1BC0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Planning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B8054C-5063-8B19-2BCF-0A1B34D48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fr-BE" dirty="0"/>
              <a:t>PWF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4/10/25 – Chapitre 1. Introduction web – fonctionnement, vocabulaire, prise en main des outils et Introduction au langage HTML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18/10/25– Chapitre 2. Introduction web – HTML et CSS</a:t>
            </a:r>
          </a:p>
          <a:p>
            <a:r>
              <a:rPr lang="fr-B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8/11/25 – Chapitre 3. Introduction web – Arborescence et Formulaire</a:t>
            </a:r>
          </a:p>
          <a:p>
            <a:r>
              <a:rPr lang="fr-BE" dirty="0"/>
              <a:t>22/11 /25 – Chapitre 4. Introduction Team Workflow - Git</a:t>
            </a:r>
          </a:p>
          <a:p>
            <a:r>
              <a:rPr lang="fr-BE" dirty="0"/>
              <a:t>6/12 /25– Chapitre 5. Introduction à Javascript</a:t>
            </a:r>
          </a:p>
          <a:p>
            <a:r>
              <a:rPr lang="fr-BE" dirty="0"/>
              <a:t>10/01/26 – Chapitre 6.</a:t>
            </a:r>
          </a:p>
          <a:p>
            <a:r>
              <a:rPr lang="fr-BE" dirty="0"/>
              <a:t>24/01/26  - Chapitre 7.</a:t>
            </a:r>
          </a:p>
          <a:p>
            <a:r>
              <a:rPr lang="fr-BE" dirty="0"/>
              <a:t>07/02/26  - Chapitre 8.</a:t>
            </a:r>
          </a:p>
          <a:p>
            <a:r>
              <a:rPr lang="fr-BE" dirty="0"/>
              <a:t>21/02/26  - Chapitre 9. Introduction Framework Javascript</a:t>
            </a:r>
          </a:p>
          <a:p>
            <a:r>
              <a:rPr lang="fr-BE" dirty="0"/>
              <a:t>14/03/26  - Examen</a:t>
            </a:r>
          </a:p>
          <a:p>
            <a:pPr marL="0" indent="0">
              <a:buNone/>
            </a:pPr>
            <a:r>
              <a:rPr lang="fr-BE" dirty="0"/>
              <a:t>PWB</a:t>
            </a:r>
          </a:p>
          <a:p>
            <a:r>
              <a:rPr lang="fr-BE" dirty="0"/>
              <a:t>28/03/26 – Chapitre 1.</a:t>
            </a:r>
          </a:p>
          <a:p>
            <a:r>
              <a:rPr lang="fr-BE" dirty="0"/>
              <a:t>11/04/26 – Chapitre 2.</a:t>
            </a:r>
          </a:p>
          <a:p>
            <a:r>
              <a:rPr lang="fr-BE" dirty="0"/>
              <a:t>25/04/26 – Chapitre 3.</a:t>
            </a:r>
          </a:p>
          <a:p>
            <a:r>
              <a:rPr lang="fr-BE" dirty="0"/>
              <a:t>23/05/26  - Examen 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3327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89592A-AAF6-24E9-39DB-F387A6B0E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FDAAE4-4283-320C-E4FF-A72D1D4F8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 dirty="0"/>
              <a:t>1. Rappel</a:t>
            </a:r>
          </a:p>
          <a:p>
            <a:pPr lvl="1"/>
            <a:r>
              <a:rPr lang="fr-FR" dirty="0"/>
              <a:t>Les types de styles</a:t>
            </a:r>
          </a:p>
          <a:p>
            <a:pPr lvl="1"/>
            <a:r>
              <a:rPr lang="fr-FR" dirty="0"/>
              <a:t>Les règles et déclarations</a:t>
            </a:r>
          </a:p>
          <a:p>
            <a:pPr lvl="1"/>
            <a:r>
              <a:rPr lang="fr-FR" dirty="0"/>
              <a:t>Les sélecteurs</a:t>
            </a:r>
          </a:p>
          <a:p>
            <a:pPr lvl="1"/>
            <a:r>
              <a:rPr lang="fr-FR" dirty="0"/>
              <a:t>Les balises sémantiques div et </a:t>
            </a:r>
            <a:r>
              <a:rPr lang="fr-FR" dirty="0" err="1"/>
              <a:t>span</a:t>
            </a:r>
            <a:endParaRPr lang="fr-FR" dirty="0"/>
          </a:p>
          <a:p>
            <a:pPr lvl="1"/>
            <a:r>
              <a:rPr lang="fr-FR" dirty="0"/>
              <a:t>Les balises sémantiques HTML5</a:t>
            </a:r>
          </a:p>
          <a:p>
            <a:pPr lvl="1"/>
            <a:r>
              <a:rPr lang="fr-FR" dirty="0"/>
              <a:t>Les unités de mesures</a:t>
            </a:r>
            <a:endParaRPr lang="fr-BE" dirty="0"/>
          </a:p>
          <a:p>
            <a:r>
              <a:rPr lang="fr-BE" dirty="0"/>
              <a:t>2. Arborescence</a:t>
            </a:r>
          </a:p>
          <a:p>
            <a:pPr lvl="1"/>
            <a:r>
              <a:rPr lang="fr-BE" dirty="0"/>
              <a:t>Les arbres</a:t>
            </a:r>
          </a:p>
          <a:p>
            <a:pPr lvl="1"/>
            <a:r>
              <a:rPr lang="fr-BE" dirty="0"/>
              <a:t>L’arborescence HTML et CSS</a:t>
            </a:r>
          </a:p>
          <a:p>
            <a:pPr lvl="1"/>
            <a:r>
              <a:rPr lang="fr-BE" dirty="0"/>
              <a:t>Sélecteurs basés sur l’arborescence</a:t>
            </a:r>
          </a:p>
          <a:p>
            <a:pPr lvl="1"/>
            <a:r>
              <a:rPr lang="fr-BE" dirty="0"/>
              <a:t>Sélecteurs basés sur les attributs</a:t>
            </a:r>
          </a:p>
          <a:p>
            <a:pPr lvl="1"/>
            <a:r>
              <a:rPr lang="fr-BE" dirty="0"/>
              <a:t>Pseudo-classes CSS</a:t>
            </a:r>
          </a:p>
          <a:p>
            <a:pPr lvl="1"/>
            <a:r>
              <a:rPr lang="fr-BE" dirty="0"/>
              <a:t>Pseudo-éléments CSS</a:t>
            </a:r>
          </a:p>
        </p:txBody>
      </p:sp>
    </p:spTree>
    <p:extLst>
      <p:ext uri="{BB962C8B-B14F-4D97-AF65-F5344CB8AC3E}">
        <p14:creationId xmlns:p14="http://schemas.microsoft.com/office/powerpoint/2010/main" val="26973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9BFEF-9D17-1B33-359C-FA6FADFC0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154511-A565-0A59-AB40-0A6F68554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89E0A6-8720-FC4C-97E4-B791BDE57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3. Formulaire</a:t>
            </a:r>
          </a:p>
          <a:p>
            <a:pPr lvl="1"/>
            <a:r>
              <a:rPr lang="fr-BE" dirty="0"/>
              <a:t>Qu’est-ce qu’un formulaire HTML</a:t>
            </a:r>
          </a:p>
          <a:p>
            <a:pPr lvl="1"/>
            <a:r>
              <a:rPr lang="fr-BE" dirty="0"/>
              <a:t>Les actions</a:t>
            </a:r>
          </a:p>
          <a:p>
            <a:pPr lvl="1"/>
            <a:r>
              <a:rPr lang="fr-BE" dirty="0"/>
              <a:t>Protocoles GET et POST</a:t>
            </a:r>
          </a:p>
          <a:p>
            <a:pPr lvl="1"/>
            <a:r>
              <a:rPr lang="fr-BE" dirty="0"/>
              <a:t>Le formulaire dans son ensemble</a:t>
            </a:r>
          </a:p>
          <a:p>
            <a:pPr lvl="1"/>
            <a:r>
              <a:rPr lang="fr-BE" dirty="0"/>
              <a:t>Eléments types d’un formulaire</a:t>
            </a:r>
          </a:p>
          <a:p>
            <a:pPr lvl="1"/>
            <a:r>
              <a:rPr lang="fr-BE" dirty="0"/>
              <a:t>CSS</a:t>
            </a:r>
          </a:p>
          <a:p>
            <a:pPr lvl="1"/>
            <a:r>
              <a:rPr lang="fr-BE" dirty="0"/>
              <a:t>Contraintes et validations HTML</a:t>
            </a:r>
          </a:p>
          <a:p>
            <a:pPr lvl="1"/>
            <a:r>
              <a:rPr lang="fr-BE" dirty="0"/>
              <a:t>Sélecteurs CSS relatifs à la validation</a:t>
            </a:r>
          </a:p>
        </p:txBody>
      </p:sp>
    </p:spTree>
    <p:extLst>
      <p:ext uri="{BB962C8B-B14F-4D97-AF65-F5344CB8AC3E}">
        <p14:creationId xmlns:p14="http://schemas.microsoft.com/office/powerpoint/2010/main" val="142178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B76FEB-99FB-C496-F845-14E40401A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1.Rappel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228789-6F5F-05D1-1981-E02252504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3 styles</a:t>
            </a:r>
          </a:p>
          <a:p>
            <a:pPr lvl="1"/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Inline</a:t>
            </a:r>
            <a:r>
              <a:rPr lang="fr-BE" dirty="0"/>
              <a:t> </a:t>
            </a:r>
            <a:r>
              <a:rPr lang="fr-BE" dirty="0">
                <a:sym typeface="Wingdings" panose="05000000000000000000" pitchFamily="2" charset="2"/>
              </a:rPr>
              <a:t> </a:t>
            </a:r>
            <a:r>
              <a:rPr lang="fr-BE" dirty="0"/>
              <a:t>&lt;h1 style =« </a:t>
            </a:r>
            <a:r>
              <a:rPr lang="fr-BE" dirty="0" err="1"/>
              <a:t>color</a:t>
            </a:r>
            <a:r>
              <a:rPr lang="fr-BE" dirty="0"/>
              <a:t>: </a:t>
            </a:r>
            <a:r>
              <a:rPr lang="fr-BE" dirty="0" err="1"/>
              <a:t>blue</a:t>
            </a:r>
            <a:r>
              <a:rPr lang="fr-BE" dirty="0"/>
              <a:t>; »&gt;Fond et Forme&lt;/h1&gt;</a:t>
            </a:r>
          </a:p>
          <a:p>
            <a:pPr lvl="1"/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Interne</a:t>
            </a:r>
            <a:r>
              <a:rPr lang="fr-BE" dirty="0"/>
              <a:t> </a:t>
            </a:r>
            <a:r>
              <a:rPr lang="fr-BE" dirty="0">
                <a:sym typeface="Wingdings" panose="05000000000000000000" pitchFamily="2" charset="2"/>
              </a:rPr>
              <a:t></a:t>
            </a:r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marL="457200" lvl="1" indent="0">
              <a:buNone/>
            </a:pPr>
            <a:endParaRPr lang="fr-BE" dirty="0"/>
          </a:p>
        </p:txBody>
      </p:sp>
      <p:pic>
        <p:nvPicPr>
          <p:cNvPr id="4" name="Image 3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C24E6110-78C0-D409-61E5-21B5F2A97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826" y="3055371"/>
            <a:ext cx="9228258" cy="234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92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E77A4-C45B-9443-C408-8018E6E2C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CD4E39-F5C7-E133-3A7F-9001EFA1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1.Rappel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605EEF-F771-0B1C-72D5-9F3A63EF8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3 styles</a:t>
            </a:r>
          </a:p>
          <a:p>
            <a:pPr lvl="1"/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Externe</a:t>
            </a:r>
            <a:r>
              <a:rPr lang="fr-BE" dirty="0"/>
              <a:t> </a:t>
            </a:r>
            <a:r>
              <a:rPr lang="fr-BE" dirty="0">
                <a:sym typeface="Wingdings" panose="05000000000000000000" pitchFamily="2" charset="2"/>
              </a:rPr>
              <a:t> </a:t>
            </a:r>
          </a:p>
          <a:p>
            <a:pPr lvl="1"/>
            <a:endParaRPr lang="fr-BE" dirty="0"/>
          </a:p>
        </p:txBody>
      </p:sp>
      <p:pic>
        <p:nvPicPr>
          <p:cNvPr id="4" name="Image 3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5170D1A-4D9F-7EEC-1652-BC0054320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900" y="2834764"/>
            <a:ext cx="7866199" cy="284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8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9304D-611C-829F-D601-D2CEA1395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7D0336-5829-A6E1-E1DD-265A9D792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1.Rappel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F306A6-3063-CB88-EA52-2FC10BE62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règles et déclarations</a:t>
            </a:r>
          </a:p>
          <a:p>
            <a:pPr lvl="1"/>
            <a:r>
              <a:rPr lang="en-GB" dirty="0"/>
              <a:t>Une </a:t>
            </a:r>
            <a:r>
              <a:rPr lang="en-GB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règle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</a:t>
            </a:r>
            <a:r>
              <a:rPr lang="en-GB" dirty="0" err="1"/>
              <a:t>composée</a:t>
            </a:r>
            <a:endParaRPr lang="en-GB" dirty="0"/>
          </a:p>
          <a:p>
            <a:pPr lvl="2"/>
            <a:r>
              <a:rPr lang="en-GB" dirty="0"/>
              <a:t>D’un </a:t>
            </a:r>
            <a:r>
              <a:rPr lang="en-GB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sélecteur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 err="1">
                <a:sym typeface="Wingdings" panose="05000000000000000000" pitchFamily="2" charset="2"/>
              </a:rPr>
              <a:t>indique</a:t>
            </a:r>
            <a:r>
              <a:rPr lang="en-GB" dirty="0">
                <a:sym typeface="Wingdings" panose="05000000000000000000" pitchFamily="2" charset="2"/>
              </a:rPr>
              <a:t> à </a:t>
            </a:r>
            <a:r>
              <a:rPr lang="en-GB" dirty="0" err="1">
                <a:sym typeface="Wingdings" panose="05000000000000000000" pitchFamily="2" charset="2"/>
              </a:rPr>
              <a:t>quel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 err="1">
                <a:sym typeface="Wingdings" panose="05000000000000000000" pitchFamily="2" charset="2"/>
              </a:rPr>
              <a:t>élément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 err="1">
                <a:sym typeface="Wingdings" panose="05000000000000000000" pitchFamily="2" charset="2"/>
              </a:rPr>
              <a:t>elle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 err="1">
                <a:sym typeface="Wingdings" panose="05000000000000000000" pitchFamily="2" charset="2"/>
              </a:rPr>
              <a:t>s’applique</a:t>
            </a:r>
            <a:endParaRPr lang="en-GB" dirty="0">
              <a:sym typeface="Wingdings" panose="05000000000000000000" pitchFamily="2" charset="2"/>
            </a:endParaRPr>
          </a:p>
          <a:p>
            <a:pPr lvl="2"/>
            <a:r>
              <a:rPr lang="en-GB" dirty="0" err="1">
                <a:sym typeface="Wingdings" panose="05000000000000000000" pitchFamily="2" charset="2"/>
              </a:rPr>
              <a:t>D’une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 err="1">
                <a:sym typeface="Wingdings" panose="05000000000000000000" pitchFamily="2" charset="2"/>
              </a:rPr>
              <a:t>liste</a:t>
            </a:r>
            <a:r>
              <a:rPr lang="en-GB" dirty="0">
                <a:sym typeface="Wingdings" panose="05000000000000000000" pitchFamily="2" charset="2"/>
              </a:rPr>
              <a:t> de </a:t>
            </a:r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declarations</a:t>
            </a:r>
            <a:r>
              <a:rPr lang="en-GB" dirty="0">
                <a:sym typeface="Wingdings" panose="05000000000000000000" pitchFamily="2" charset="2"/>
              </a:rPr>
              <a:t> (</a:t>
            </a:r>
            <a:r>
              <a:rPr lang="en-GB" dirty="0" err="1">
                <a:sym typeface="Wingdings" panose="05000000000000000000" pitchFamily="2" charset="2"/>
              </a:rPr>
              <a:t>séparés</a:t>
            </a:r>
            <a:r>
              <a:rPr lang="en-GB" dirty="0">
                <a:sym typeface="Wingdings" panose="05000000000000000000" pitchFamily="2" charset="2"/>
              </a:rPr>
              <a:t> de “;”)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Une </a:t>
            </a:r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declaration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 err="1">
                <a:sym typeface="Wingdings" panose="05000000000000000000" pitchFamily="2" charset="2"/>
              </a:rPr>
              <a:t>est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 err="1">
                <a:sym typeface="Wingdings" panose="05000000000000000000" pitchFamily="2" charset="2"/>
              </a:rPr>
              <a:t>composée</a:t>
            </a:r>
            <a:r>
              <a:rPr lang="en-GB" dirty="0">
                <a:sym typeface="Wingdings" panose="05000000000000000000" pitchFamily="2" charset="2"/>
              </a:rPr>
              <a:t> </a:t>
            </a:r>
          </a:p>
          <a:p>
            <a:pPr lvl="2"/>
            <a:r>
              <a:rPr lang="en-GB" dirty="0">
                <a:sym typeface="Wingdings" panose="05000000000000000000" pitchFamily="2" charset="2"/>
              </a:rPr>
              <a:t>D’un </a:t>
            </a:r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nom de </a:t>
            </a:r>
            <a:r>
              <a:rPr lang="en-GB" dirty="0" err="1">
                <a:solidFill>
                  <a:schemeClr val="accent3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propriété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 err="1">
                <a:sym typeface="Wingdings" panose="05000000000000000000" pitchFamily="2" charset="2"/>
              </a:rPr>
              <a:t>suivi</a:t>
            </a:r>
            <a:r>
              <a:rPr lang="en-GB" dirty="0">
                <a:sym typeface="Wingdings" panose="05000000000000000000" pitchFamily="2" charset="2"/>
              </a:rPr>
              <a:t> de “:”</a:t>
            </a:r>
          </a:p>
          <a:p>
            <a:pPr lvl="2"/>
            <a:r>
              <a:rPr lang="en-GB" dirty="0" err="1">
                <a:sym typeface="Wingdings" panose="05000000000000000000" pitchFamily="2" charset="2"/>
              </a:rPr>
              <a:t>D’une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 err="1">
                <a:solidFill>
                  <a:schemeClr val="accent3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valeur</a:t>
            </a:r>
            <a:endParaRPr lang="en-GB" dirty="0">
              <a:solidFill>
                <a:schemeClr val="accent3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pPr lvl="1"/>
            <a:r>
              <a:rPr lang="en-GB" dirty="0"/>
              <a:t>h2 { </a:t>
            </a:r>
            <a:r>
              <a:rPr lang="en-GB" dirty="0" err="1"/>
              <a:t>color:blue</a:t>
            </a:r>
            <a:r>
              <a:rPr lang="en-GB" dirty="0"/>
              <a:t> ; font-size:250% }</a:t>
            </a:r>
            <a:endParaRPr lang="fr-BE" dirty="0"/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04249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298DA-1DCD-EFBC-D885-004EFA7F9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F500AE-24A6-330A-E706-E5928B22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1.Rappel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245834-9423-6845-45EF-53543BF21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règles et déclarations</a:t>
            </a:r>
          </a:p>
          <a:p>
            <a:pPr lvl="1"/>
            <a:r>
              <a:rPr lang="fr-FR" dirty="0"/>
              <a:t>Point commun : </a:t>
            </a:r>
          </a:p>
          <a:p>
            <a:pPr lvl="2"/>
            <a:r>
              <a:rPr lang="fr-FR" dirty="0"/>
              <a:t>On les déclare en utilisant un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attribut</a:t>
            </a:r>
            <a:r>
              <a:rPr lang="fr-FR" dirty="0"/>
              <a:t> (« id » ou « class »)</a:t>
            </a:r>
          </a:p>
          <a:p>
            <a:pPr lvl="1"/>
            <a:r>
              <a:rPr lang="fr-FR" dirty="0"/>
              <a:t>Différences</a:t>
            </a:r>
          </a:p>
          <a:p>
            <a:pPr lvl="2"/>
            <a:r>
              <a:rPr lang="fr-FR" dirty="0"/>
              <a:t>Un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id</a:t>
            </a:r>
            <a:r>
              <a:rPr lang="fr-FR" dirty="0"/>
              <a:t> </a:t>
            </a:r>
            <a:r>
              <a:rPr lang="fr-FR" u="sng" dirty="0"/>
              <a:t>doit</a:t>
            </a:r>
            <a:r>
              <a:rPr lang="fr-FR" dirty="0"/>
              <a:t> cibler un élément </a:t>
            </a:r>
            <a:r>
              <a:rPr lang="fr-FR" u="sng" dirty="0"/>
              <a:t>unique</a:t>
            </a:r>
          </a:p>
          <a:p>
            <a:pPr lvl="2"/>
            <a:r>
              <a:rPr lang="fr-FR" dirty="0"/>
              <a:t>Une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class</a:t>
            </a:r>
            <a:r>
              <a:rPr lang="fr-FR" dirty="0"/>
              <a:t> peut cibler plusieurs éléments</a:t>
            </a:r>
          </a:p>
          <a:p>
            <a:pPr lvl="2"/>
            <a:r>
              <a:rPr lang="fr-FR" dirty="0"/>
              <a:t>Un élément peut avoir plusieurs classes </a:t>
            </a:r>
          </a:p>
          <a:p>
            <a:pPr lvl="3"/>
            <a:r>
              <a:rPr lang="fr-FR" dirty="0"/>
              <a:t>Ex : </a:t>
            </a:r>
            <a:r>
              <a:rPr lang="fr-BE" dirty="0"/>
              <a:t>&lt;p class="important encadre"&gt;…&lt;/p&gt;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122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9D71E-4B2C-54A3-C45F-3ABE6F025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59F9E-AD08-2006-627B-94248A7F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1.Rappel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B11C8E-22AF-814F-6004-24B0FE2F1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règles et déclarations</a:t>
            </a:r>
          </a:p>
          <a:p>
            <a:pPr lvl="1"/>
            <a:r>
              <a:rPr lang="fr-BE" dirty="0"/>
              <a:t>Trois types de sélecteurs simples :</a:t>
            </a:r>
          </a:p>
          <a:p>
            <a:pPr lvl="2"/>
            <a:r>
              <a:rPr lang="fr-BE" dirty="0"/>
              <a:t>balise (ex 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</a:t>
            </a:r>
            <a:r>
              <a:rPr lang="fr-BE" dirty="0"/>
              <a:t> ≡ tous les paragraphes &lt;p&gt;)</a:t>
            </a:r>
          </a:p>
          <a:p>
            <a:pPr lvl="2"/>
            <a:r>
              <a:rPr lang="fr-BE" dirty="0"/>
              <a:t>identificateur (ex 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#intro </a:t>
            </a:r>
            <a:r>
              <a:rPr lang="fr-BE" dirty="0"/>
              <a:t>≡ l'élément </a:t>
            </a:r>
            <a:r>
              <a:rPr lang="fr-BE" dirty="0" err="1"/>
              <a:t>d'id</a:t>
            </a:r>
            <a:r>
              <a:rPr lang="fr-BE" dirty="0"/>
              <a:t> "intro")</a:t>
            </a:r>
          </a:p>
          <a:p>
            <a:pPr lvl="2"/>
            <a:r>
              <a:rPr lang="fr-BE" dirty="0"/>
              <a:t>classe (ex 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.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motsclefs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BE" dirty="0"/>
              <a:t>≡ les éléments de classe "</a:t>
            </a:r>
            <a:r>
              <a:rPr lang="fr-BE" dirty="0" err="1"/>
              <a:t>motsclefs</a:t>
            </a:r>
            <a:r>
              <a:rPr lang="fr-BE" dirty="0"/>
              <a:t>")</a:t>
            </a:r>
          </a:p>
          <a:p>
            <a:pPr lvl="1"/>
            <a:r>
              <a:rPr lang="fr-BE" dirty="0"/>
              <a:t>Combinaisons de sélecteurs</a:t>
            </a:r>
          </a:p>
          <a:p>
            <a:pPr lvl="2"/>
            <a:r>
              <a:rPr lang="fr-BE" dirty="0"/>
              <a:t>balise et classe (ex :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p.intro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BE" dirty="0"/>
              <a:t>≡ les &lt;p&gt; de classe "intro")</a:t>
            </a:r>
          </a:p>
          <a:p>
            <a:pPr lvl="2"/>
            <a:r>
              <a:rPr lang="fr-BE" dirty="0"/>
              <a:t>balise et identificateur (ex 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p#para1 </a:t>
            </a:r>
            <a:r>
              <a:rPr lang="fr-BE" dirty="0"/>
              <a:t>≡ le &lt;p&gt; </a:t>
            </a:r>
            <a:r>
              <a:rPr lang="fr-BE" dirty="0" err="1"/>
              <a:t>d'id</a:t>
            </a:r>
            <a:r>
              <a:rPr lang="fr-BE" dirty="0"/>
              <a:t> "para1")</a:t>
            </a:r>
          </a:p>
          <a:p>
            <a:pPr lvl="2"/>
            <a:r>
              <a:rPr lang="fr-BE" dirty="0"/>
              <a:t>Regroupement (ex 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th, td </a:t>
            </a:r>
            <a:r>
              <a:rPr lang="fr-BE" dirty="0"/>
              <a:t>≡ les &lt;th&gt; et les &lt;td&gt;)</a:t>
            </a:r>
          </a:p>
          <a:p>
            <a:pPr lvl="2"/>
            <a:r>
              <a:rPr lang="fr-BE" dirty="0"/>
              <a:t>universel (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*</a:t>
            </a:r>
            <a:r>
              <a:rPr lang="fr-BE" dirty="0"/>
              <a:t> ≡ tous les éléments)</a:t>
            </a:r>
          </a:p>
        </p:txBody>
      </p:sp>
    </p:spTree>
    <p:extLst>
      <p:ext uri="{BB962C8B-B14F-4D97-AF65-F5344CB8AC3E}">
        <p14:creationId xmlns:p14="http://schemas.microsoft.com/office/powerpoint/2010/main" val="178375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F9ECE-2F3E-B3C0-3826-2F984C217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D07C53-8B99-B428-EEDD-7B43837CA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1.Rappel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CF5BE5-31C6-8F31-1EDD-5CBF3432E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règles et déclarations</a:t>
            </a:r>
          </a:p>
          <a:p>
            <a:pPr lvl="1"/>
            <a:r>
              <a:rPr lang="fr-BE" dirty="0"/>
              <a:t>Remarques</a:t>
            </a:r>
          </a:p>
          <a:p>
            <a:pPr lvl="2"/>
            <a:r>
              <a:rPr lang="fr-BE" dirty="0"/>
              <a:t>Attention au choix du nom des classes :</a:t>
            </a:r>
          </a:p>
          <a:p>
            <a:pPr lvl="3"/>
            <a:r>
              <a:rPr lang="fr-BE" dirty="0"/>
              <a:t>utiliser un nom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sémantique</a:t>
            </a:r>
            <a:r>
              <a:rPr lang="fr-BE" dirty="0"/>
              <a:t> (ce que ça représente),</a:t>
            </a:r>
          </a:p>
          <a:p>
            <a:pPr lvl="3"/>
            <a:r>
              <a:rPr lang="fr-BE" dirty="0"/>
              <a:t>pas un nom lié à un format qui pourrait changer</a:t>
            </a:r>
          </a:p>
          <a:p>
            <a:pPr lvl="3"/>
            <a:r>
              <a:rPr lang="fr-BE" dirty="0"/>
              <a:t>exemples de mauvais noms : "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rouge</a:t>
            </a:r>
            <a:r>
              <a:rPr lang="fr-BE" dirty="0"/>
              <a:t>", "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textegras</a:t>
            </a:r>
            <a:r>
              <a:rPr lang="fr-BE" dirty="0"/>
              <a:t>", …</a:t>
            </a:r>
          </a:p>
          <a:p>
            <a:pPr lvl="3"/>
            <a:r>
              <a:rPr lang="fr-BE" dirty="0"/>
              <a:t>Pas de nom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réservé</a:t>
            </a:r>
            <a:r>
              <a:rPr lang="fr-BE" dirty="0"/>
              <a:t> dans le langage utilisé</a:t>
            </a:r>
          </a:p>
          <a:p>
            <a:pPr lvl="2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1085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EE12DA-5A3D-F56E-418F-F736D0D3B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 Rappel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FF5361-4369-743C-82FF-8A02BB483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balises sémantiques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div</a:t>
            </a:r>
            <a:r>
              <a:rPr lang="fr-FR" dirty="0"/>
              <a:t> et 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span</a:t>
            </a:r>
            <a:endParaRPr lang="fr-F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fr-BE" dirty="0"/>
              <a:t>La balise &lt;div&gt; permet de regrouper un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ensemble de balise </a:t>
            </a:r>
            <a:r>
              <a:rPr lang="fr-BE" dirty="0"/>
              <a:t>potentiellement différente au sein d’un même </a:t>
            </a:r>
            <a:r>
              <a:rPr lang="fr-BE" u="sng" dirty="0"/>
              <a:t>groupe </a:t>
            </a:r>
            <a:endParaRPr lang="fr-BE" dirty="0"/>
          </a:p>
          <a:p>
            <a:pPr lvl="1"/>
            <a:r>
              <a:rPr lang="fr-BE" dirty="0"/>
              <a:t>La balise &lt;</a:t>
            </a:r>
            <a:r>
              <a:rPr lang="fr-BE" dirty="0" err="1"/>
              <a:t>span</a:t>
            </a:r>
            <a:r>
              <a:rPr lang="fr-BE" dirty="0"/>
              <a:t>&gt; permet de regrouper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une portion de mot </a:t>
            </a:r>
            <a:r>
              <a:rPr lang="fr-BE" dirty="0"/>
              <a:t>au sein d’un texte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9255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38641-1F71-1F59-4FA1-6EE3B146F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895947-ED82-5033-4341-848AF7BAD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 Rappel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1CCA2E-84C6-E55F-4472-08DACF1F8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unités de mesures</a:t>
            </a:r>
          </a:p>
          <a:p>
            <a:pPr lvl="1"/>
            <a:r>
              <a:rPr lang="fr-BE" u="sng" dirty="0"/>
              <a:t>Unités fixes (absolues)</a:t>
            </a:r>
            <a:r>
              <a:rPr lang="fr-BE" dirty="0"/>
              <a:t>, comme les pixels (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px</a:t>
            </a:r>
            <a:r>
              <a:rPr lang="fr-BE" dirty="0"/>
              <a:t>), ne changent pas de taille.</a:t>
            </a:r>
          </a:p>
          <a:p>
            <a:pPr lvl="1"/>
            <a:r>
              <a:rPr lang="fr-BE" u="sng" dirty="0"/>
              <a:t>Unités flexibles (relative) </a:t>
            </a:r>
            <a:r>
              <a:rPr lang="fr-BE" dirty="0"/>
              <a:t>changent de taille en fonction d’autres facteurs, comme la taille de l’écran.</a:t>
            </a:r>
          </a:p>
          <a:p>
            <a:pPr lvl="2"/>
            <a:r>
              <a:rPr lang="fr-BE" dirty="0"/>
              <a:t>Pourcentages (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%</a:t>
            </a:r>
            <a:r>
              <a:rPr lang="fr-BE" dirty="0"/>
              <a:t>) : Flexibles, souvent utilisés pour les largeurs et les hauteurs</a:t>
            </a:r>
          </a:p>
          <a:p>
            <a:pPr lvl="2"/>
            <a:r>
              <a:rPr lang="fr-BE" dirty="0"/>
              <a:t>Unités de fenêtre (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vw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,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vh</a:t>
            </a:r>
            <a:r>
              <a:rPr lang="fr-BE" dirty="0"/>
              <a:t>) : Taille basée sur la fenêtre du navigateur</a:t>
            </a:r>
          </a:p>
          <a:p>
            <a:pPr lvl="2"/>
            <a:r>
              <a:rPr lang="fr-BE" dirty="0"/>
              <a:t>‘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rem</a:t>
            </a:r>
            <a:r>
              <a:rPr lang="fr-BE" dirty="0"/>
              <a:t>’ et ’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</a:t>
            </a:r>
            <a:r>
              <a:rPr lang="fr-BE" dirty="0"/>
              <a:t>’ : Unités flexibles basé sur la taille des éléments d’écriture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4073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569228-6B3B-4BD4-5740-55AE37D4A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Arborescence</a:t>
            </a:r>
          </a:p>
        </p:txBody>
      </p:sp>
      <p:pic>
        <p:nvPicPr>
          <p:cNvPr id="5" name="Espace réservé du contenu 4" descr="Arbre avec racines contour">
            <a:extLst>
              <a:ext uri="{FF2B5EF4-FFF2-40B4-BE49-F238E27FC236}">
                <a16:creationId xmlns:a16="http://schemas.microsoft.com/office/drawing/2014/main" id="{4E193820-5F3A-44F3-FBF0-332F856A0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7717" y="1961100"/>
            <a:ext cx="914400" cy="914400"/>
          </a:xfrm>
        </p:spPr>
      </p:pic>
      <p:pic>
        <p:nvPicPr>
          <p:cNvPr id="6" name="Espace réservé du contenu 4" descr="Arbre avec racines contour">
            <a:extLst>
              <a:ext uri="{FF2B5EF4-FFF2-40B4-BE49-F238E27FC236}">
                <a16:creationId xmlns:a16="http://schemas.microsoft.com/office/drawing/2014/main" id="{0B635716-F5AE-1601-C7A1-C82C2FF42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9885" y="1961100"/>
            <a:ext cx="914400" cy="9144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11B9222-B684-35B6-362A-1A5CE6C8E137}"/>
              </a:ext>
            </a:extLst>
          </p:cNvPr>
          <p:cNvSpPr txBox="1"/>
          <p:nvPr/>
        </p:nvSpPr>
        <p:spPr>
          <a:xfrm>
            <a:off x="5694511" y="3244334"/>
            <a:ext cx="802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racine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855182D-39A3-A5E7-9557-776C476FC530}"/>
              </a:ext>
            </a:extLst>
          </p:cNvPr>
          <p:cNvSpPr txBox="1"/>
          <p:nvPr/>
        </p:nvSpPr>
        <p:spPr>
          <a:xfrm>
            <a:off x="5642060" y="4719484"/>
            <a:ext cx="907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feuilles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3DF27497-AE44-12C5-F4DA-CA4BFE400A18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188542" y="2796506"/>
            <a:ext cx="1505969" cy="632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2D28EE06-EAEB-8C6A-6302-D1FD9CAD2A57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>
            <a:off x="2812026" y="2261420"/>
            <a:ext cx="2830034" cy="2642731"/>
          </a:xfrm>
          <a:prstGeom prst="bentConnector3">
            <a:avLst>
              <a:gd name="adj1" fmla="val 12434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6C8A8611-6AFE-9875-1F06-F4C567914651}"/>
              </a:ext>
            </a:extLst>
          </p:cNvPr>
          <p:cNvSpPr/>
          <p:nvPr/>
        </p:nvSpPr>
        <p:spPr>
          <a:xfrm>
            <a:off x="8308258" y="3244334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BB39732-E217-79BA-9369-F2ECF38A211A}"/>
              </a:ext>
            </a:extLst>
          </p:cNvPr>
          <p:cNvSpPr/>
          <p:nvPr/>
        </p:nvSpPr>
        <p:spPr>
          <a:xfrm>
            <a:off x="7801898" y="3746216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2C44C04D-046B-69B4-FCA2-6D717DFF9BFE}"/>
              </a:ext>
            </a:extLst>
          </p:cNvPr>
          <p:cNvSpPr/>
          <p:nvPr/>
        </p:nvSpPr>
        <p:spPr>
          <a:xfrm>
            <a:off x="8775291" y="3746216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0459BEC3-FDB5-6F7F-EADD-22E1EA27EC96}"/>
              </a:ext>
            </a:extLst>
          </p:cNvPr>
          <p:cNvSpPr/>
          <p:nvPr/>
        </p:nvSpPr>
        <p:spPr>
          <a:xfrm>
            <a:off x="7565924" y="4281637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DEA735E5-B50D-CCB0-CAA9-1B9801520DB1}"/>
              </a:ext>
            </a:extLst>
          </p:cNvPr>
          <p:cNvSpPr/>
          <p:nvPr/>
        </p:nvSpPr>
        <p:spPr>
          <a:xfrm>
            <a:off x="8018207" y="4281637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17A34C8C-DA28-CB90-8DD2-C065049E6F54}"/>
              </a:ext>
            </a:extLst>
          </p:cNvPr>
          <p:cNvSpPr/>
          <p:nvPr/>
        </p:nvSpPr>
        <p:spPr>
          <a:xfrm>
            <a:off x="8544232" y="4281637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83D9A994-0752-C363-C41F-2254B5CF75F3}"/>
              </a:ext>
            </a:extLst>
          </p:cNvPr>
          <p:cNvSpPr/>
          <p:nvPr/>
        </p:nvSpPr>
        <p:spPr>
          <a:xfrm>
            <a:off x="9070257" y="4281637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9A88882F-E652-5134-7CEB-67E27C7A978D}"/>
              </a:ext>
            </a:extLst>
          </p:cNvPr>
          <p:cNvCxnSpPr>
            <a:cxnSpLocks/>
            <a:stCxn id="29" idx="3"/>
            <a:endCxn id="30" idx="7"/>
          </p:cNvCxnSpPr>
          <p:nvPr/>
        </p:nvCxnSpPr>
        <p:spPr>
          <a:xfrm flipH="1">
            <a:off x="8003314" y="3401956"/>
            <a:ext cx="339502" cy="371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606ACC51-26F7-70E0-F519-002CCC0DDD78}"/>
              </a:ext>
            </a:extLst>
          </p:cNvPr>
          <p:cNvCxnSpPr>
            <a:cxnSpLocks/>
            <a:stCxn id="29" idx="5"/>
            <a:endCxn id="31" idx="1"/>
          </p:cNvCxnSpPr>
          <p:nvPr/>
        </p:nvCxnSpPr>
        <p:spPr>
          <a:xfrm>
            <a:off x="8509674" y="3401956"/>
            <a:ext cx="300175" cy="371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6A25ADFA-C840-CE45-6346-6D40C28590E6}"/>
              </a:ext>
            </a:extLst>
          </p:cNvPr>
          <p:cNvCxnSpPr>
            <a:cxnSpLocks/>
            <a:stCxn id="30" idx="3"/>
            <a:endCxn id="32" idx="0"/>
          </p:cNvCxnSpPr>
          <p:nvPr/>
        </p:nvCxnSpPr>
        <p:spPr>
          <a:xfrm flipH="1">
            <a:off x="7683911" y="3903838"/>
            <a:ext cx="152545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6495DAB8-BAA1-19E0-030A-1B7EFDC42CA7}"/>
              </a:ext>
            </a:extLst>
          </p:cNvPr>
          <p:cNvCxnSpPr>
            <a:cxnSpLocks/>
            <a:stCxn id="30" idx="5"/>
            <a:endCxn id="33" idx="0"/>
          </p:cNvCxnSpPr>
          <p:nvPr/>
        </p:nvCxnSpPr>
        <p:spPr>
          <a:xfrm>
            <a:off x="8003314" y="3903838"/>
            <a:ext cx="132880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7C95D2F7-9A01-FBF2-5763-A2C04DEFA119}"/>
              </a:ext>
            </a:extLst>
          </p:cNvPr>
          <p:cNvCxnSpPr>
            <a:cxnSpLocks/>
            <a:stCxn id="31" idx="3"/>
            <a:endCxn id="34" idx="0"/>
          </p:cNvCxnSpPr>
          <p:nvPr/>
        </p:nvCxnSpPr>
        <p:spPr>
          <a:xfrm flipH="1">
            <a:off x="8662219" y="3903838"/>
            <a:ext cx="147630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3444EA6E-4C32-A150-A04F-6B06D1BC9A23}"/>
              </a:ext>
            </a:extLst>
          </p:cNvPr>
          <p:cNvCxnSpPr>
            <a:cxnSpLocks/>
            <a:stCxn id="31" idx="5"/>
            <a:endCxn id="35" idx="0"/>
          </p:cNvCxnSpPr>
          <p:nvPr/>
        </p:nvCxnSpPr>
        <p:spPr>
          <a:xfrm>
            <a:off x="8976707" y="3903838"/>
            <a:ext cx="211537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2066C660-3AF4-42E8-56CB-95AF27DED801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497488" y="3336667"/>
            <a:ext cx="1475656" cy="92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299374BE-2F88-B79A-B2DB-05E5E7794763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6549937" y="4466303"/>
            <a:ext cx="853753" cy="437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025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5E1A85-9A03-505C-A3C9-6F9B86896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Arborescence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1E1F97-F53B-7898-E69D-D2BF8A973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arbres</a:t>
            </a:r>
          </a:p>
          <a:p>
            <a:pPr lvl="1"/>
            <a:r>
              <a:rPr lang="fr-BE" dirty="0"/>
              <a:t>Vocabulaire</a:t>
            </a:r>
          </a:p>
          <a:p>
            <a:pPr lvl="2"/>
            <a:r>
              <a:rPr lang="fr-BE" dirty="0"/>
              <a:t>A est le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père</a:t>
            </a:r>
            <a:r>
              <a:rPr lang="fr-BE" dirty="0"/>
              <a:t> de B et de C</a:t>
            </a:r>
          </a:p>
          <a:p>
            <a:pPr lvl="2"/>
            <a:r>
              <a:rPr lang="fr-BE" dirty="0"/>
              <a:t>B et C sont les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fils</a:t>
            </a:r>
          </a:p>
          <a:p>
            <a:pPr lvl="2"/>
            <a:r>
              <a:rPr lang="fr-BE" dirty="0"/>
              <a:t>B et C sont des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frères/sœurs </a:t>
            </a:r>
          </a:p>
          <a:p>
            <a:pPr lvl="2"/>
            <a:endParaRPr lang="fr-BE" dirty="0"/>
          </a:p>
          <a:p>
            <a:pPr lvl="2"/>
            <a:endParaRPr lang="fr-BE" dirty="0"/>
          </a:p>
          <a:p>
            <a:pPr lvl="2"/>
            <a:endParaRPr lang="fr-BE" dirty="0"/>
          </a:p>
          <a:p>
            <a:pPr lvl="2"/>
            <a:r>
              <a:rPr lang="fr-BE" dirty="0"/>
              <a:t>A est un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ancêtre</a:t>
            </a:r>
            <a:r>
              <a:rPr lang="fr-BE" dirty="0"/>
              <a:t> de D</a:t>
            </a:r>
          </a:p>
          <a:p>
            <a:pPr lvl="2"/>
            <a:r>
              <a:rPr lang="fr-BE" dirty="0"/>
              <a:t>D est un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descendant</a:t>
            </a:r>
            <a:r>
              <a:rPr lang="fr-BE" dirty="0"/>
              <a:t> de A</a:t>
            </a:r>
          </a:p>
          <a:p>
            <a:pPr lvl="1"/>
            <a:endParaRPr lang="fr-BE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D49105B4-7B09-49E6-B050-08B403B07205}"/>
              </a:ext>
            </a:extLst>
          </p:cNvPr>
          <p:cNvSpPr/>
          <p:nvPr/>
        </p:nvSpPr>
        <p:spPr>
          <a:xfrm>
            <a:off x="7639666" y="2207031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B33C3F7-10AE-B252-E4FC-05F47BFCCC0D}"/>
              </a:ext>
            </a:extLst>
          </p:cNvPr>
          <p:cNvSpPr/>
          <p:nvPr/>
        </p:nvSpPr>
        <p:spPr>
          <a:xfrm>
            <a:off x="7133306" y="2708913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F4BAA21-DF91-647D-EEB8-8AB57823E6D4}"/>
              </a:ext>
            </a:extLst>
          </p:cNvPr>
          <p:cNvSpPr/>
          <p:nvPr/>
        </p:nvSpPr>
        <p:spPr>
          <a:xfrm>
            <a:off x="8106699" y="2708913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1109A03F-D2AA-73E9-BDAE-6F733EFFC6B4}"/>
              </a:ext>
            </a:extLst>
          </p:cNvPr>
          <p:cNvSpPr/>
          <p:nvPr/>
        </p:nvSpPr>
        <p:spPr>
          <a:xfrm>
            <a:off x="6897332" y="3244334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08F47F3-9C76-84F3-4584-5D3D4B240E6F}"/>
              </a:ext>
            </a:extLst>
          </p:cNvPr>
          <p:cNvSpPr/>
          <p:nvPr/>
        </p:nvSpPr>
        <p:spPr>
          <a:xfrm>
            <a:off x="7349615" y="3244334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C04E4FD-E108-9144-DD6F-C4428E836F6B}"/>
              </a:ext>
            </a:extLst>
          </p:cNvPr>
          <p:cNvSpPr/>
          <p:nvPr/>
        </p:nvSpPr>
        <p:spPr>
          <a:xfrm>
            <a:off x="7875640" y="3244334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3E13FBB-D6B7-975C-63C3-A7C65ABA25F6}"/>
              </a:ext>
            </a:extLst>
          </p:cNvPr>
          <p:cNvSpPr/>
          <p:nvPr/>
        </p:nvSpPr>
        <p:spPr>
          <a:xfrm>
            <a:off x="8401665" y="3244334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A1A1B9D-18CB-0CE1-3B79-7E8DBA307421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7334722" y="2364653"/>
            <a:ext cx="339502" cy="371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C97A540-D262-3F28-4278-88B0C2AD3749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7841082" y="2364653"/>
            <a:ext cx="300175" cy="371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6DB23AEB-74AD-10B1-A7A4-251C2B335543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 flipH="1">
            <a:off x="7015319" y="2866535"/>
            <a:ext cx="152545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B11609A-2DFA-844F-B0DE-0603171ACCDA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7334722" y="2866535"/>
            <a:ext cx="132880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752D3F7B-9D93-337D-3833-82FF8EB88C44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7993627" y="2866535"/>
            <a:ext cx="147630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0023CA14-B0F2-0409-46BD-8A6651182C26}"/>
              </a:ext>
            </a:extLst>
          </p:cNvPr>
          <p:cNvCxnSpPr>
            <a:cxnSpLocks/>
            <a:stCxn id="6" idx="5"/>
            <a:endCxn id="10" idx="0"/>
          </p:cNvCxnSpPr>
          <p:nvPr/>
        </p:nvCxnSpPr>
        <p:spPr>
          <a:xfrm>
            <a:off x="8308115" y="2866535"/>
            <a:ext cx="211537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lipse 16">
            <a:extLst>
              <a:ext uri="{FF2B5EF4-FFF2-40B4-BE49-F238E27FC236}">
                <a16:creationId xmlns:a16="http://schemas.microsoft.com/office/drawing/2014/main" id="{5491BDA7-33BF-3D1C-EC78-BD73D93F2F9C}"/>
              </a:ext>
            </a:extLst>
          </p:cNvPr>
          <p:cNvSpPr/>
          <p:nvPr/>
        </p:nvSpPr>
        <p:spPr>
          <a:xfrm>
            <a:off x="7629834" y="4466668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BCFD6E01-2F93-9761-A412-AD26DBA3F893}"/>
              </a:ext>
            </a:extLst>
          </p:cNvPr>
          <p:cNvSpPr/>
          <p:nvPr/>
        </p:nvSpPr>
        <p:spPr>
          <a:xfrm>
            <a:off x="7123474" y="4968550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C970E60-0135-30CF-8131-BC8C1803A6B9}"/>
              </a:ext>
            </a:extLst>
          </p:cNvPr>
          <p:cNvSpPr/>
          <p:nvPr/>
        </p:nvSpPr>
        <p:spPr>
          <a:xfrm>
            <a:off x="8096867" y="4968550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FABD3587-FC28-0322-1ECD-898EE39D77AF}"/>
              </a:ext>
            </a:extLst>
          </p:cNvPr>
          <p:cNvSpPr/>
          <p:nvPr/>
        </p:nvSpPr>
        <p:spPr>
          <a:xfrm>
            <a:off x="6887500" y="5503971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B6786F86-38B1-4715-DBFD-39DF6934D1E4}"/>
              </a:ext>
            </a:extLst>
          </p:cNvPr>
          <p:cNvSpPr/>
          <p:nvPr/>
        </p:nvSpPr>
        <p:spPr>
          <a:xfrm>
            <a:off x="7339783" y="5503971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0E763091-5FC7-07C0-BE76-09559BA70750}"/>
              </a:ext>
            </a:extLst>
          </p:cNvPr>
          <p:cNvSpPr/>
          <p:nvPr/>
        </p:nvSpPr>
        <p:spPr>
          <a:xfrm>
            <a:off x="7865808" y="5503971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732C3B0F-5A1B-9917-45EF-B1AFC78C7BE9}"/>
              </a:ext>
            </a:extLst>
          </p:cNvPr>
          <p:cNvSpPr/>
          <p:nvPr/>
        </p:nvSpPr>
        <p:spPr>
          <a:xfrm>
            <a:off x="8391833" y="5503971"/>
            <a:ext cx="235974" cy="184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48F2259A-9A5E-1D02-F7FD-C748CA5A4194}"/>
              </a:ext>
            </a:extLst>
          </p:cNvPr>
          <p:cNvCxnSpPr>
            <a:cxnSpLocks/>
            <a:stCxn id="17" idx="3"/>
            <a:endCxn id="18" idx="7"/>
          </p:cNvCxnSpPr>
          <p:nvPr/>
        </p:nvCxnSpPr>
        <p:spPr>
          <a:xfrm flipH="1">
            <a:off x="7324890" y="4624290"/>
            <a:ext cx="339502" cy="371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790E2036-A4AD-8DBA-E1B5-360F8239D422}"/>
              </a:ext>
            </a:extLst>
          </p:cNvPr>
          <p:cNvCxnSpPr>
            <a:cxnSpLocks/>
            <a:stCxn id="17" idx="5"/>
            <a:endCxn id="19" idx="1"/>
          </p:cNvCxnSpPr>
          <p:nvPr/>
        </p:nvCxnSpPr>
        <p:spPr>
          <a:xfrm>
            <a:off x="7831250" y="4624290"/>
            <a:ext cx="300175" cy="371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B9A9BF90-617C-A1FB-3385-9E27214909C2}"/>
              </a:ext>
            </a:extLst>
          </p:cNvPr>
          <p:cNvCxnSpPr>
            <a:cxnSpLocks/>
            <a:stCxn id="18" idx="3"/>
            <a:endCxn id="20" idx="0"/>
          </p:cNvCxnSpPr>
          <p:nvPr/>
        </p:nvCxnSpPr>
        <p:spPr>
          <a:xfrm flipH="1">
            <a:off x="7005487" y="5126172"/>
            <a:ext cx="152545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A2F5BA53-26B8-3EF8-E0AB-7B9ADFE64ED6}"/>
              </a:ext>
            </a:extLst>
          </p:cNvPr>
          <p:cNvCxnSpPr>
            <a:cxnSpLocks/>
            <a:stCxn id="18" idx="5"/>
            <a:endCxn id="21" idx="0"/>
          </p:cNvCxnSpPr>
          <p:nvPr/>
        </p:nvCxnSpPr>
        <p:spPr>
          <a:xfrm>
            <a:off x="7324890" y="5126172"/>
            <a:ext cx="132880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AAFD1A8E-8FF2-E65D-C8FC-F4D2D301E246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983795" y="5126172"/>
            <a:ext cx="147630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901CA32C-47A4-1430-ABAB-EBEE91D1ABE8}"/>
              </a:ext>
            </a:extLst>
          </p:cNvPr>
          <p:cNvCxnSpPr>
            <a:cxnSpLocks/>
            <a:stCxn id="19" idx="5"/>
            <a:endCxn id="23" idx="0"/>
          </p:cNvCxnSpPr>
          <p:nvPr/>
        </p:nvCxnSpPr>
        <p:spPr>
          <a:xfrm>
            <a:off x="8298283" y="5126172"/>
            <a:ext cx="211537" cy="377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A6D34F6E-2AB5-0E11-CF3A-859BC8EF167A}"/>
              </a:ext>
            </a:extLst>
          </p:cNvPr>
          <p:cNvSpPr txBox="1"/>
          <p:nvPr/>
        </p:nvSpPr>
        <p:spPr>
          <a:xfrm>
            <a:off x="8342673" y="241961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BE3EEDED-4060-5352-4A5E-018877F141AE}"/>
              </a:ext>
            </a:extLst>
          </p:cNvPr>
          <p:cNvSpPr txBox="1"/>
          <p:nvPr/>
        </p:nvSpPr>
        <p:spPr>
          <a:xfrm>
            <a:off x="8342673" y="339618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rgbClr val="00B050"/>
                </a:solidFill>
              </a:rPr>
              <a:t>B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2D502C5C-0C61-4DAE-8136-61CA29DDF995}"/>
              </a:ext>
            </a:extLst>
          </p:cNvPr>
          <p:cNvSpPr txBox="1"/>
          <p:nvPr/>
        </p:nvSpPr>
        <p:spPr>
          <a:xfrm>
            <a:off x="7824292" y="3399434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6BED195-A39E-AAC8-3E56-B90E9E59E543}"/>
              </a:ext>
            </a:extLst>
          </p:cNvPr>
          <p:cNvSpPr txBox="1"/>
          <p:nvPr/>
        </p:nvSpPr>
        <p:spPr>
          <a:xfrm>
            <a:off x="7831250" y="576748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9AB8E00-332F-EE54-2ACB-4F2E8E305E0D}"/>
              </a:ext>
            </a:extLst>
          </p:cNvPr>
          <p:cNvSpPr txBox="1"/>
          <p:nvPr/>
        </p:nvSpPr>
        <p:spPr>
          <a:xfrm>
            <a:off x="7587360" y="407685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rgbClr val="FF00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86278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0" grpId="0"/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637569-5539-BB8D-078B-7A2AF79D8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Arborescence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3CEB83-A518-D85D-D203-B038AB469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 dirty="0"/>
          </a:p>
        </p:txBody>
      </p:sp>
      <p:pic>
        <p:nvPicPr>
          <p:cNvPr id="4" name="Image 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62D67A5F-C193-9CC8-6625-EFB43AC95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142" y="1847732"/>
            <a:ext cx="5257993" cy="43292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961CCDB-00D2-F8BB-CC61-76E06578B6D7}"/>
              </a:ext>
            </a:extLst>
          </p:cNvPr>
          <p:cNvSpPr/>
          <p:nvPr/>
        </p:nvSpPr>
        <p:spPr>
          <a:xfrm>
            <a:off x="5958348" y="1690688"/>
            <a:ext cx="5486400" cy="4601957"/>
          </a:xfrm>
          <a:prstGeom prst="rect">
            <a:avLst/>
          </a:prstGeom>
          <a:noFill/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ABE815-17A5-BFDC-594F-8BF68A836BE9}"/>
              </a:ext>
            </a:extLst>
          </p:cNvPr>
          <p:cNvSpPr/>
          <p:nvPr/>
        </p:nvSpPr>
        <p:spPr>
          <a:xfrm>
            <a:off x="6459794" y="2428568"/>
            <a:ext cx="4758812" cy="1101043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2F3F1E-BBCE-9F9D-DE45-0AB50D223841}"/>
              </a:ext>
            </a:extLst>
          </p:cNvPr>
          <p:cNvSpPr/>
          <p:nvPr/>
        </p:nvSpPr>
        <p:spPr>
          <a:xfrm>
            <a:off x="6459794" y="3551719"/>
            <a:ext cx="4758812" cy="2288642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C10D54-9FCB-872C-7CCE-ED5BEDFBD3DD}"/>
              </a:ext>
            </a:extLst>
          </p:cNvPr>
          <p:cNvSpPr/>
          <p:nvPr/>
        </p:nvSpPr>
        <p:spPr>
          <a:xfrm>
            <a:off x="6971071" y="2733368"/>
            <a:ext cx="4168877" cy="2828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4C6963-1787-32EE-D171-9A19A17896B7}"/>
              </a:ext>
            </a:extLst>
          </p:cNvPr>
          <p:cNvSpPr/>
          <p:nvPr/>
        </p:nvSpPr>
        <p:spPr>
          <a:xfrm>
            <a:off x="6971070" y="3053402"/>
            <a:ext cx="4168877" cy="2828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ADEE9C-A56A-B6A3-2A29-F8121CB44B99}"/>
              </a:ext>
            </a:extLst>
          </p:cNvPr>
          <p:cNvSpPr/>
          <p:nvPr/>
        </p:nvSpPr>
        <p:spPr>
          <a:xfrm>
            <a:off x="6971070" y="3859852"/>
            <a:ext cx="4168877" cy="2828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129353-E999-68C3-DAEC-3B9269E6F9B5}"/>
              </a:ext>
            </a:extLst>
          </p:cNvPr>
          <p:cNvSpPr/>
          <p:nvPr/>
        </p:nvSpPr>
        <p:spPr>
          <a:xfrm>
            <a:off x="6971070" y="4450868"/>
            <a:ext cx="4168877" cy="11043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7035145-6792-CA14-D3E8-3386F75D9451}"/>
              </a:ext>
            </a:extLst>
          </p:cNvPr>
          <p:cNvSpPr txBox="1"/>
          <p:nvPr/>
        </p:nvSpPr>
        <p:spPr>
          <a:xfrm>
            <a:off x="2776019" y="2243902"/>
            <a:ext cx="756938" cy="3693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fr-BE" dirty="0"/>
              <a:t>HTML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04E4545-4FA3-0AE6-DEFD-4807723F8F21}"/>
              </a:ext>
            </a:extLst>
          </p:cNvPr>
          <p:cNvSpPr txBox="1"/>
          <p:nvPr/>
        </p:nvSpPr>
        <p:spPr>
          <a:xfrm>
            <a:off x="1595138" y="3057830"/>
            <a:ext cx="756938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BE" dirty="0"/>
              <a:t>HTML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EF8A253-E677-006B-A095-408F5DE8FA94}"/>
              </a:ext>
            </a:extLst>
          </p:cNvPr>
          <p:cNvSpPr txBox="1"/>
          <p:nvPr/>
        </p:nvSpPr>
        <p:spPr>
          <a:xfrm>
            <a:off x="3911426" y="3057830"/>
            <a:ext cx="756938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BE" dirty="0"/>
              <a:t>HTML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CE39FB9-9EA1-25A1-9EB5-AC156F915A8C}"/>
              </a:ext>
            </a:extLst>
          </p:cNvPr>
          <p:cNvSpPr txBox="1"/>
          <p:nvPr/>
        </p:nvSpPr>
        <p:spPr>
          <a:xfrm>
            <a:off x="838200" y="3965551"/>
            <a:ext cx="756938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fr-BE" dirty="0"/>
              <a:t>HTML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D9BDC52-422B-D940-8C50-1198491C3BBD}"/>
              </a:ext>
            </a:extLst>
          </p:cNvPr>
          <p:cNvSpPr txBox="1"/>
          <p:nvPr/>
        </p:nvSpPr>
        <p:spPr>
          <a:xfrm>
            <a:off x="2352076" y="3965551"/>
            <a:ext cx="756938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fr-BE" dirty="0"/>
              <a:t>HTML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560E2A0-A639-CCC0-413B-839072384CC4}"/>
              </a:ext>
            </a:extLst>
          </p:cNvPr>
          <p:cNvSpPr txBox="1"/>
          <p:nvPr/>
        </p:nvSpPr>
        <p:spPr>
          <a:xfrm>
            <a:off x="3154488" y="3965551"/>
            <a:ext cx="756938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fr-BE" dirty="0"/>
              <a:t>HTML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5DD8F88-1A6D-FB23-DD24-E20840F2687D}"/>
              </a:ext>
            </a:extLst>
          </p:cNvPr>
          <p:cNvSpPr txBox="1"/>
          <p:nvPr/>
        </p:nvSpPr>
        <p:spPr>
          <a:xfrm>
            <a:off x="4668364" y="3965551"/>
            <a:ext cx="756938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fr-BE" dirty="0"/>
              <a:t>HTML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80FC5C9F-EE6D-8339-5AE9-64E0E21F1CC0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1973607" y="2613234"/>
            <a:ext cx="1180881" cy="444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CA2D831B-B1CD-4680-3EB9-6A45970FF957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1216669" y="3427162"/>
            <a:ext cx="756938" cy="538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8B39ADCE-D7F9-03DD-6034-49E36DFFCE29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1973607" y="3427162"/>
            <a:ext cx="756938" cy="538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9E07C823-B151-D533-993D-3B4D1CA5A169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3154488" y="2613234"/>
            <a:ext cx="1135407" cy="444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B9CD668E-2BF8-E8B6-817D-06C1CF9EE940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>
            <a:off x="4289895" y="3427162"/>
            <a:ext cx="756938" cy="538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A23A9540-A766-8D75-A306-08B395D9A8EB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 flipH="1">
            <a:off x="3532957" y="3427162"/>
            <a:ext cx="756938" cy="538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16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42ADC-C415-2B0B-B359-697148818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Arborescence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9D7273-23A7-68B5-71E7-DD4FEF715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29981" cy="4351338"/>
          </a:xfrm>
        </p:spPr>
        <p:txBody>
          <a:bodyPr>
            <a:normAutofit/>
          </a:bodyPr>
          <a:lstStyle/>
          <a:p>
            <a:r>
              <a:rPr lang="fr-BE" dirty="0"/>
              <a:t>Les arbres</a:t>
            </a:r>
          </a:p>
          <a:p>
            <a:pPr lvl="1"/>
            <a:r>
              <a:rPr lang="fr-BE" dirty="0"/>
              <a:t>Petit test</a:t>
            </a:r>
          </a:p>
          <a:p>
            <a:pPr lvl="2"/>
            <a:r>
              <a:rPr lang="fr-BE" dirty="0"/>
              <a:t>Tous le nœuds &lt;li&gt; ont un père &lt;</a:t>
            </a:r>
            <a:r>
              <a:rPr lang="fr-BE" dirty="0" err="1"/>
              <a:t>ul</a:t>
            </a:r>
            <a:r>
              <a:rPr lang="fr-BE" dirty="0"/>
              <a:t>&gt; ?</a:t>
            </a:r>
          </a:p>
          <a:p>
            <a:pPr lvl="2"/>
            <a:r>
              <a:rPr lang="fr-BE" dirty="0"/>
              <a:t>Les deux nœuds &lt;</a:t>
            </a:r>
            <a:r>
              <a:rPr lang="fr-BE" dirty="0" err="1"/>
              <a:t>em</a:t>
            </a:r>
            <a:r>
              <a:rPr lang="fr-BE" dirty="0"/>
              <a:t>&gt; sont des frères ?</a:t>
            </a:r>
          </a:p>
          <a:p>
            <a:pPr lvl="2"/>
            <a:r>
              <a:rPr lang="fr-BE" dirty="0"/>
              <a:t>Le nœud &lt;p&gt; est un ancêtre des nœuds &lt;</a:t>
            </a:r>
            <a:r>
              <a:rPr lang="fr-BE" dirty="0" err="1"/>
              <a:t>em</a:t>
            </a:r>
            <a:r>
              <a:rPr lang="fr-BE" dirty="0"/>
              <a:t>&gt; ?</a:t>
            </a:r>
          </a:p>
          <a:p>
            <a:pPr lvl="2"/>
            <a:r>
              <a:rPr lang="fr-BE" dirty="0"/>
              <a:t>Le nœud &lt;</a:t>
            </a:r>
            <a:r>
              <a:rPr lang="fr-BE" dirty="0" err="1"/>
              <a:t>ul</a:t>
            </a:r>
            <a:r>
              <a:rPr lang="fr-BE" dirty="0"/>
              <a:t>&gt; a quatre fils : 2 &lt;li&gt; et 2 &lt;</a:t>
            </a:r>
            <a:r>
              <a:rPr lang="fr-BE" dirty="0" err="1"/>
              <a:t>em</a:t>
            </a:r>
            <a:r>
              <a:rPr lang="fr-BE" dirty="0"/>
              <a:t>&gt;</a:t>
            </a:r>
          </a:p>
          <a:p>
            <a:pPr lvl="2"/>
            <a:r>
              <a:rPr lang="fr-BE" dirty="0"/>
              <a:t>Le nœud &lt;body&gt; est le seul ancêtre commun à &lt;</a:t>
            </a:r>
            <a:r>
              <a:rPr lang="fr-BE" dirty="0" err="1"/>
              <a:t>strong</a:t>
            </a:r>
            <a:r>
              <a:rPr lang="fr-BE" dirty="0"/>
              <a:t>&gt; et aux &lt;</a:t>
            </a:r>
            <a:r>
              <a:rPr lang="fr-BE" dirty="0" err="1"/>
              <a:t>em</a:t>
            </a:r>
            <a:r>
              <a:rPr lang="fr-BE" dirty="0"/>
              <a:t>&gt; ?</a:t>
            </a:r>
          </a:p>
          <a:p>
            <a:pPr lvl="1"/>
            <a:endParaRPr lang="fr-BE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0F7B237-C1B5-AD36-96EF-C8BE5109A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254" y="1436569"/>
            <a:ext cx="6601746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44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F99195-E3E9-DAE3-4582-D7523D43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Arborescence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3D38E7-6831-2689-DA04-F8D0DCFE0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L’arborescence HTML et CSS</a:t>
            </a:r>
          </a:p>
          <a:p>
            <a:pPr lvl="1"/>
            <a:r>
              <a:rPr lang="fr-BE" dirty="0"/>
              <a:t>CSS =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Cascading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Style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Sheet</a:t>
            </a:r>
            <a:endParaRPr lang="fr-BE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fr-BE" dirty="0"/>
              <a:t>2 types différents</a:t>
            </a:r>
          </a:p>
          <a:p>
            <a:pPr lvl="2"/>
            <a:r>
              <a:rPr lang="fr-BE" dirty="0"/>
              <a:t>Cascade par source</a:t>
            </a:r>
          </a:p>
          <a:p>
            <a:pPr lvl="3"/>
            <a:r>
              <a:rPr lang="fr-BE" dirty="0"/>
              <a:t>Navigateur</a:t>
            </a:r>
          </a:p>
          <a:p>
            <a:pPr lvl="3"/>
            <a:r>
              <a:rPr lang="fr-BE" dirty="0"/>
              <a:t>Auteur</a:t>
            </a:r>
          </a:p>
          <a:p>
            <a:pPr lvl="3"/>
            <a:r>
              <a:rPr lang="fr-BE" dirty="0"/>
              <a:t>Utilisateur</a:t>
            </a:r>
          </a:p>
          <a:p>
            <a:pPr lvl="2"/>
            <a:r>
              <a:rPr lang="fr-BE" dirty="0"/>
              <a:t>Héritage</a:t>
            </a:r>
          </a:p>
        </p:txBody>
      </p:sp>
    </p:spTree>
    <p:extLst>
      <p:ext uri="{BB962C8B-B14F-4D97-AF65-F5344CB8AC3E}">
        <p14:creationId xmlns:p14="http://schemas.microsoft.com/office/powerpoint/2010/main" val="153375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2F13F8-BE40-8528-17F3-4F84CF7D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Arborescence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588EE2-79A1-8A3A-C8B6-B31421AC6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dirty="0"/>
              <a:t>Héritage</a:t>
            </a:r>
          </a:p>
          <a:p>
            <a:pPr lvl="1"/>
            <a:r>
              <a:rPr lang="fr-BE" dirty="0"/>
              <a:t>Concept fondamental en informatique</a:t>
            </a:r>
          </a:p>
          <a:p>
            <a:pPr lvl="1"/>
            <a:r>
              <a:rPr lang="fr-BE" dirty="0"/>
              <a:t>ex : </a:t>
            </a:r>
          </a:p>
          <a:p>
            <a:pPr marL="914400" lvl="2" indent="0">
              <a:buNone/>
            </a:pPr>
            <a:r>
              <a:rPr lang="fr-BE" sz="1800" dirty="0"/>
              <a:t>&lt;style&gt;</a:t>
            </a:r>
          </a:p>
          <a:p>
            <a:pPr marL="914400" lvl="2" indent="0">
              <a:buNone/>
            </a:pPr>
            <a:r>
              <a:rPr lang="fr-BE" sz="1800" dirty="0"/>
              <a:t>	p { </a:t>
            </a:r>
            <a:r>
              <a:rPr lang="fr-BE" sz="1800" dirty="0" err="1"/>
              <a:t>color:blue</a:t>
            </a:r>
            <a:r>
              <a:rPr lang="fr-BE" sz="1800" dirty="0"/>
              <a:t> }</a:t>
            </a:r>
          </a:p>
          <a:p>
            <a:pPr marL="914400" lvl="2" indent="0">
              <a:buNone/>
            </a:pPr>
            <a:r>
              <a:rPr lang="fr-BE" sz="1800" dirty="0"/>
              <a:t>	</a:t>
            </a:r>
            <a:r>
              <a:rPr lang="fr-BE" sz="1800" dirty="0" err="1"/>
              <a:t>em</a:t>
            </a:r>
            <a:r>
              <a:rPr lang="fr-BE" sz="1800" dirty="0"/>
              <a:t> { </a:t>
            </a:r>
            <a:r>
              <a:rPr lang="fr-BE" sz="1800" dirty="0" err="1"/>
              <a:t>font-decoration:underline</a:t>
            </a:r>
            <a:r>
              <a:rPr lang="fr-BE" sz="1800" dirty="0"/>
              <a:t> }</a:t>
            </a:r>
          </a:p>
          <a:p>
            <a:pPr marL="914400" lvl="2" indent="0">
              <a:buNone/>
            </a:pPr>
            <a:r>
              <a:rPr lang="fr-BE" sz="1800" dirty="0"/>
              <a:t>&lt;/style&gt;</a:t>
            </a:r>
          </a:p>
          <a:p>
            <a:pPr marL="914400" lvl="2" indent="0">
              <a:buNone/>
            </a:pPr>
            <a:r>
              <a:rPr lang="fr-BE" sz="1800" dirty="0"/>
              <a:t>…</a:t>
            </a:r>
          </a:p>
          <a:p>
            <a:pPr marL="914400" lvl="2" indent="0">
              <a:buNone/>
            </a:pPr>
            <a:r>
              <a:rPr lang="fr-BE" sz="1800" dirty="0"/>
              <a:t>&lt;p&gt;Ce &lt;</a:t>
            </a:r>
            <a:r>
              <a:rPr lang="fr-BE" sz="1800" dirty="0" err="1"/>
              <a:t>em</a:t>
            </a:r>
            <a:r>
              <a:rPr lang="fr-BE" sz="1800" dirty="0"/>
              <a:t>&gt;mot&lt;/</a:t>
            </a:r>
            <a:r>
              <a:rPr lang="fr-BE" sz="1800" dirty="0" err="1"/>
              <a:t>em</a:t>
            </a:r>
            <a:r>
              <a:rPr lang="fr-BE" sz="1800" dirty="0"/>
              <a:t>&gt; est mis en emphase.&lt;/p&gt;</a:t>
            </a:r>
          </a:p>
          <a:p>
            <a:pPr marL="914400" lvl="2" indent="0">
              <a:buNone/>
            </a:pPr>
            <a:endParaRPr lang="fr-BE" sz="1800" dirty="0"/>
          </a:p>
          <a:p>
            <a:pPr lvl="1"/>
            <a:r>
              <a:rPr lang="fr-BE" dirty="0"/>
              <a:t>Explication</a:t>
            </a:r>
          </a:p>
          <a:p>
            <a:pPr lvl="2"/>
            <a:r>
              <a:rPr lang="fr-BE" dirty="0"/>
              <a:t>souligné (à cause de la règle </a:t>
            </a:r>
            <a:r>
              <a:rPr lang="fr-BE" dirty="0" err="1"/>
              <a:t>em</a:t>
            </a:r>
            <a:r>
              <a:rPr lang="fr-BE" dirty="0"/>
              <a:t>),</a:t>
            </a:r>
          </a:p>
          <a:p>
            <a:pPr lvl="2"/>
            <a:r>
              <a:rPr lang="fr-BE" dirty="0"/>
              <a:t>en italique (à cause du style standard du navigateur),</a:t>
            </a:r>
          </a:p>
          <a:p>
            <a:pPr lvl="2"/>
            <a:r>
              <a:rPr lang="fr-BE" dirty="0"/>
              <a:t>et en bleu (style hérité de la règle p)</a:t>
            </a:r>
          </a:p>
          <a:p>
            <a:pPr lvl="2"/>
            <a:endParaRPr lang="fr-BE" dirty="0"/>
          </a:p>
        </p:txBody>
      </p:sp>
      <p:pic>
        <p:nvPicPr>
          <p:cNvPr id="5" name="Image 4" descr="Une image contenant Police, ligne, texte, Rectangle&#10;&#10;Le contenu généré par l’IA peut être incorrect.">
            <a:extLst>
              <a:ext uri="{FF2B5EF4-FFF2-40B4-BE49-F238E27FC236}">
                <a16:creationId xmlns:a16="http://schemas.microsoft.com/office/drawing/2014/main" id="{00C3A990-E35D-D7EC-CBFF-DA2B5834D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669" y="2752631"/>
            <a:ext cx="2896004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02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4ED292-D266-7313-3403-A2D4C5035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Arborescence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16DC5B-16D1-6358-39D3-34D17B7F2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Sélecteurs basés sur l’arborescence</a:t>
            </a:r>
          </a:p>
          <a:p>
            <a:pPr lvl="1"/>
            <a:r>
              <a:rPr lang="fr-BE" dirty="0"/>
              <a:t>Restriction en fonction des ancêtres/parents</a:t>
            </a:r>
          </a:p>
          <a:p>
            <a:pPr lvl="2"/>
            <a:r>
              <a:rPr lang="fr-BE" dirty="0"/>
              <a:t>Sans restriction :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</a:t>
            </a:r>
            <a:r>
              <a:rPr lang="fr-BE" dirty="0"/>
              <a:t> ≡ toutes les balises &lt;</a:t>
            </a:r>
            <a:r>
              <a:rPr lang="fr-BE" dirty="0" err="1"/>
              <a:t>em</a:t>
            </a:r>
            <a:r>
              <a:rPr lang="fr-BE" dirty="0"/>
              <a:t>&gt;</a:t>
            </a:r>
          </a:p>
          <a:p>
            <a:pPr lvl="2"/>
            <a:r>
              <a:rPr lang="fr-BE" dirty="0"/>
              <a:t>Ancêtre :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ul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BE" dirty="0"/>
              <a:t>≡ toutes les balises &lt;</a:t>
            </a:r>
            <a:r>
              <a:rPr lang="fr-BE" dirty="0" err="1"/>
              <a:t>em</a:t>
            </a:r>
            <a:r>
              <a:rPr lang="fr-BE" dirty="0"/>
              <a:t>&gt; descendant d’un &lt;</a:t>
            </a:r>
            <a:r>
              <a:rPr lang="fr-BE" dirty="0" err="1"/>
              <a:t>ul</a:t>
            </a:r>
            <a:r>
              <a:rPr lang="fr-BE" dirty="0"/>
              <a:t>&gt;</a:t>
            </a:r>
          </a:p>
          <a:p>
            <a:pPr lvl="2"/>
            <a:r>
              <a:rPr lang="fr-BE" dirty="0"/>
              <a:t>Fils 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li &gt;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BE" dirty="0"/>
              <a:t>≡ toutes les balises &lt;</a:t>
            </a:r>
            <a:r>
              <a:rPr lang="fr-BE" dirty="0" err="1"/>
              <a:t>em</a:t>
            </a:r>
            <a:r>
              <a:rPr lang="fr-BE" dirty="0"/>
              <a:t>&gt; fils directs d’un &lt;li&gt;</a:t>
            </a:r>
          </a:p>
          <a:p>
            <a:pPr lvl="1"/>
            <a:r>
              <a:rPr lang="fr-BE" dirty="0"/>
              <a:t>Exemple 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li &gt;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/>
            <a:endParaRPr lang="fr-BE" dirty="0"/>
          </a:p>
        </p:txBody>
      </p:sp>
      <p:pic>
        <p:nvPicPr>
          <p:cNvPr id="5" name="Image 4" descr="Une image contenant Polic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14C23004-6186-5B0A-3DFF-C230D8A40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021" y="4001294"/>
            <a:ext cx="5572628" cy="195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67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C546F7-06AE-BF96-A3DD-357E5E6A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Arborescence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9988A0-5EB7-740E-0055-EFE968873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Sélecteurs basés sur l’arborescence</a:t>
            </a:r>
          </a:p>
          <a:p>
            <a:pPr lvl="1"/>
            <a:r>
              <a:rPr lang="fr-BE" dirty="0"/>
              <a:t>Restriction en fonction des frères / sœurs précédents</a:t>
            </a:r>
          </a:p>
          <a:p>
            <a:pPr lvl="2"/>
            <a:r>
              <a:rPr lang="fr-BE" dirty="0"/>
              <a:t>Sans restriction :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</a:t>
            </a:r>
            <a:r>
              <a:rPr lang="fr-BE" dirty="0"/>
              <a:t> ≡ toutes les balises &lt;</a:t>
            </a:r>
            <a:r>
              <a:rPr lang="fr-BE" dirty="0" err="1"/>
              <a:t>em</a:t>
            </a:r>
            <a:r>
              <a:rPr lang="fr-BE" dirty="0"/>
              <a:t>&gt;</a:t>
            </a:r>
          </a:p>
          <a:p>
            <a:pPr lvl="2"/>
            <a:r>
              <a:rPr lang="fr-BE" dirty="0"/>
              <a:t>Frère :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strong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~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BE" dirty="0"/>
              <a:t>≡ tous les &lt;</a:t>
            </a:r>
            <a:r>
              <a:rPr lang="fr-BE" dirty="0" err="1"/>
              <a:t>em</a:t>
            </a:r>
            <a:r>
              <a:rPr lang="fr-BE" dirty="0"/>
              <a:t>&gt; venant après un &lt;</a:t>
            </a:r>
            <a:r>
              <a:rPr lang="fr-BE" dirty="0" err="1"/>
              <a:t>strong</a:t>
            </a:r>
            <a:r>
              <a:rPr lang="fr-BE" dirty="0"/>
              <a:t>&gt;</a:t>
            </a:r>
          </a:p>
          <a:p>
            <a:pPr lvl="2"/>
            <a:r>
              <a:rPr lang="fr-BE" dirty="0"/>
              <a:t>Adjacent :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strong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+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BE" dirty="0"/>
              <a:t>≡ tous les &lt;</a:t>
            </a:r>
            <a:r>
              <a:rPr lang="fr-BE" dirty="0" err="1"/>
              <a:t>em</a:t>
            </a:r>
            <a:r>
              <a:rPr lang="fr-BE" dirty="0"/>
              <a:t>&gt; suivant un &lt;</a:t>
            </a:r>
            <a:r>
              <a:rPr lang="fr-BE" dirty="0" err="1"/>
              <a:t>strong</a:t>
            </a:r>
            <a:r>
              <a:rPr lang="fr-BE" dirty="0"/>
              <a:t>&gt;</a:t>
            </a:r>
          </a:p>
          <a:p>
            <a:pPr lvl="1"/>
            <a:r>
              <a:rPr lang="fr-BE" dirty="0"/>
              <a:t>Ex :</a:t>
            </a:r>
          </a:p>
          <a:p>
            <a:pPr lvl="2"/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Strong +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</a:t>
            </a:r>
            <a:endParaRPr lang="fr-BE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endParaRPr lang="fr-BE" dirty="0"/>
          </a:p>
        </p:txBody>
      </p:sp>
      <p:pic>
        <p:nvPicPr>
          <p:cNvPr id="5" name="Image 4" descr="Une image contenant Rectangle, prise&#10;&#10;Le contenu généré par l’IA peut être incorrect.">
            <a:extLst>
              <a:ext uri="{FF2B5EF4-FFF2-40B4-BE49-F238E27FC236}">
                <a16:creationId xmlns:a16="http://schemas.microsoft.com/office/drawing/2014/main" id="{45D56061-F428-7689-E320-D004C805F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582" y="4001294"/>
            <a:ext cx="7882518" cy="257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10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ADCCAE-AA05-64CB-570D-950649AA4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2.Arborescence	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7314BF-961D-6AD6-FE46-41410F975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Sélecteurs basés sur l’arborescence</a:t>
            </a:r>
          </a:p>
          <a:p>
            <a:pPr lvl="1"/>
            <a:r>
              <a:rPr lang="fr-BE" dirty="0"/>
              <a:t>On peut :</a:t>
            </a:r>
          </a:p>
          <a:p>
            <a:pPr lvl="2"/>
            <a:r>
              <a:rPr lang="fr-FR" dirty="0"/>
              <a:t>Les utiliser avec les identificateurs, les balises et les classes</a:t>
            </a:r>
          </a:p>
          <a:p>
            <a:pPr lvl="3"/>
            <a:r>
              <a:rPr lang="fr-FR" dirty="0"/>
              <a:t>Ex 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#grandcadre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strong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BE" dirty="0"/>
              <a:t>≡ tous les &lt;</a:t>
            </a:r>
            <a:r>
              <a:rPr lang="fr-BE" dirty="0" err="1"/>
              <a:t>strong</a:t>
            </a:r>
            <a:r>
              <a:rPr lang="fr-BE" dirty="0"/>
              <a:t>&gt; qui se trouvent dans l'élément d'identificateur "</a:t>
            </a:r>
            <a:r>
              <a:rPr lang="fr-BE" dirty="0" err="1"/>
              <a:t>grandcadre</a:t>
            </a:r>
            <a:r>
              <a:rPr lang="fr-BE" dirty="0"/>
              <a:t>"</a:t>
            </a:r>
            <a:endParaRPr lang="fr-FR" dirty="0"/>
          </a:p>
          <a:p>
            <a:pPr lvl="2"/>
            <a:r>
              <a:rPr lang="fr-FR" dirty="0"/>
              <a:t>Les combiner ensemble</a:t>
            </a:r>
          </a:p>
          <a:p>
            <a:pPr lvl="3"/>
            <a:r>
              <a:rPr lang="fr-FR" dirty="0"/>
              <a:t>Ex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#cadre h2 + p </a:t>
            </a:r>
            <a:r>
              <a:rPr lang="fr-BE" dirty="0"/>
              <a:t>≡ tous les &lt;p&gt;</a:t>
            </a:r>
            <a:r>
              <a:rPr lang="fr-BE" dirty="0" err="1"/>
              <a:t>aragraphes</a:t>
            </a:r>
            <a:r>
              <a:rPr lang="fr-BE" dirty="0"/>
              <a:t> suivant immédiatement un titre &lt;h2&gt; à l'intérieur de l'élément d'identificateur "cadre"</a:t>
            </a:r>
          </a:p>
        </p:txBody>
      </p:sp>
    </p:spTree>
    <p:extLst>
      <p:ext uri="{BB962C8B-B14F-4D97-AF65-F5344CB8AC3E}">
        <p14:creationId xmlns:p14="http://schemas.microsoft.com/office/powerpoint/2010/main" val="13928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FF536-791F-717F-3734-F5B7E45F3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56C70E-DA42-8FAD-7413-6D6617B5B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Arborescence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340ED7-981D-BA20-3EE7-FC4D09EC7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Sélecteurs selon les attributs</a:t>
            </a:r>
          </a:p>
          <a:p>
            <a:pPr lvl="1"/>
            <a:r>
              <a:rPr lang="fr-FR" dirty="0"/>
              <a:t>Sans restriction : 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video</a:t>
            </a:r>
            <a:r>
              <a:rPr lang="fr-FR" dirty="0"/>
              <a:t> ≡ toutes les vidéos</a:t>
            </a:r>
          </a:p>
          <a:p>
            <a:pPr lvl="1"/>
            <a:r>
              <a:rPr lang="fr-FR" dirty="0"/>
              <a:t>Présence : 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video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[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loop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] </a:t>
            </a:r>
            <a:r>
              <a:rPr lang="fr-FR" dirty="0"/>
              <a:t>≡ toues les vidéos à jouer en boucle</a:t>
            </a:r>
          </a:p>
          <a:p>
            <a:pPr lvl="1"/>
            <a:r>
              <a:rPr lang="fr-FR" dirty="0"/>
              <a:t>Valeur :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a[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target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=« _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blank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»] </a:t>
            </a:r>
            <a:r>
              <a:rPr lang="fr-FR" dirty="0"/>
              <a:t>≡ les liens à ouvrir dans un nouvel onglet</a:t>
            </a:r>
          </a:p>
          <a:p>
            <a:r>
              <a:rPr lang="fr-BE" dirty="0"/>
              <a:t>Sélecteurs selon les attributs en testant la valeur</a:t>
            </a:r>
          </a:p>
          <a:p>
            <a:pPr lvl="1"/>
            <a:r>
              <a:rPr lang="fr-BE" dirty="0"/>
              <a:t>Préfixe 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a[href^=« http »]</a:t>
            </a:r>
            <a:r>
              <a:rPr lang="fr-BE" dirty="0"/>
              <a:t> ≡ les liens où l’url commence par http</a:t>
            </a:r>
          </a:p>
          <a:p>
            <a:pPr lvl="1"/>
            <a:r>
              <a:rPr lang="fr-BE" dirty="0"/>
              <a:t>Suffixe 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a[href$=« .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pdf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»] </a:t>
            </a:r>
            <a:r>
              <a:rPr lang="fr-BE" dirty="0"/>
              <a:t>≡ les liens où l’url finit par .</a:t>
            </a:r>
            <a:r>
              <a:rPr lang="fr-BE" dirty="0" err="1"/>
              <a:t>pdf</a:t>
            </a:r>
            <a:endParaRPr lang="fr-BE" dirty="0"/>
          </a:p>
          <a:p>
            <a:pPr lvl="1"/>
            <a:r>
              <a:rPr lang="fr-BE" dirty="0"/>
              <a:t>Contient 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a[href*=« .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be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»] </a:t>
            </a:r>
            <a:r>
              <a:rPr lang="fr-BE" dirty="0"/>
              <a:t>≡ les liens où l’url contient .</a:t>
            </a:r>
            <a:r>
              <a:rPr lang="fr-BE" dirty="0" err="1"/>
              <a:t>be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638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45CA4B-3D00-0102-B5B2-E3D16D0B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Arborescence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67D25C-4394-51BF-42C1-4E373166D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Sélecteurs sans balise</a:t>
            </a:r>
          </a:p>
          <a:p>
            <a:pPr lvl="1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[id^=« 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prem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»] </a:t>
            </a:r>
            <a:r>
              <a:rPr lang="fr-FR" dirty="0"/>
              <a:t>≡ tous les éléments (quel que soit leur type) dont </a:t>
            </a:r>
            <a:r>
              <a:rPr lang="fr-FR" dirty="0" err="1"/>
              <a:t>l’id</a:t>
            </a:r>
            <a:r>
              <a:rPr lang="fr-FR" dirty="0"/>
              <a:t> commence par « </a:t>
            </a:r>
            <a:r>
              <a:rPr lang="fr-FR" dirty="0" err="1"/>
              <a:t>prem</a:t>
            </a:r>
            <a:r>
              <a:rPr lang="fr-FR" dirty="0"/>
              <a:t>&gt;</a:t>
            </a:r>
          </a:p>
          <a:p>
            <a:r>
              <a:rPr lang="fr-FR" dirty="0"/>
              <a:t>Sélecteurs chainés</a:t>
            </a:r>
          </a:p>
          <a:p>
            <a:pPr lvl="1"/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img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[href^="http"][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target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="_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blank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"]</a:t>
            </a:r>
            <a:r>
              <a:rPr lang="fr-BE" dirty="0"/>
              <a:t> ≡ les liens vers une adresse http devant être ouverts dans un nouvel onglet</a:t>
            </a:r>
          </a:p>
          <a:p>
            <a:r>
              <a:rPr lang="fr-FR" dirty="0"/>
              <a:t>⚠️Les espaces vides ont leur importance</a:t>
            </a:r>
          </a:p>
          <a:p>
            <a:pPr lvl="1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A[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target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] </a:t>
            </a:r>
            <a:r>
              <a:rPr lang="fr-FR" dirty="0"/>
              <a:t>≡ les liens possédant un attribut </a:t>
            </a:r>
            <a:r>
              <a:rPr lang="fr-FR" dirty="0" err="1"/>
              <a:t>target</a:t>
            </a:r>
            <a:endParaRPr lang="fr-FR" dirty="0"/>
          </a:p>
          <a:p>
            <a:pPr lvl="1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 [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target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] </a:t>
            </a:r>
            <a:r>
              <a:rPr lang="fr-FR" dirty="0"/>
              <a:t>≡ les éléments descendant d’un &lt;a&gt; et possédant un attribut </a:t>
            </a:r>
            <a:r>
              <a:rPr lang="fr-FR" dirty="0" err="1"/>
              <a:t>target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20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3B8D7-DB83-A588-A050-61346FD8D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BFEE29-3CFA-328E-F71E-2F2E65AED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Arborescence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52CB42-973C-2434-E710-295DFA491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pseudo-classes</a:t>
            </a:r>
          </a:p>
          <a:p>
            <a:pPr lvl="1"/>
            <a:r>
              <a:rPr lang="fr-FR" dirty="0"/>
              <a:t>Ce sont des restrictions qui ressemblent à des classes prédéfinies et qui se notent avec un « : ». Elles permettent de restreindre une sélection en ne ciblant que les éléments HTML qui vérifient une condition donnée.</a:t>
            </a:r>
          </a:p>
          <a:p>
            <a:pPr lvl="1"/>
            <a:r>
              <a:rPr lang="fr-FR" dirty="0"/>
              <a:t>Pour les liens :</a:t>
            </a:r>
          </a:p>
          <a:p>
            <a:pPr lvl="2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A:hover </a:t>
            </a:r>
            <a:r>
              <a:rPr lang="fr-FR" dirty="0"/>
              <a:t>≡ lien survolé par le curseur</a:t>
            </a:r>
          </a:p>
          <a:p>
            <a:pPr lvl="2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A:visited </a:t>
            </a:r>
            <a:r>
              <a:rPr lang="fr-FR" dirty="0"/>
              <a:t>≡ lien qui a déjà été visité</a:t>
            </a:r>
          </a:p>
          <a:p>
            <a:pPr lvl="2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A:active </a:t>
            </a:r>
            <a:r>
              <a:rPr lang="fr-FR" dirty="0"/>
              <a:t>≡ lien qui est activé (lors du clic)</a:t>
            </a:r>
          </a:p>
          <a:p>
            <a:pPr lvl="1"/>
            <a:r>
              <a:rPr lang="fr-FR" dirty="0"/>
              <a:t>Combinaisons possibles:</a:t>
            </a:r>
          </a:p>
          <a:p>
            <a:pPr lvl="2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Nav a:visited </a:t>
            </a:r>
            <a:r>
              <a:rPr lang="fr-FR" dirty="0"/>
              <a:t>≡ les liens déjà visités dans l’élément &lt;</a:t>
            </a:r>
            <a:r>
              <a:rPr lang="fr-FR" dirty="0" err="1"/>
              <a:t>nav</a:t>
            </a:r>
            <a:r>
              <a:rPr lang="fr-FR" dirty="0"/>
              <a:t>&gt;</a:t>
            </a:r>
          </a:p>
          <a:p>
            <a:pPr lvl="2"/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A.interne:hover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FR" dirty="0"/>
              <a:t>≡ liens de classe « interne » survolés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5632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E68FA-193B-26D8-39AD-734C9F20E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297162-6830-4018-C6FC-9B001CCC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Arborescence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2B16D8-DE75-B492-DB24-22F1981C1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fr-FR" dirty="0"/>
              <a:t>Les pseudo-classes</a:t>
            </a:r>
          </a:p>
          <a:p>
            <a:pPr lvl="1"/>
            <a:r>
              <a:rPr lang="fr-BE" dirty="0"/>
              <a:t>1er fils :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li:first-child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BE" dirty="0"/>
              <a:t>≡ li qui est le premier fils de son parent</a:t>
            </a:r>
          </a:p>
          <a:p>
            <a:pPr lvl="1"/>
            <a:r>
              <a:rPr lang="fr-BE" dirty="0"/>
              <a:t>dernier fils :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li:last-child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BE" dirty="0"/>
              <a:t>≡ li dernier fils de son parent</a:t>
            </a:r>
          </a:p>
          <a:p>
            <a:pPr lvl="1"/>
            <a:r>
              <a:rPr lang="fr-BE" dirty="0"/>
              <a:t>N</a:t>
            </a:r>
            <a:r>
              <a:rPr lang="fr-BE" baseline="30000" dirty="0"/>
              <a:t>e</a:t>
            </a:r>
            <a:r>
              <a:rPr lang="fr-BE" dirty="0"/>
              <a:t> fils :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li:nth-child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(4) </a:t>
            </a:r>
            <a:r>
              <a:rPr lang="fr-BE" dirty="0"/>
              <a:t>≡ li qui est le 4</a:t>
            </a:r>
            <a:r>
              <a:rPr lang="fr-BE" baseline="30000" dirty="0"/>
              <a:t>e</a:t>
            </a:r>
            <a:r>
              <a:rPr lang="fr-BE" dirty="0"/>
              <a:t> fils de son parent</a:t>
            </a:r>
          </a:p>
          <a:p>
            <a:pPr lvl="1"/>
            <a:r>
              <a:rPr lang="fr-BE" dirty="0"/>
              <a:t>N</a:t>
            </a:r>
            <a:r>
              <a:rPr lang="fr-BE" baseline="30000" dirty="0"/>
              <a:t>e</a:t>
            </a:r>
            <a:r>
              <a:rPr lang="fr-BE" dirty="0"/>
              <a:t> fils :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li:nth-last-child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(4) </a:t>
            </a:r>
            <a:r>
              <a:rPr lang="fr-BE" dirty="0"/>
              <a:t>≡ li 4</a:t>
            </a:r>
            <a:r>
              <a:rPr lang="fr-BE" baseline="30000" dirty="0"/>
              <a:t>e</a:t>
            </a:r>
            <a:r>
              <a:rPr lang="fr-BE" dirty="0"/>
              <a:t> fils en partant de la fin</a:t>
            </a:r>
          </a:p>
          <a:p>
            <a:pPr lvl="1"/>
            <a:r>
              <a:rPr lang="fr-BE" dirty="0"/>
              <a:t>fils unique :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em:only-child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BE" dirty="0"/>
              <a:t>≡ les </a:t>
            </a:r>
            <a:r>
              <a:rPr lang="fr-BE" dirty="0" err="1"/>
              <a:t>em</a:t>
            </a:r>
            <a:r>
              <a:rPr lang="fr-BE" dirty="0"/>
              <a:t> qui n'ont aucun frère</a:t>
            </a:r>
          </a:p>
          <a:p>
            <a:pPr lvl="1"/>
            <a:r>
              <a:rPr lang="fr-BE" dirty="0"/>
              <a:t>premier :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em:first-of-type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BE" dirty="0"/>
              <a:t>≡ premier fils de type </a:t>
            </a:r>
            <a:r>
              <a:rPr lang="fr-BE" dirty="0" err="1"/>
              <a:t>em</a:t>
            </a:r>
            <a:endParaRPr lang="fr-BE" dirty="0"/>
          </a:p>
          <a:p>
            <a:pPr lvl="1"/>
            <a:r>
              <a:rPr lang="fr-BE" dirty="0"/>
              <a:t>dernier :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em:last-of-type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BE" dirty="0"/>
              <a:t>≡ dernier fils de type </a:t>
            </a:r>
            <a:r>
              <a:rPr lang="fr-BE" dirty="0" err="1"/>
              <a:t>em</a:t>
            </a:r>
            <a:endParaRPr lang="fr-BE" dirty="0"/>
          </a:p>
          <a:p>
            <a:pPr lvl="1"/>
            <a:r>
              <a:rPr lang="fr-BE" dirty="0"/>
              <a:t>N</a:t>
            </a:r>
            <a:r>
              <a:rPr lang="fr-BE" baseline="30000" dirty="0"/>
              <a:t>e </a:t>
            </a:r>
            <a:r>
              <a:rPr lang="fr-BE" dirty="0"/>
              <a:t>fils :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em:nth-of-type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(4) </a:t>
            </a:r>
            <a:r>
              <a:rPr lang="fr-BE" dirty="0"/>
              <a:t>≡ 4</a:t>
            </a:r>
            <a:r>
              <a:rPr lang="fr-BE" baseline="30000" dirty="0"/>
              <a:t>e</a:t>
            </a:r>
            <a:r>
              <a:rPr lang="fr-BE" dirty="0"/>
              <a:t> fils de type </a:t>
            </a:r>
            <a:r>
              <a:rPr lang="fr-BE" dirty="0" err="1"/>
              <a:t>em</a:t>
            </a:r>
            <a:endParaRPr lang="fr-BE" dirty="0"/>
          </a:p>
          <a:p>
            <a:pPr lvl="1"/>
            <a:r>
              <a:rPr lang="fr-BE" dirty="0"/>
              <a:t>N</a:t>
            </a:r>
            <a:r>
              <a:rPr lang="fr-BE" baseline="30000" dirty="0"/>
              <a:t>e </a:t>
            </a:r>
            <a:r>
              <a:rPr lang="fr-BE" dirty="0"/>
              <a:t>fils :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em:nth-last-of-type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(4) </a:t>
            </a:r>
            <a:r>
              <a:rPr lang="fr-BE" dirty="0"/>
              <a:t>≡ 4</a:t>
            </a:r>
            <a:r>
              <a:rPr lang="fr-BE" baseline="30000" dirty="0"/>
              <a:t>e</a:t>
            </a:r>
            <a:r>
              <a:rPr lang="fr-BE" dirty="0"/>
              <a:t> fils de type </a:t>
            </a:r>
            <a:r>
              <a:rPr lang="fr-BE" dirty="0" err="1"/>
              <a:t>em</a:t>
            </a:r>
            <a:r>
              <a:rPr lang="fr-BE" dirty="0"/>
              <a:t> depuis la fin</a:t>
            </a:r>
          </a:p>
          <a:p>
            <a:pPr lvl="1"/>
            <a:r>
              <a:rPr lang="fr-BE" dirty="0"/>
              <a:t>seul :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em:only-of-type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BE" dirty="0"/>
              <a:t>≡ les </a:t>
            </a:r>
            <a:r>
              <a:rPr lang="fr-BE" dirty="0" err="1"/>
              <a:t>em</a:t>
            </a:r>
            <a:r>
              <a:rPr lang="fr-BE" dirty="0"/>
              <a:t> qui n'ont aucun frère </a:t>
            </a:r>
            <a:r>
              <a:rPr lang="fr-BE" dirty="0" err="1"/>
              <a:t>em</a:t>
            </a:r>
            <a:endParaRPr lang="fr-BE" dirty="0"/>
          </a:p>
          <a:p>
            <a:pPr lvl="1"/>
            <a:r>
              <a:rPr lang="fr-BE" dirty="0"/>
              <a:t>Négation</a:t>
            </a:r>
          </a:p>
          <a:p>
            <a:pPr lvl="2"/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p:not(.intro) </a:t>
            </a:r>
            <a:r>
              <a:rPr lang="fr-BE" dirty="0"/>
              <a:t>≡ paragraphe qui n'est pas de classe "intro« </a:t>
            </a:r>
          </a:p>
          <a:p>
            <a:pPr lvl="2"/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table a:not([target="_blank"]) </a:t>
            </a:r>
            <a:r>
              <a:rPr lang="fr-BE" dirty="0"/>
              <a:t>≡ liens qui se trouvent dans une table, sauf ceux qui s'ouvrent dans un nouvel onglet.</a:t>
            </a:r>
          </a:p>
          <a:p>
            <a:pPr lvl="1"/>
            <a:r>
              <a:rPr lang="fr-BE" dirty="0"/>
              <a:t>Vide 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p:empty </a:t>
            </a:r>
            <a:r>
              <a:rPr lang="fr-BE" dirty="0"/>
              <a:t>≡ paragraphes vides (aucun fils et aucun texte)</a:t>
            </a:r>
          </a:p>
        </p:txBody>
      </p:sp>
    </p:spTree>
    <p:extLst>
      <p:ext uri="{BB962C8B-B14F-4D97-AF65-F5344CB8AC3E}">
        <p14:creationId xmlns:p14="http://schemas.microsoft.com/office/powerpoint/2010/main" val="379076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F927C-F390-06E1-9111-7976EA4F0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14C700-3AA8-73CF-5075-A44A9A84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Arborescence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1952D2-1A83-96B6-90FD-6EC6A8C39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pseudo-classes</a:t>
            </a:r>
            <a:endParaRPr lang="fr-BE" dirty="0"/>
          </a:p>
        </p:txBody>
      </p:sp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97BEED3F-9E6B-AFDD-2281-C2437FB1A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305" y="1558236"/>
            <a:ext cx="7849695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295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1C5B5-BA13-F615-2AAF-3A4662331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90F26C-C59C-A170-981E-7C06E356D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Arborescence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B811F9-D2FC-8B2B-A995-29B8722DF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pseudo-éléments</a:t>
            </a:r>
          </a:p>
          <a:p>
            <a:pPr lvl="1"/>
            <a:r>
              <a:rPr lang="fr-BE" dirty="0"/>
              <a:t>Ils permettent de sélectionner des morceaux de contenu qui ne correspondent pas à des éléments HTML.</a:t>
            </a:r>
          </a:p>
          <a:p>
            <a:pPr lvl="2"/>
            <a:r>
              <a:rPr lang="fr-BE" dirty="0"/>
              <a:t>Ex :</a:t>
            </a:r>
          </a:p>
          <a:p>
            <a:pPr lvl="3"/>
            <a:r>
              <a:rPr lang="fr-BE" dirty="0"/>
              <a:t>1</a:t>
            </a:r>
            <a:r>
              <a:rPr lang="fr-BE" baseline="30000" dirty="0"/>
              <a:t>re</a:t>
            </a:r>
            <a:r>
              <a:rPr lang="fr-BE" dirty="0"/>
              <a:t> lettre 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p::first-letter </a:t>
            </a:r>
            <a:r>
              <a:rPr lang="fr-BE" dirty="0"/>
              <a:t>≡ la 1re lettre d'un paragraphe</a:t>
            </a:r>
          </a:p>
          <a:p>
            <a:pPr lvl="3"/>
            <a:r>
              <a:rPr lang="fr-BE" dirty="0"/>
              <a:t>1</a:t>
            </a:r>
            <a:r>
              <a:rPr lang="fr-BE" baseline="30000" dirty="0"/>
              <a:t>re</a:t>
            </a:r>
            <a:r>
              <a:rPr lang="fr-BE" dirty="0"/>
              <a:t> ligne 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p::first-line </a:t>
            </a:r>
            <a:r>
              <a:rPr lang="fr-BE" dirty="0"/>
              <a:t>≡ la 1re ligne d'un paragraphe</a:t>
            </a:r>
          </a:p>
          <a:p>
            <a:pPr lvl="2"/>
            <a:r>
              <a:rPr lang="fr-BE" dirty="0"/>
              <a:t>Deux autres pseudo-éléments permettant d'ajouter des éléments autour du contenu existant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(::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before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BE" dirty="0"/>
              <a:t>et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::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after</a:t>
            </a:r>
            <a:r>
              <a:rPr lang="fr-B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17089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E39E14-906C-798A-2C87-EB8514D41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8E5B2B-E1D2-1F71-0324-CCD1BD8E6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formulaire HTML permet à l’utilisateur de rentrer diverses données qui peuvent ensuite être exportés via le web.</a:t>
            </a:r>
          </a:p>
          <a:p>
            <a:r>
              <a:rPr lang="fr-FR" dirty="0"/>
              <a:t>Il s’accompagne d’au moins un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bouton de soumission </a:t>
            </a:r>
            <a:r>
              <a:rPr lang="fr-FR" dirty="0"/>
              <a:t>permettant l’envoi des informations.</a:t>
            </a:r>
            <a:endParaRPr lang="fr-BE" dirty="0"/>
          </a:p>
        </p:txBody>
      </p:sp>
      <p:pic>
        <p:nvPicPr>
          <p:cNvPr id="5" name="Image 4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C5111628-A1D0-0313-A198-3518437A4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839" y="3581034"/>
            <a:ext cx="4096322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70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5582D-34CA-7701-4960-F0BC9D36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262B5F-1D14-5059-E50C-DF86C8B58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E5FC4D-1C4F-6F91-A7F2-275A61866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actions (3 grandes principales)</a:t>
            </a:r>
          </a:p>
          <a:p>
            <a:pPr lvl="1"/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Recueillir</a:t>
            </a:r>
            <a:r>
              <a:rPr lang="fr-BE" dirty="0"/>
              <a:t> les informations de l’utilisateur</a:t>
            </a:r>
          </a:p>
          <a:p>
            <a:pPr lvl="1"/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Vérifier</a:t>
            </a:r>
            <a:r>
              <a:rPr lang="fr-BE" dirty="0"/>
              <a:t> certaines contraintes sur ces informations</a:t>
            </a:r>
          </a:p>
          <a:p>
            <a:pPr lvl="1"/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Envoyer</a:t>
            </a:r>
            <a:r>
              <a:rPr lang="fr-BE" dirty="0"/>
              <a:t> les informations via le web</a:t>
            </a:r>
          </a:p>
        </p:txBody>
      </p:sp>
    </p:spTree>
    <p:extLst>
      <p:ext uri="{BB962C8B-B14F-4D97-AF65-F5344CB8AC3E}">
        <p14:creationId xmlns:p14="http://schemas.microsoft.com/office/powerpoint/2010/main" val="407849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9EF6C-7A0F-4C1B-4B19-15598491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2CC654-1F72-548F-293F-242F25E2E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C825AB-01A5-EAD5-64FB-26A3A4250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Recueillir les informations</a:t>
            </a:r>
          </a:p>
          <a:p>
            <a:pPr lvl="1"/>
            <a:r>
              <a:rPr lang="fr-FR" dirty="0"/>
              <a:t>Les informations sont entrées manuellement ou non</a:t>
            </a:r>
            <a:r>
              <a:rPr lang="fr-BE" dirty="0"/>
              <a:t> (clavier, souris, liste, fichier, </a:t>
            </a:r>
            <a:r>
              <a:rPr lang="fr-BE" dirty="0" err="1"/>
              <a:t>slider</a:t>
            </a:r>
            <a:r>
              <a:rPr lang="fr-BE" dirty="0"/>
              <a:t>, date, …)</a:t>
            </a:r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r>
              <a:rPr lang="fr-BE" dirty="0"/>
              <a:t>Chaque information est un couple </a:t>
            </a:r>
            <a:br>
              <a:rPr lang="fr-BE" dirty="0"/>
            </a:br>
            <a:r>
              <a:rPr lang="fr-BE" dirty="0"/>
              <a:t>propriété / valeur</a:t>
            </a:r>
            <a:endParaRPr lang="fr-FR" dirty="0"/>
          </a:p>
        </p:txBody>
      </p:sp>
      <p:pic>
        <p:nvPicPr>
          <p:cNvPr id="5" name="Image 4" descr="Une image contenant texte, capture d’écran, ligne, Police&#10;&#10;Le contenu généré par l’IA peut être incorrect.">
            <a:extLst>
              <a:ext uri="{FF2B5EF4-FFF2-40B4-BE49-F238E27FC236}">
                <a16:creationId xmlns:a16="http://schemas.microsoft.com/office/drawing/2014/main" id="{E4460633-A1AC-40E1-48B2-71B6DCF1A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669" y="2695472"/>
            <a:ext cx="2667372" cy="1467055"/>
          </a:xfrm>
          <a:prstGeom prst="rect">
            <a:avLst/>
          </a:prstGeom>
        </p:spPr>
      </p:pic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F66A89FB-70FC-5248-E746-43484E5CCF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194" y="4226256"/>
            <a:ext cx="3381847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83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C5C3E-2A9A-76D6-0A6D-744194CDB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43D7D-041E-0431-EAEB-96FB9C859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D632DE-A7F4-009B-C1A3-92B3668F7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Vérifier certaines contraintes</a:t>
            </a:r>
          </a:p>
          <a:p>
            <a:pPr lvl="1"/>
            <a:r>
              <a:rPr lang="fr-FR" dirty="0"/>
              <a:t>Informations requises</a:t>
            </a:r>
          </a:p>
          <a:p>
            <a:pPr lvl="1"/>
            <a:r>
              <a:rPr lang="fr-FR" dirty="0"/>
              <a:t>Min / max</a:t>
            </a:r>
          </a:p>
          <a:p>
            <a:pPr lvl="1"/>
            <a:r>
              <a:rPr lang="fr-FR" dirty="0"/>
              <a:t>Format à respecter</a:t>
            </a:r>
          </a:p>
          <a:p>
            <a:pPr lvl="1"/>
            <a:r>
              <a:rPr lang="fr-FR" dirty="0"/>
              <a:t>…</a:t>
            </a:r>
          </a:p>
          <a:p>
            <a:r>
              <a:rPr lang="fr-FR" dirty="0"/>
              <a:t>Validation en deux temps:</a:t>
            </a:r>
          </a:p>
          <a:p>
            <a:pPr lvl="1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Validation locale </a:t>
            </a:r>
            <a:r>
              <a:rPr lang="fr-FR" dirty="0"/>
              <a:t>sur le client : vérifications rapides sans besoin de données mais peu sécurisées</a:t>
            </a:r>
          </a:p>
          <a:p>
            <a:pPr lvl="1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Validation par le serveur </a:t>
            </a:r>
            <a:r>
              <a:rPr lang="fr-FR" dirty="0"/>
              <a:t>: vérifications plus complexes utilisant une base de données (login, </a:t>
            </a:r>
            <a:r>
              <a:rPr lang="fr-FR" dirty="0" err="1"/>
              <a:t>mdp</a:t>
            </a:r>
            <a:r>
              <a:rPr lang="fr-FR" dirty="0"/>
              <a:t>, autorisations, …)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9283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A2C44-5F67-F79A-5036-8B28FF824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578704-D161-6B81-F7DE-70225951A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EBBE76-20E9-C4D9-C81A-071C90DF4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Envoyer les informations via le web</a:t>
            </a:r>
          </a:p>
          <a:p>
            <a:pPr lvl="1"/>
            <a:r>
              <a:rPr lang="fr-FR" dirty="0"/>
              <a:t>Paramètres à préciser</a:t>
            </a:r>
          </a:p>
          <a:p>
            <a:pPr lvl="2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Où</a:t>
            </a:r>
            <a:r>
              <a:rPr lang="fr-FR" dirty="0"/>
              <a:t> : vers quelle adresse</a:t>
            </a:r>
          </a:p>
          <a:p>
            <a:pPr lvl="2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Comment</a:t>
            </a:r>
            <a:r>
              <a:rPr lang="fr-FR" dirty="0"/>
              <a:t> : quel protocole utilisé (GET, POST, …)</a:t>
            </a:r>
          </a:p>
          <a:p>
            <a:pPr lvl="2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Ensuite</a:t>
            </a:r>
            <a:r>
              <a:rPr lang="fr-FR" dirty="0"/>
              <a:t> : que faire de la réponse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04483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4BE47-C1B6-CB37-DCDB-299C8D1CA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DC7AA0-67D8-AF57-A989-8E90F13B1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D8DC90-E0D8-CAFD-1DDC-0B011952D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protocoles GET et POST</a:t>
            </a:r>
          </a:p>
          <a:p>
            <a:pPr lvl="1"/>
            <a:r>
              <a:rPr lang="fr-FR" dirty="0"/>
              <a:t>Lorsqu’un client demande une page web, il envoie diverses informations (structuré selon le protocole http)</a:t>
            </a:r>
            <a:endParaRPr lang="fr-BE" dirty="0"/>
          </a:p>
        </p:txBody>
      </p:sp>
      <p:pic>
        <p:nvPicPr>
          <p:cNvPr id="5" name="Image 4" descr="Une image contenant texte, dessin humoristique, conception&#10;&#10;Le contenu généré par l’IA peut être incorrect.">
            <a:extLst>
              <a:ext uri="{FF2B5EF4-FFF2-40B4-BE49-F238E27FC236}">
                <a16:creationId xmlns:a16="http://schemas.microsoft.com/office/drawing/2014/main" id="{8790C943-71E5-B8AE-E270-03593E72B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166" y="2954439"/>
            <a:ext cx="6153667" cy="366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10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1C471-A0ED-F581-B3B3-D3B9EA256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DBAEF3-B7F3-EE2C-F2E3-DCF77EBE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48EDF8-CD9A-AC56-604B-F04689ABD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protocoles (méthodes) GET et POST</a:t>
            </a:r>
          </a:p>
          <a:p>
            <a:pPr lvl="1"/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GET</a:t>
            </a:r>
            <a:r>
              <a:rPr lang="fr-BE" dirty="0"/>
              <a:t> : données inclues dans l’adresse web.</a:t>
            </a:r>
          </a:p>
          <a:p>
            <a:pPr lvl="2"/>
            <a:r>
              <a:rPr lang="fr-BE" dirty="0"/>
              <a:t>Ex : </a:t>
            </a:r>
            <a:r>
              <a:rPr lang="fr-BE" dirty="0">
                <a:hlinkClick r:id="rId2"/>
              </a:rPr>
              <a:t>https://www.google.be/search?q=html+tree</a:t>
            </a:r>
            <a:endParaRPr lang="fr-BE" dirty="0"/>
          </a:p>
          <a:p>
            <a:pPr lvl="2"/>
            <a:r>
              <a:rPr lang="fr-BE" dirty="0"/>
              <a:t>Informations visibles dans l’URL et l’historique</a:t>
            </a:r>
          </a:p>
          <a:p>
            <a:pPr lvl="2"/>
            <a:r>
              <a:rPr lang="fr-BE" dirty="0"/>
              <a:t>Conversion automatique des caractères problématiques (?&amp;=…)</a:t>
            </a:r>
          </a:p>
          <a:p>
            <a:pPr lvl="1"/>
            <a:endParaRPr lang="fr-BE" dirty="0"/>
          </a:p>
          <a:p>
            <a:pPr lvl="1"/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POST</a:t>
            </a:r>
            <a:r>
              <a:rPr lang="fr-BE" dirty="0"/>
              <a:t> : données transmises au sein de la demande.</a:t>
            </a:r>
          </a:p>
          <a:p>
            <a:pPr lvl="2"/>
            <a:r>
              <a:rPr lang="fr-BE" dirty="0"/>
              <a:t>Pas de sauvegarde dans l’historique. En cas de rafraichissement, il est nécessaire de refaire une demande.</a:t>
            </a:r>
          </a:p>
          <a:p>
            <a:pPr lvl="2"/>
            <a:r>
              <a:rPr lang="fr-BE" dirty="0"/>
              <a:t>Données moins visibles</a:t>
            </a:r>
          </a:p>
          <a:p>
            <a:pPr lvl="2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9102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F4F1D-077F-E0E7-6724-7FE966F9C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2D88EC-3056-44AF-5FE1-7E75260EC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196C3E-DEE4-134E-2767-7CC4DBDC4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/>
              <a:t>Le formulaire dans son ensemble (HTML et CSS)</a:t>
            </a:r>
          </a:p>
          <a:p>
            <a:pPr lvl="1"/>
            <a:r>
              <a:rPr lang="fr-BE" dirty="0"/>
              <a:t>&lt;</a:t>
            </a:r>
            <a:r>
              <a:rPr lang="fr-BE" dirty="0" err="1"/>
              <a:t>form</a:t>
            </a:r>
            <a:br>
              <a:rPr lang="fr-BE" dirty="0"/>
            </a:br>
            <a:r>
              <a:rPr lang="fr-BE" dirty="0"/>
              <a:t>	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action="http://monsite.be/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monscript.php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" </a:t>
            </a:r>
            <a:br>
              <a:rPr lang="fr-BE" dirty="0"/>
            </a:br>
            <a:r>
              <a:rPr lang="fr-BE" dirty="0"/>
              <a:t>	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method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=« 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get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</a:t>
            </a:r>
            <a:b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BE" dirty="0"/>
              <a:t>	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target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=« _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blank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</a:t>
            </a:r>
            <a:r>
              <a:rPr lang="fr-BE" dirty="0"/>
              <a:t>&gt;</a:t>
            </a:r>
            <a:br>
              <a:rPr lang="fr-BE" dirty="0"/>
            </a:br>
            <a:r>
              <a:rPr lang="fr-BE" dirty="0"/>
              <a:t>	…</a:t>
            </a:r>
            <a:br>
              <a:rPr lang="fr-BE" dirty="0"/>
            </a:br>
            <a:r>
              <a:rPr lang="fr-BE" dirty="0"/>
              <a:t>&lt;/</a:t>
            </a:r>
            <a:r>
              <a:rPr lang="fr-BE" dirty="0" err="1"/>
              <a:t>form</a:t>
            </a:r>
            <a:r>
              <a:rPr lang="fr-BE" dirty="0"/>
              <a:t>&gt;</a:t>
            </a:r>
          </a:p>
          <a:p>
            <a:pPr lvl="1"/>
            <a:endParaRPr lang="fr-BE" dirty="0"/>
          </a:p>
          <a:p>
            <a:pPr lvl="1"/>
            <a:r>
              <a:rPr lang="fr-BE" dirty="0"/>
              <a:t>À l’intérieur de &lt;</a:t>
            </a:r>
            <a:r>
              <a:rPr lang="fr-BE" dirty="0" err="1"/>
              <a:t>form</a:t>
            </a:r>
            <a:r>
              <a:rPr lang="fr-BE" dirty="0"/>
              <a:t>&gt;, on peut trouver entre autres:</a:t>
            </a:r>
          </a:p>
          <a:p>
            <a:pPr lvl="2"/>
            <a:r>
              <a:rPr lang="fr-BE" dirty="0"/>
              <a:t>Des sections (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fieldset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 </a:t>
            </a:r>
            <a:r>
              <a:rPr lang="fr-BE" dirty="0"/>
              <a:t>)</a:t>
            </a:r>
          </a:p>
          <a:p>
            <a:pPr lvl="2"/>
            <a:r>
              <a:rPr lang="fr-BE" dirty="0"/>
              <a:t>Des déclencheurs de soumission ou de remise à zéros (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&lt;input&gt;</a:t>
            </a:r>
            <a:r>
              <a:rPr lang="fr-BE" dirty="0"/>
              <a:t> ou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button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</a:t>
            </a:r>
            <a:r>
              <a:rPr lang="fr-BE" dirty="0"/>
              <a:t>)</a:t>
            </a:r>
          </a:p>
          <a:p>
            <a:pPr lvl="2"/>
            <a:r>
              <a:rPr lang="fr-BE" dirty="0"/>
              <a:t>Les champs du formulaires (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&lt;input&gt;</a:t>
            </a:r>
            <a:r>
              <a:rPr lang="fr-BE" dirty="0"/>
              <a:t>,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textarea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</a:t>
            </a:r>
            <a:r>
              <a:rPr lang="fr-BE" dirty="0"/>
              <a:t>,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&lt;select&gt;</a:t>
            </a:r>
            <a:r>
              <a:rPr lang="fr-BE" dirty="0"/>
              <a:t>,…)</a:t>
            </a:r>
          </a:p>
          <a:p>
            <a:pPr lvl="2"/>
            <a:r>
              <a:rPr lang="fr-BE" dirty="0"/>
              <a:t>Des étiquettes textuelles ou graphiques (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&lt;label&gt;</a:t>
            </a:r>
            <a:r>
              <a:rPr lang="fr-BE" dirty="0"/>
              <a:t>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165D948-17B1-B1D4-5839-779C04D32720}"/>
              </a:ext>
            </a:extLst>
          </p:cNvPr>
          <p:cNvSpPr txBox="1"/>
          <p:nvPr/>
        </p:nvSpPr>
        <p:spPr>
          <a:xfrm>
            <a:off x="8367252" y="2290714"/>
            <a:ext cx="3374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Cible où mettre les informations</a:t>
            </a:r>
            <a:endParaRPr lang="fr-BE" dirty="0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CE79A7C8-392F-A70C-6C24-13021CA66AA4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7521677" y="2475380"/>
            <a:ext cx="845575" cy="179214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FE6EFFF9-887E-AC53-1D8D-2F81299660C5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952568" y="2997468"/>
            <a:ext cx="3421626" cy="319603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0F755C2E-AFDB-44BE-EC53-64F8214F0DB4}"/>
              </a:ext>
            </a:extLst>
          </p:cNvPr>
          <p:cNvSpPr txBox="1"/>
          <p:nvPr/>
        </p:nvSpPr>
        <p:spPr>
          <a:xfrm>
            <a:off x="7374194" y="3132405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Protocole</a:t>
            </a:r>
            <a:endParaRPr lang="fr-BE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2F397C7-1773-142F-AF7C-D87CE7A5E8DB}"/>
              </a:ext>
            </a:extLst>
          </p:cNvPr>
          <p:cNvSpPr txBox="1"/>
          <p:nvPr/>
        </p:nvSpPr>
        <p:spPr>
          <a:xfrm>
            <a:off x="5486400" y="3795252"/>
            <a:ext cx="2379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Où afficher la réponse</a:t>
            </a:r>
            <a:endParaRPr lang="fr-BE" dirty="0"/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4F612BCB-0FC9-4917-1BBC-707083A93CDD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4050890" y="3429000"/>
            <a:ext cx="1435510" cy="550918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 : en angle 32">
            <a:extLst>
              <a:ext uri="{FF2B5EF4-FFF2-40B4-BE49-F238E27FC236}">
                <a16:creationId xmlns:a16="http://schemas.microsoft.com/office/drawing/2014/main" id="{69FD87E7-DC72-E1F8-F4F3-D6185FB9F5B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48814" y="4006648"/>
            <a:ext cx="914396" cy="216306"/>
          </a:xfrm>
          <a:prstGeom prst="bentConnector3">
            <a:avLst>
              <a:gd name="adj1" fmla="val 99463"/>
            </a:avLst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25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C86AE-6267-FB36-BC6E-E9C817ECF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BDBC13-715D-DA87-BE00-1B129A2CB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8CBBAE-2CC3-2954-137E-F33C19F49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Section d’un formulaire: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fieldset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</a:t>
            </a:r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pPr lvl="1"/>
            <a:r>
              <a:rPr lang="fr-BE" dirty="0"/>
              <a:t>La balise 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legend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 </a:t>
            </a:r>
            <a:r>
              <a:rPr lang="fr-BE" dirty="0"/>
              <a:t>permet d’ajouter </a:t>
            </a:r>
            <a:br>
              <a:rPr lang="fr-BE" dirty="0"/>
            </a:br>
            <a:r>
              <a:rPr lang="fr-BE" dirty="0"/>
              <a:t>un titre à une section de formulaire</a:t>
            </a:r>
          </a:p>
          <a:p>
            <a:endParaRPr lang="fr-BE" dirty="0"/>
          </a:p>
          <a:p>
            <a:endParaRPr lang="fr-BE" dirty="0"/>
          </a:p>
        </p:txBody>
      </p:sp>
      <p:pic>
        <p:nvPicPr>
          <p:cNvPr id="5" name="Image 4" descr="Une image contenant texte, Polic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077FB137-E37C-47EC-CF47-55A4DD342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976" y="2374024"/>
            <a:ext cx="3467978" cy="2896065"/>
          </a:xfrm>
          <a:prstGeom prst="rect">
            <a:avLst/>
          </a:prstGeom>
        </p:spPr>
      </p:pic>
      <p:pic>
        <p:nvPicPr>
          <p:cNvPr id="7" name="Image 6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FEAEA646-2AD7-0684-7E5D-C6F8A16E1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582" y="1238641"/>
            <a:ext cx="4716218" cy="533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22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0E999-F243-7A0D-AC6E-E4ACC570C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C8DE3-4A78-75D9-D04F-E26D9BF4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FF30A8-7934-3D2C-0BC0-81EAADD0C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/>
              <a:t>Déclencheur de soumission (envoi de données)</a:t>
            </a:r>
          </a:p>
          <a:p>
            <a:pPr lvl="1"/>
            <a:r>
              <a:rPr lang="fr-BE" dirty="0"/>
              <a:t>Via &lt;input&gt; :</a:t>
            </a:r>
          </a:p>
          <a:p>
            <a:pPr lvl="2"/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&lt;input type=« 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submit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/&gt;</a:t>
            </a:r>
          </a:p>
          <a:p>
            <a:pPr lvl="2"/>
            <a:r>
              <a:rPr lang="fr-BE" dirty="0"/>
              <a:t>On peut modifier le texte affiché en utilisant l’attribut « value »</a:t>
            </a:r>
          </a:p>
          <a:p>
            <a:pPr lvl="1"/>
            <a:r>
              <a:rPr lang="fr-BE" dirty="0"/>
              <a:t>Via &lt;</a:t>
            </a:r>
            <a:r>
              <a:rPr lang="fr-BE" dirty="0" err="1"/>
              <a:t>button</a:t>
            </a:r>
            <a:r>
              <a:rPr lang="fr-BE" dirty="0"/>
              <a:t>&gt; :</a:t>
            </a:r>
          </a:p>
          <a:p>
            <a:pPr lvl="2"/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button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type=« 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submit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»&gt; Go !&lt;/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button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</a:t>
            </a:r>
          </a:p>
          <a:p>
            <a:pPr lvl="2"/>
            <a:r>
              <a:rPr lang="fr-BE" dirty="0"/>
              <a:t>Si le bouton ne se trouve pas dans une balise &lt;</a:t>
            </a:r>
            <a:r>
              <a:rPr lang="fr-BE" dirty="0" err="1"/>
              <a:t>form</a:t>
            </a:r>
            <a:r>
              <a:rPr lang="fr-BE" dirty="0"/>
              <a:t>&gt;, on peut le lier à un à un formulaire via l’attribut </a:t>
            </a:r>
            <a:r>
              <a:rPr lang="fr-BE" dirty="0" err="1"/>
              <a:t>form</a:t>
            </a:r>
            <a:r>
              <a:rPr lang="fr-BE" dirty="0"/>
              <a:t>=« </a:t>
            </a:r>
            <a:r>
              <a:rPr lang="fr-BE" dirty="0" err="1"/>
              <a:t>id_formulaire</a:t>
            </a:r>
            <a:r>
              <a:rPr lang="fr-BE" dirty="0"/>
              <a:t> ».</a:t>
            </a:r>
          </a:p>
          <a:p>
            <a:pPr lvl="1"/>
            <a:r>
              <a:rPr lang="fr-BE" dirty="0"/>
              <a:t>Remarques</a:t>
            </a:r>
          </a:p>
          <a:p>
            <a:pPr lvl="2"/>
            <a:r>
              <a:rPr lang="fr-BE" dirty="0"/>
              <a:t>Un même formulaire peut avoir plusieurs boutons de soumission (méthodes différentes, adresses différentes ou valeurs différentes).</a:t>
            </a:r>
            <a:br>
              <a:rPr lang="fr-BE" dirty="0"/>
            </a:br>
            <a:r>
              <a:rPr lang="fr-BE" dirty="0"/>
              <a:t>Ex : « envoyer le mail », « mettre en brouillon ».</a:t>
            </a:r>
          </a:p>
          <a:p>
            <a:pPr lvl="2"/>
            <a:r>
              <a:rPr lang="fr-BE" dirty="0"/>
              <a:t>Déclencheur de remise à zéros : utiliser « 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reset</a:t>
            </a:r>
            <a:r>
              <a:rPr lang="fr-BE" dirty="0"/>
              <a:t> » au lieu de « </a:t>
            </a:r>
            <a:r>
              <a:rPr lang="fr-BE" dirty="0" err="1"/>
              <a:t>submit</a:t>
            </a:r>
            <a:r>
              <a:rPr lang="fr-BE" dirty="0"/>
              <a:t> »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09806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AD45B5-E5D4-E9C7-2950-DAD4DB50F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D38EAF-6FF0-2F31-F7F0-51C564DB8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6128"/>
            <a:ext cx="10515600" cy="4351338"/>
          </a:xfrm>
        </p:spPr>
        <p:txBody>
          <a:bodyPr/>
          <a:lstStyle/>
          <a:p>
            <a:r>
              <a:rPr lang="fr-FR" dirty="0"/>
              <a:t>Champs d’un formulaire</a:t>
            </a:r>
          </a:p>
          <a:p>
            <a:pPr lvl="1"/>
            <a:r>
              <a:rPr lang="fr-FR" dirty="0"/>
              <a:t>À l’intérieur du formulaire</a:t>
            </a:r>
          </a:p>
          <a:p>
            <a:pPr lvl="2"/>
            <a:r>
              <a:rPr lang="fr-FR" dirty="0"/>
              <a:t>Les champs utilisent les balises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&lt;input&gt;</a:t>
            </a:r>
            <a:r>
              <a:rPr lang="fr-FR" dirty="0"/>
              <a:t>,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textarea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</a:t>
            </a:r>
            <a:r>
              <a:rPr lang="fr-FR" dirty="0"/>
              <a:t> et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&lt;select&gt;</a:t>
            </a:r>
          </a:p>
          <a:p>
            <a:pPr lvl="2"/>
            <a:r>
              <a:rPr lang="fr-FR" dirty="0"/>
              <a:t>La plupart des champs sont accompagnés d’une description &lt;label&gt; qu’on lie en utilisant l’attribut « for » et l’identifiant de champ :</a:t>
            </a:r>
            <a:br>
              <a:rPr lang="fr-FR" dirty="0"/>
            </a:b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&lt;label for=« nom »&gt; Nom : &lt;/label&gt;</a:t>
            </a:r>
            <a:b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&lt;input type=« 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text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id=« nom » /&gt;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Pourquoi lier cette description (étiquette) à un champ ?</a:t>
            </a:r>
          </a:p>
          <a:p>
            <a:pPr lvl="2"/>
            <a:r>
              <a:rPr lang="fr-FR" dirty="0"/>
              <a:t>En cas de clic sur l’étiquette, le champ est activé.</a:t>
            </a:r>
          </a:p>
          <a:p>
            <a:pPr lvl="2"/>
            <a:r>
              <a:rPr lang="fr-FR" dirty="0"/>
              <a:t>Pour l’inclusion numérique, permet de déterminer quel texte lire en cas de clic sur le champ.</a:t>
            </a:r>
          </a:p>
          <a:p>
            <a:pPr lvl="1"/>
            <a:endParaRPr lang="fr-BE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9AEBD79-7A9C-AB27-10E9-01515906D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30" y="3553557"/>
            <a:ext cx="2654218" cy="67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35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E4C4B5-BA10-DC35-972C-6D2F74A87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51B235-9B9E-7E0C-7624-8A10FF84F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Champs d’un formulaire</a:t>
            </a:r>
          </a:p>
          <a:p>
            <a:pPr lvl="1"/>
            <a:r>
              <a:rPr lang="fr-BE" dirty="0"/>
              <a:t>Généralités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CEF98AA4-7AE3-1D30-C338-3E89505B2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130872"/>
              </p:ext>
            </p:extLst>
          </p:nvPr>
        </p:nvGraphicFramePr>
        <p:xfrm>
          <a:off x="2032000" y="2686118"/>
          <a:ext cx="8128000" cy="4043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51510">
                  <a:extLst>
                    <a:ext uri="{9D8B030D-6E8A-4147-A177-3AD203B41FA5}">
                      <a16:colId xmlns:a16="http://schemas.microsoft.com/office/drawing/2014/main" val="1328503776"/>
                    </a:ext>
                  </a:extLst>
                </a:gridCol>
                <a:gridCol w="5676490">
                  <a:extLst>
                    <a:ext uri="{9D8B030D-6E8A-4147-A177-3AD203B41FA5}">
                      <a16:colId xmlns:a16="http://schemas.microsoft.com/office/drawing/2014/main" val="1246401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Attribut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Signification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494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Id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Identificateur local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179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Name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 de la propriété associée à la valeur du champ (souvent identique à </a:t>
                      </a:r>
                      <a:r>
                        <a:rPr lang="fr-FR" dirty="0" err="1"/>
                        <a:t>l’id</a:t>
                      </a:r>
                      <a:r>
                        <a:rPr lang="fr-FR" dirty="0"/>
                        <a:t>)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418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Value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Valeur initiale (par défaut)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070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Autofocus (booléen)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Indique que le champ reçoit le focus dès le chargement de la page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698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Disabled</a:t>
                      </a:r>
                      <a:r>
                        <a:rPr lang="fr-FR" dirty="0"/>
                        <a:t> (booléen)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Indique que le champ est inactif/désactivé (grisé). L’information lié au champ ne sera pas transférée.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345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Placeholder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Texte à afficher avant que l’utilisateur ne clique sur le champ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409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Readonly</a:t>
                      </a:r>
                      <a:r>
                        <a:rPr lang="fr-FR" dirty="0"/>
                        <a:t> (booléen)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Indique que la valeur du champ ne peut être modifiée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572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53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5A3359-BD1C-3808-859D-953E4CD4A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BA5ECC-7B49-64D7-1F34-A66DC5F70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Champ textuel simple :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&lt;input type=« 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text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/&gt;</a:t>
            </a:r>
          </a:p>
          <a:p>
            <a:pPr lvl="1"/>
            <a:r>
              <a:rPr lang="fr-FR" dirty="0"/>
              <a:t>Attribut size : taille de la zone affichée (en nb de caractères)</a:t>
            </a:r>
          </a:p>
          <a:p>
            <a:pPr lvl="1"/>
            <a:r>
              <a:rPr lang="fr-FR" dirty="0"/>
              <a:t>Attribut </a:t>
            </a:r>
            <a:r>
              <a:rPr lang="fr-FR" dirty="0" err="1"/>
              <a:t>maxlength</a:t>
            </a:r>
            <a:r>
              <a:rPr lang="fr-FR" dirty="0"/>
              <a:t> : taille maximale (en nb de caractères)</a:t>
            </a:r>
          </a:p>
          <a:p>
            <a:pPr lvl="1"/>
            <a:r>
              <a:rPr lang="fr-FR" dirty="0"/>
              <a:t>Autres types similaires :</a:t>
            </a:r>
          </a:p>
          <a:p>
            <a:pPr lvl="2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Email</a:t>
            </a:r>
            <a:r>
              <a:rPr lang="fr-FR" dirty="0"/>
              <a:t> : pour une adresse mail</a:t>
            </a:r>
          </a:p>
          <a:p>
            <a:pPr lvl="2"/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Password</a:t>
            </a:r>
            <a:r>
              <a:rPr lang="fr-FR" dirty="0"/>
              <a:t> : pour un mot de passe (affiché caché ********)</a:t>
            </a:r>
          </a:p>
          <a:p>
            <a:pPr lvl="2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url</a:t>
            </a:r>
            <a:r>
              <a:rPr lang="fr-FR" dirty="0"/>
              <a:t> : pour une url</a:t>
            </a:r>
          </a:p>
          <a:p>
            <a:pPr lvl="1"/>
            <a:r>
              <a:rPr lang="fr-FR" dirty="0"/>
              <a:t>Ex :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&lt;input type=« 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text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name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=« 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prenom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/&gt;</a:t>
            </a:r>
          </a:p>
          <a:p>
            <a:r>
              <a:rPr lang="fr-FR" dirty="0"/>
              <a:t>Bloc de texte :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textarea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 </a:t>
            </a:r>
            <a:r>
              <a:rPr lang="fr-FR" dirty="0"/>
              <a:t>Texte initial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&lt;/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textarea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</a:t>
            </a:r>
          </a:p>
          <a:p>
            <a:pPr lvl="1"/>
            <a:r>
              <a:rPr lang="fr-FR" dirty="0"/>
              <a:t>Attributs cols et </a:t>
            </a:r>
            <a:r>
              <a:rPr lang="fr-FR" dirty="0" err="1"/>
              <a:t>rows</a:t>
            </a:r>
            <a:r>
              <a:rPr lang="fr-FR" dirty="0"/>
              <a:t> : nb de caractères par ligne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5197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BAB950-75F4-98EA-AD96-78A211DBF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42619C-0D03-5996-8278-08F7495B8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Champ numérique simple :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&lt;input type=« 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number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/&gt;</a:t>
            </a:r>
          </a:p>
          <a:p>
            <a:pPr lvl="1"/>
            <a:r>
              <a:rPr lang="fr-FR" dirty="0"/>
              <a:t>Attributs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min</a:t>
            </a:r>
            <a:r>
              <a:rPr lang="fr-FR" dirty="0"/>
              <a:t> et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max</a:t>
            </a:r>
            <a:r>
              <a:rPr lang="fr-FR" dirty="0"/>
              <a:t> : valeur minimale, valeur maximale</a:t>
            </a:r>
          </a:p>
          <a:p>
            <a:pPr lvl="1"/>
            <a:r>
              <a:rPr lang="fr-FR" dirty="0"/>
              <a:t>Attribut 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step</a:t>
            </a:r>
            <a:r>
              <a:rPr lang="fr-FR" dirty="0"/>
              <a:t> : pas d’incrémentation / de </a:t>
            </a:r>
            <a:r>
              <a:rPr lang="fr-FR" dirty="0" err="1"/>
              <a:t>désincrémentation</a:t>
            </a:r>
            <a:endParaRPr lang="fr-FR" dirty="0"/>
          </a:p>
          <a:p>
            <a:pPr lvl="2"/>
            <a:r>
              <a:rPr lang="fr-FR" dirty="0"/>
              <a:t>Ex :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&lt;input type=« 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number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min=« 16 » max=« 99 » value=« 18 » 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namge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=« 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age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id=« 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age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/&gt;</a:t>
            </a:r>
          </a:p>
          <a:p>
            <a:r>
              <a:rPr lang="fr-FR" dirty="0"/>
              <a:t>Champ caché : </a:t>
            </a:r>
            <a:endParaRPr lang="fr-F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fr-FR" dirty="0"/>
              <a:t>Permet d’envoyer une information sans que celle-ci n’apparaisse sur le formulaire (par exemple la date et l’heure actuelles)</a:t>
            </a:r>
          </a:p>
          <a:p>
            <a:pPr lvl="1"/>
            <a:r>
              <a:rPr lang="fr-FR" dirty="0"/>
              <a:t>La valeur est déterminée par l’attribut value (qui peut être modifié par javascript)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7710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93BE09-8C04-E032-6029-21E6C9BB2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C3BD46-832B-B7AA-FB32-346DC1E5A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793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Cases à cocher : &lt;input type=« </a:t>
            </a:r>
            <a:r>
              <a:rPr lang="fr-FR" dirty="0" err="1"/>
              <a:t>checkbox</a:t>
            </a:r>
            <a:r>
              <a:rPr lang="fr-FR" dirty="0"/>
              <a:t> » /&gt;</a:t>
            </a:r>
          </a:p>
          <a:p>
            <a:pPr lvl="1"/>
            <a:r>
              <a:rPr lang="fr-FR" dirty="0"/>
              <a:t>Attribut </a:t>
            </a:r>
            <a:r>
              <a:rPr lang="fr-FR" dirty="0" err="1"/>
              <a:t>checked</a:t>
            </a:r>
            <a:r>
              <a:rPr lang="fr-FR" dirty="0"/>
              <a:t> (booléen) : indique si la case est cochée</a:t>
            </a:r>
          </a:p>
          <a:p>
            <a:pPr lvl="1"/>
            <a:r>
              <a:rPr lang="fr-FR" dirty="0"/>
              <a:t>Ex : </a:t>
            </a:r>
            <a:br>
              <a:rPr lang="fr-FR" dirty="0"/>
            </a:br>
            <a:r>
              <a:rPr lang="fr-FR" dirty="0"/>
              <a:t>	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&lt;input type=« 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checkbox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name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=« 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nd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id=« 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nd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/&gt;</a:t>
            </a:r>
            <a:b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&lt;label for=« 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nd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»&gt;Anglais&lt;/label&gt;</a:t>
            </a:r>
            <a:b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&lt;label for=« 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nd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»&gt;Néerlandais&lt;/label&gt;</a:t>
            </a:r>
            <a:b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&lt;label for=« 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nd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»&gt;Allemand&lt;/label&gt;</a:t>
            </a:r>
          </a:p>
          <a:p>
            <a:r>
              <a:rPr lang="fr-BE" dirty="0"/>
              <a:t>Liste de choix : &lt;input type=« radio » /&gt;</a:t>
            </a:r>
          </a:p>
          <a:p>
            <a:pPr lvl="1"/>
            <a:r>
              <a:rPr lang="fr-BE" dirty="0"/>
              <a:t>Tous les champs d’un même groupe ont le même attribut </a:t>
            </a:r>
            <a:r>
              <a:rPr lang="fr-BE" dirty="0" err="1"/>
              <a:t>name</a:t>
            </a:r>
            <a:r>
              <a:rPr lang="fr-BE" dirty="0"/>
              <a:t>.</a:t>
            </a:r>
          </a:p>
          <a:p>
            <a:pPr lvl="1"/>
            <a:r>
              <a:rPr lang="fr-BE" dirty="0"/>
              <a:t>Ex : </a:t>
            </a:r>
            <a:br>
              <a:rPr lang="fr-BE" dirty="0"/>
            </a:br>
            <a:r>
              <a:rPr lang="fr-BE" dirty="0"/>
              <a:t>	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&lt;input type=« radio »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name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=« 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anne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id=« an1 » value=« 1 »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checked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/&gt;</a:t>
            </a:r>
            <a:b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&lt;label for=« an1 »&gt;1</a:t>
            </a:r>
            <a:r>
              <a:rPr lang="fr-FR" baseline="30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er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&lt;/label&gt;</a:t>
            </a:r>
            <a:b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&lt;input type=« radio » 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name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=« </a:t>
            </a:r>
            <a:r>
              <a:rPr lang="fr-BE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anne</a:t>
            </a: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» id=« an2 » value=« 2 » /&gt;</a:t>
            </a:r>
            <a:b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&lt;label for=« an2 »&gt;2</a:t>
            </a:r>
            <a:r>
              <a:rPr lang="fr-FR" baseline="30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&lt;/label&gt;</a:t>
            </a:r>
            <a:endParaRPr lang="fr-BE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Image 4" descr="Une image contenant texte, Police&#10;&#10;Le contenu généré par l’IA peut être incorrect.">
            <a:extLst>
              <a:ext uri="{FF2B5EF4-FFF2-40B4-BE49-F238E27FC236}">
                <a16:creationId xmlns:a16="http://schemas.microsoft.com/office/drawing/2014/main" id="{C2F8F849-45DF-F28E-BA3B-A602CEE31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552" y="3028588"/>
            <a:ext cx="2114938" cy="142151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A1BE51A-5CD5-3092-4F5B-D4CBBF38F3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29" y="5788004"/>
            <a:ext cx="3613661" cy="50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15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ECB46D-EDFF-BA8A-861A-1B516BA39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558B8E-AFBE-6363-F5F1-0189FF9DB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Liste déroulante : &lt;select&gt;…&lt;/select&gt;</a:t>
            </a:r>
          </a:p>
          <a:p>
            <a:pPr lvl="1"/>
            <a:r>
              <a:rPr lang="fr-FR" dirty="0"/>
              <a:t>Attribut multiple (booléen) : autorise un choix multiple</a:t>
            </a:r>
          </a:p>
          <a:p>
            <a:pPr lvl="1"/>
            <a:r>
              <a:rPr lang="fr-FR" dirty="0"/>
              <a:t>Ex : </a:t>
            </a:r>
            <a:br>
              <a:rPr lang="fr-FR" dirty="0"/>
            </a:b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&lt;select 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name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="sec" id="section"&gt;</a:t>
            </a:r>
            <a:b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&lt;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optgroup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label="Département économique"&gt;</a:t>
            </a:r>
            <a:b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	&lt;option value="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cp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"&gt;Comptabilité&lt;/option&gt;</a:t>
            </a:r>
            <a:b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	&lt;option value="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ig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"&gt;Informatique de gestion&lt;/option&gt;</a:t>
            </a:r>
            <a:b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&lt;/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optgroup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</a:t>
            </a:r>
            <a:b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&lt;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optgroup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label="Département technique"&gt;</a:t>
            </a:r>
            <a:b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	&lt;option value="au"&gt;Automatique&lt;/option&gt;</a:t>
            </a:r>
            <a:b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	&lt;option value="ti"&gt;Technique de l'informatique&lt;/option&gt;</a:t>
            </a:r>
            <a:b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&lt;/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optgroup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</a:t>
            </a:r>
            <a:b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&lt;/select&gt;</a:t>
            </a:r>
          </a:p>
          <a:p>
            <a:pPr lvl="1"/>
            <a:endParaRPr lang="fr-FR" dirty="0"/>
          </a:p>
          <a:p>
            <a:pPr lvl="1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&lt;option&gt; </a:t>
            </a:r>
            <a:r>
              <a:rPr lang="fr-FR" dirty="0"/>
              <a:t>pour les choix,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&lt;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optgroup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 </a:t>
            </a:r>
            <a:r>
              <a:rPr lang="fr-FR" dirty="0"/>
              <a:t>pour les sous-titres</a:t>
            </a:r>
            <a:endParaRPr lang="fr-BE" dirty="0"/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12C2015-B5CE-DF81-4F8D-9B9C0FE05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678" y="4622615"/>
            <a:ext cx="3592513" cy="187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90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B77AB4-D707-6862-B68E-8CEA7775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1A8CD9-8A12-0257-27DC-8B5B10C1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 dirty="0"/>
          </a:p>
        </p:txBody>
      </p:sp>
      <p:pic>
        <p:nvPicPr>
          <p:cNvPr id="5" name="Image 4" descr="Une image contenant texte, capture d’écran, reçu, nombre&#10;&#10;Le contenu généré par l’IA peut être incorrect.">
            <a:extLst>
              <a:ext uri="{FF2B5EF4-FFF2-40B4-BE49-F238E27FC236}">
                <a16:creationId xmlns:a16="http://schemas.microsoft.com/office/drawing/2014/main" id="{8E843BA8-B6DC-BAD4-7ACE-4A229F8802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93" y="1433513"/>
            <a:ext cx="4461710" cy="5332806"/>
          </a:xfrm>
          <a:prstGeom prst="rect">
            <a:avLst/>
          </a:prstGeom>
        </p:spPr>
      </p:pic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44D099D-718C-920C-E785-501183DB74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999" y="1433513"/>
            <a:ext cx="4276447" cy="542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9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89E4D6-E564-A638-89A0-DE0B57BE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2232EE-5427-C958-30B9-33FD7F5CB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point de vue CSS</a:t>
            </a:r>
          </a:p>
          <a:p>
            <a:pPr lvl="1"/>
            <a:r>
              <a:rPr lang="fr-FR" dirty="0"/>
              <a:t>On peut construire des styles en s’appuyant sur les balises des formulaires</a:t>
            </a:r>
          </a:p>
          <a:p>
            <a:pPr lvl="1"/>
            <a:r>
              <a:rPr lang="fr-FR" dirty="0"/>
              <a:t>Mais il existe également des pseudos-classes CSS:</a:t>
            </a:r>
          </a:p>
          <a:p>
            <a:pPr lvl="2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disabled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FR" dirty="0"/>
              <a:t>≡ les éléments désactivés</a:t>
            </a:r>
          </a:p>
          <a:p>
            <a:pPr lvl="2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enabled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FR" dirty="0"/>
              <a:t>≡ les éléments activés</a:t>
            </a:r>
          </a:p>
          <a:p>
            <a:pPr lvl="2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checked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FR" dirty="0"/>
              <a:t>≡ les éléments cochés</a:t>
            </a:r>
          </a:p>
          <a:p>
            <a:pPr lvl="2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:focus </a:t>
            </a:r>
            <a:r>
              <a:rPr lang="fr-FR" dirty="0"/>
              <a:t>≡ l’élément qui a le focus</a:t>
            </a:r>
          </a:p>
          <a:p>
            <a:pPr lvl="2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read-only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FR" dirty="0"/>
              <a:t>≡ les éléments en lecture seule</a:t>
            </a:r>
          </a:p>
          <a:p>
            <a:pPr lvl="2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read-write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FR" dirty="0"/>
              <a:t>≡ les éléments modifiables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05302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0F35E8-F222-7F0B-ACC9-3162A2D87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30FF68-687B-52C3-CC26-833EB9AB4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Validation des données</a:t>
            </a:r>
          </a:p>
          <a:p>
            <a:pPr lvl="1"/>
            <a:r>
              <a:rPr lang="fr-FR" dirty="0"/>
              <a:t>Avant HTML5, la validation devait être gérée via Javascript</a:t>
            </a:r>
          </a:p>
          <a:p>
            <a:pPr lvl="1"/>
            <a:r>
              <a:rPr lang="fr-FR" dirty="0"/>
              <a:t>Avec HTML5, des options de validation standard ont été ajoutés :</a:t>
            </a:r>
          </a:p>
          <a:p>
            <a:pPr lvl="2"/>
            <a:r>
              <a:rPr lang="fr-FR" dirty="0"/>
              <a:t>Attribut 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required</a:t>
            </a:r>
            <a:r>
              <a:rPr lang="fr-FR" dirty="0"/>
              <a:t> (booléen) : indique que le champ doit avoir une valeur</a:t>
            </a:r>
          </a:p>
          <a:p>
            <a:pPr lvl="2"/>
            <a:r>
              <a:rPr lang="fr-FR" dirty="0"/>
              <a:t>Attributs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min</a:t>
            </a:r>
            <a:r>
              <a:rPr lang="fr-FR" dirty="0"/>
              <a:t>,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max</a:t>
            </a:r>
            <a:r>
              <a:rPr lang="fr-FR" dirty="0"/>
              <a:t> : précisent des bornes pour un champ numérique</a:t>
            </a:r>
          </a:p>
          <a:p>
            <a:pPr lvl="2"/>
            <a:r>
              <a:rPr lang="fr-FR" dirty="0"/>
              <a:t>Attribut pattern : indique un format (expression régulière ≡ regex) que la valeur doit respecter</a:t>
            </a:r>
          </a:p>
          <a:p>
            <a:pPr lvl="2"/>
            <a:r>
              <a:rPr lang="fr-FR" dirty="0"/>
              <a:t>Les valeurs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type=« email » </a:t>
            </a:r>
            <a:r>
              <a:rPr lang="fr-FR" dirty="0"/>
              <a:t>et 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type=« url » </a:t>
            </a:r>
            <a:r>
              <a:rPr lang="fr-FR" dirty="0"/>
              <a:t>imposent également un certain format de réponse</a:t>
            </a:r>
          </a:p>
          <a:p>
            <a:pPr lvl="1"/>
            <a:r>
              <a:rPr lang="fr-FR" dirty="0"/>
              <a:t>Lors d’une tentative de soumission : validation des données automatique</a:t>
            </a:r>
          </a:p>
          <a:p>
            <a:pPr lvl="2"/>
            <a:r>
              <a:rPr lang="fr-FR" dirty="0"/>
              <a:t>Blocage en cas de non-validation</a:t>
            </a:r>
          </a:p>
          <a:p>
            <a:pPr lvl="2"/>
            <a:r>
              <a:rPr lang="fr-FR" dirty="0"/>
              <a:t>Attribut 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novalidate</a:t>
            </a:r>
            <a:r>
              <a:rPr lang="fr-FR" dirty="0"/>
              <a:t> sur &lt;</a:t>
            </a:r>
            <a:r>
              <a:rPr lang="fr-FR" dirty="0" err="1"/>
              <a:t>form</a:t>
            </a:r>
            <a:r>
              <a:rPr lang="fr-FR" dirty="0"/>
              <a:t>&gt; ou 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formnovalidate</a:t>
            </a:r>
            <a:r>
              <a:rPr lang="fr-FR" dirty="0"/>
              <a:t> sur &lt;</a:t>
            </a:r>
            <a:r>
              <a:rPr lang="fr-FR" dirty="0" err="1"/>
              <a:t>submit</a:t>
            </a:r>
            <a:r>
              <a:rPr lang="fr-FR" dirty="0"/>
              <a:t>&gt; permet d’ignorer la validation du formulaire</a:t>
            </a:r>
          </a:p>
          <a:p>
            <a:pPr lvl="2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07446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9F517-ED21-429B-DB9F-2A150AF2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C8397B-2504-9593-B4CD-DCBC7172D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Validation des données : exemples</a:t>
            </a:r>
          </a:p>
          <a:p>
            <a:pPr lvl="1"/>
            <a:r>
              <a:rPr lang="en-GB" dirty="0"/>
              <a:t>Nom </a:t>
            </a:r>
            <a:r>
              <a:rPr lang="en-GB" dirty="0" err="1"/>
              <a:t>requis</a:t>
            </a:r>
            <a:r>
              <a:rPr lang="en-GB" dirty="0"/>
              <a:t> :</a:t>
            </a:r>
            <a:br>
              <a:rPr lang="en-GB" dirty="0"/>
            </a:br>
            <a:r>
              <a:rPr lang="en-GB" dirty="0"/>
              <a:t>	&lt;input type="text" name="nom" id="nom" </a:t>
            </a:r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required</a:t>
            </a:r>
            <a:r>
              <a:rPr lang="en-GB" dirty="0"/>
              <a:t> /&gt;</a:t>
            </a:r>
          </a:p>
          <a:p>
            <a:pPr lvl="1"/>
            <a:r>
              <a:rPr lang="fr-FR" altLang="fr-FR" dirty="0"/>
              <a:t>Âge entre 1</a:t>
            </a:r>
            <a:r>
              <a:rPr lang="en-GB" altLang="fr-FR" dirty="0" err="1"/>
              <a:t>Âge</a:t>
            </a:r>
            <a:r>
              <a:rPr lang="en-GB" altLang="fr-FR" dirty="0"/>
              <a:t> entre 16 et 99 : </a:t>
            </a:r>
            <a:br>
              <a:rPr lang="en-GB" altLang="fr-FR" dirty="0"/>
            </a:br>
            <a:r>
              <a:rPr lang="en-GB" altLang="fr-FR" dirty="0"/>
              <a:t>	&lt;input type="number" </a:t>
            </a:r>
            <a:r>
              <a:rPr lang="en-GB" alt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min="16" max="99" </a:t>
            </a:r>
            <a:r>
              <a:rPr lang="en-GB" altLang="fr-FR" dirty="0"/>
              <a:t>value="18“ name="age" 			id="age" /&gt;</a:t>
            </a:r>
          </a:p>
          <a:p>
            <a:pPr lvl="1"/>
            <a:r>
              <a:rPr lang="fr-FR" altLang="fr-FR" dirty="0"/>
              <a:t>Date anniversaire requise et au format JJ/MM :</a:t>
            </a:r>
            <a:br>
              <a:rPr lang="fr-FR" altLang="fr-FR" dirty="0"/>
            </a:br>
            <a:r>
              <a:rPr lang="fr-FR" altLang="fr-FR" dirty="0"/>
              <a:t>	&lt;input type="</a:t>
            </a:r>
            <a:r>
              <a:rPr lang="fr-FR" altLang="fr-FR" dirty="0" err="1"/>
              <a:t>text</a:t>
            </a:r>
            <a:r>
              <a:rPr lang="fr-FR" altLang="fr-FR" dirty="0"/>
              <a:t>" </a:t>
            </a:r>
            <a:r>
              <a:rPr lang="fr-FR" altLang="fr-FR" dirty="0" err="1"/>
              <a:t>name</a:t>
            </a:r>
            <a:r>
              <a:rPr lang="fr-FR" altLang="fr-FR" dirty="0"/>
              <a:t>="anniv" id="anniv" </a:t>
            </a:r>
            <a:r>
              <a:rPr lang="fr-FR" altLang="fr-FR" dirty="0" err="1"/>
              <a:t>required</a:t>
            </a:r>
            <a:r>
              <a:rPr lang="fr-FR" altLang="fr-FR" dirty="0"/>
              <a:t> </a:t>
            </a:r>
            <a:br>
              <a:rPr lang="fr-FR" altLang="fr-FR" dirty="0"/>
            </a:br>
            <a:r>
              <a:rPr lang="fr-FR" altLang="fr-FR" dirty="0"/>
              <a:t>		</a:t>
            </a:r>
            <a:r>
              <a:rPr lang="fr-FR" alt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pattern="[0123][0-9]/[01][0-9]" </a:t>
            </a:r>
            <a:r>
              <a:rPr lang="fr-FR" altLang="fr-FR" dirty="0"/>
              <a:t>/&gt;</a:t>
            </a:r>
          </a:p>
          <a:p>
            <a:pPr lvl="1"/>
            <a:endParaRPr lang="fr-FR" altLang="fr-FR" dirty="0"/>
          </a:p>
          <a:p>
            <a:pPr lvl="1"/>
            <a:endParaRPr lang="fr-FR" dirty="0"/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8023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4FBB1A-734F-567B-A107-6625DF866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Formulaires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6F00D2-DAF2-06CE-F8DE-548B0F4BB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Pseudo-classes concernées</a:t>
            </a:r>
          </a:p>
          <a:p>
            <a:pPr lvl="1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valid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FR" dirty="0"/>
              <a:t>≡ les éléments valides</a:t>
            </a:r>
          </a:p>
          <a:p>
            <a:pPr lvl="1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invalid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FR" dirty="0"/>
              <a:t>≡ les éléments non valides</a:t>
            </a:r>
          </a:p>
          <a:p>
            <a:pPr lvl="1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required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FR" dirty="0"/>
              <a:t>≡ les éléments requis</a:t>
            </a:r>
          </a:p>
          <a:p>
            <a:pPr lvl="1"/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optional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FR" dirty="0"/>
              <a:t>≡ les éléments </a:t>
            </a:r>
            <a:r>
              <a:rPr lang="fr-FR" dirty="0" err="1"/>
              <a:t>otionnels</a:t>
            </a:r>
            <a:r>
              <a:rPr lang="fr-FR" dirty="0"/>
              <a:t>, non requis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Ex : </a:t>
            </a:r>
            <a:br>
              <a:rPr lang="fr-FR" dirty="0"/>
            </a:br>
            <a:r>
              <a:rPr lang="fr-FR" dirty="0"/>
              <a:t>	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input:invalid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{</a:t>
            </a:r>
            <a:b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	background-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color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 orange;</a:t>
            </a:r>
            <a:b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}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9509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42B670-89B4-515E-C498-13824D2CA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9C0BB2-F5C0-2834-A1BA-87E6A10BB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9531795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3324</Words>
  <Application>Microsoft Office PowerPoint</Application>
  <PresentationFormat>Grand écran</PresentationFormat>
  <Paragraphs>405</Paragraphs>
  <Slides>49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49</vt:i4>
      </vt:variant>
    </vt:vector>
  </HeadingPairs>
  <TitlesOfParts>
    <vt:vector size="54" baseType="lpstr">
      <vt:lpstr>Aptos</vt:lpstr>
      <vt:lpstr>Aptos Display</vt:lpstr>
      <vt:lpstr>Arial</vt:lpstr>
      <vt:lpstr>Wingdings</vt:lpstr>
      <vt:lpstr>Thème Office</vt:lpstr>
      <vt:lpstr>Module 1 – Programmation web Frontend</vt:lpstr>
      <vt:lpstr>Planning</vt:lpstr>
      <vt:lpstr>Chapitre 3</vt:lpstr>
      <vt:lpstr>Chapitre 3</vt:lpstr>
      <vt:lpstr>1.Rappel</vt:lpstr>
      <vt:lpstr>1.Rappel</vt:lpstr>
      <vt:lpstr>1.Rappel</vt:lpstr>
      <vt:lpstr>1.Rappel</vt:lpstr>
      <vt:lpstr>1.Rappel</vt:lpstr>
      <vt:lpstr>1.Rappel</vt:lpstr>
      <vt:lpstr>1. Rappel</vt:lpstr>
      <vt:lpstr>1. Rappel</vt:lpstr>
      <vt:lpstr>2. Arborescence</vt:lpstr>
      <vt:lpstr>2. Arborescence</vt:lpstr>
      <vt:lpstr>2. Arborescence</vt:lpstr>
      <vt:lpstr>2. Arborescence</vt:lpstr>
      <vt:lpstr>2. Arborescence</vt:lpstr>
      <vt:lpstr>2. Arborescence</vt:lpstr>
      <vt:lpstr>2. Arborescence</vt:lpstr>
      <vt:lpstr>2. Arborescence</vt:lpstr>
      <vt:lpstr>2.Arborescence </vt:lpstr>
      <vt:lpstr>2. Arborescence</vt:lpstr>
      <vt:lpstr>2. Arborescence</vt:lpstr>
      <vt:lpstr>2. Arborescence</vt:lpstr>
      <vt:lpstr>2. Arborescence</vt:lpstr>
      <vt:lpstr>2. Arborescence</vt:lpstr>
      <vt:lpstr>2. Arborescence</vt:lpstr>
      <vt:lpstr>3. Formulaires</vt:lpstr>
      <vt:lpstr>3. Formulaires</vt:lpstr>
      <vt:lpstr>3. Formulaires</vt:lpstr>
      <vt:lpstr>3. Formulaires</vt:lpstr>
      <vt:lpstr>3. Formulaires</vt:lpstr>
      <vt:lpstr>3. Formulaires</vt:lpstr>
      <vt:lpstr>3. Formulaires</vt:lpstr>
      <vt:lpstr>3. Formulaires</vt:lpstr>
      <vt:lpstr>3. Formulaires</vt:lpstr>
      <vt:lpstr>3. Formulaires</vt:lpstr>
      <vt:lpstr>3. Formulaires</vt:lpstr>
      <vt:lpstr>3. Formulaires</vt:lpstr>
      <vt:lpstr>3. Formulaires</vt:lpstr>
      <vt:lpstr>3. Formulaires</vt:lpstr>
      <vt:lpstr>3. Formulaires</vt:lpstr>
      <vt:lpstr>3. Formulaires</vt:lpstr>
      <vt:lpstr>3. Formulaires</vt:lpstr>
      <vt:lpstr>3. Formulaires</vt:lpstr>
      <vt:lpstr>3. Formulaires</vt:lpstr>
      <vt:lpstr>3. Formulaires</vt:lpstr>
      <vt:lpstr>3. Formulaires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joachim lejeune</dc:creator>
  <cp:lastModifiedBy>joachim lejeune</cp:lastModifiedBy>
  <cp:revision>34</cp:revision>
  <dcterms:created xsi:type="dcterms:W3CDTF">2025-10-28T14:22:14Z</dcterms:created>
  <dcterms:modified xsi:type="dcterms:W3CDTF">2025-11-19T21:12:52Z</dcterms:modified>
</cp:coreProperties>
</file>