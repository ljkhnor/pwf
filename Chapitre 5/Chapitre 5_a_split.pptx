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9" r:id="rId10"/>
    <p:sldId id="266" r:id="rId11"/>
    <p:sldId id="272" r:id="rId12"/>
    <p:sldId id="273" r:id="rId13"/>
    <p:sldId id="270" r:id="rId14"/>
    <p:sldId id="274" r:id="rId15"/>
    <p:sldId id="275" r:id="rId16"/>
    <p:sldId id="276" r:id="rId17"/>
    <p:sldId id="277" r:id="rId18"/>
    <p:sldId id="278" r:id="rId19"/>
    <p:sldId id="268" r:id="rId20"/>
    <p:sldId id="279" r:id="rId21"/>
    <p:sldId id="280" r:id="rId22"/>
    <p:sldId id="281" r:id="rId23"/>
    <p:sldId id="282" r:id="rId24"/>
    <p:sldId id="283" r:id="rId25"/>
    <p:sldId id="291" r:id="rId26"/>
    <p:sldId id="292" r:id="rId27"/>
    <p:sldId id="293" r:id="rId28"/>
    <p:sldId id="294" r:id="rId29"/>
    <p:sldId id="295" r:id="rId30"/>
    <p:sldId id="296" r:id="rId31"/>
    <p:sldId id="288" r:id="rId32"/>
    <p:sldId id="297" r:id="rId33"/>
    <p:sldId id="298" r:id="rId34"/>
    <p:sldId id="299" r:id="rId35"/>
    <p:sldId id="284" r:id="rId36"/>
    <p:sldId id="300" r:id="rId37"/>
    <p:sldId id="301" r:id="rId38"/>
    <p:sldId id="285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286" r:id="rId50"/>
    <p:sldId id="312" r:id="rId51"/>
    <p:sldId id="314" r:id="rId52"/>
    <p:sldId id="315" r:id="rId5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2760" autoAdjust="0"/>
  </p:normalViewPr>
  <p:slideViewPr>
    <p:cSldViewPr snapToGrid="0">
      <p:cViewPr varScale="1">
        <p:scale>
          <a:sx n="72" d="100"/>
          <a:sy n="72" d="100"/>
        </p:scale>
        <p:origin x="2034" y="294"/>
      </p:cViewPr>
      <p:guideLst/>
    </p:cSldViewPr>
  </p:slideViewPr>
  <p:outlineViewPr>
    <p:cViewPr>
      <p:scale>
        <a:sx n="33" d="100"/>
        <a:sy n="33" d="100"/>
      </p:scale>
      <p:origin x="0" y="-3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164D5-A7F0-41F0-A202-0416B9D6D796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9687F-E9E6-49DD-8811-901A0F2873E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04224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F(7) 	=&gt; 5	5</a:t>
            </a:r>
          </a:p>
          <a:p>
            <a:r>
              <a:rPr lang="fr-BE" dirty="0"/>
              <a:t>F(-3) 	=&gt; /	4</a:t>
            </a:r>
          </a:p>
          <a:p>
            <a:r>
              <a:rPr lang="fr-BE" dirty="0"/>
              <a:t>G(7)	=&gt; 5	4</a:t>
            </a:r>
          </a:p>
          <a:p>
            <a:r>
              <a:rPr lang="fr-BE" dirty="0"/>
              <a:t>G(-3)	=&gt; /	4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9687F-E9E6-49DD-8811-901A0F2873E8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5686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3320-2083-6DC8-DAEE-06605B23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1FCE660-D8B5-F658-5B39-3B122731E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C2216D0-C929-DA9F-58D1-C2652219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F(7) 	=&gt; 5	5</a:t>
            </a:r>
          </a:p>
          <a:p>
            <a:r>
              <a:rPr lang="fr-BE" dirty="0"/>
              <a:t>F(-3) 	=&gt; /	4</a:t>
            </a:r>
          </a:p>
          <a:p>
            <a:r>
              <a:rPr lang="fr-BE" dirty="0"/>
              <a:t>G(7)	=&gt; 5	4</a:t>
            </a:r>
          </a:p>
          <a:p>
            <a:r>
              <a:rPr lang="fr-BE" dirty="0"/>
              <a:t>G(-3)	=&gt; /	4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751286-5F9E-1CD4-171D-440D2F63A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9687F-E9E6-49DD-8811-901A0F2873E8}" type="slidenum">
              <a:rPr lang="fr-BE" smtClean="0"/>
              <a:t>32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30900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3737-8073-E78B-B32A-89AC6D3F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3EED106-AF08-450A-0CFE-FE36FFEE0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C28E6A0-F181-479C-7ADA-0F6685B7F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F(7) 	=&gt; 5	5</a:t>
            </a:r>
          </a:p>
          <a:p>
            <a:r>
              <a:rPr lang="fr-BE" dirty="0"/>
              <a:t>F(-3) 	=&gt; /	4</a:t>
            </a:r>
          </a:p>
          <a:p>
            <a:r>
              <a:rPr lang="fr-BE" dirty="0"/>
              <a:t>G(7)	=&gt; 5	4</a:t>
            </a:r>
          </a:p>
          <a:p>
            <a:r>
              <a:rPr lang="fr-BE" dirty="0"/>
              <a:t>G(-3)	=&gt; /	4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63F398-7701-E7B9-B8AD-90D11EBD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9687F-E9E6-49DD-8811-901A0F2873E8}" type="slidenum">
              <a:rPr lang="fr-BE" smtClean="0"/>
              <a:t>33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98530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CF73-A717-D648-AEAF-AA56FD54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D58E166-C3EB-F2C8-D692-D84FC516B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AB0E18-506E-62E4-377B-EC695509F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F(7) 	=&gt; 5	5</a:t>
            </a:r>
          </a:p>
          <a:p>
            <a:r>
              <a:rPr lang="fr-BE" dirty="0"/>
              <a:t>F(-3) 	=&gt; /	4</a:t>
            </a:r>
          </a:p>
          <a:p>
            <a:r>
              <a:rPr lang="fr-BE" dirty="0"/>
              <a:t>G(7)	=&gt; 5	4</a:t>
            </a:r>
          </a:p>
          <a:p>
            <a:r>
              <a:rPr lang="fr-BE" dirty="0"/>
              <a:t>G(-3)	=&gt; /	4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E14776-FE04-F8CC-CFB3-0FEF8450C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9687F-E9E6-49DD-8811-901A0F2873E8}" type="slidenum">
              <a:rPr lang="fr-BE" smtClean="0"/>
              <a:t>34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53652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Donc le || ne permet pas de faire une valeur par défaut si </a:t>
            </a:r>
            <a:r>
              <a:rPr lang="fr-FR" dirty="0" err="1"/>
              <a:t>nomChien</a:t>
            </a:r>
            <a:r>
              <a:rPr lang="fr-FR" dirty="0"/>
              <a:t> peut être </a:t>
            </a:r>
            <a:r>
              <a:rPr lang="fr-FR" dirty="0" err="1"/>
              <a:t>falsy</a:t>
            </a:r>
            <a:r>
              <a:rPr lang="fr-FR" dirty="0"/>
              <a:t> ex: </a:t>
            </a:r>
            <a:r>
              <a:rPr lang="fr-FR" dirty="0" err="1"/>
              <a:t>nbDoigts</a:t>
            </a:r>
            <a:r>
              <a:rPr lang="fr-FR" dirty="0"/>
              <a:t> = </a:t>
            </a:r>
            <a:r>
              <a:rPr lang="fr-FR" dirty="0" err="1"/>
              <a:t>nbDoigts</a:t>
            </a:r>
            <a:r>
              <a:rPr lang="fr-FR" dirty="0"/>
              <a:t> || 10;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9687F-E9E6-49DD-8811-901A0F2873E8}" type="slidenum">
              <a:rPr lang="fr-BE" smtClean="0"/>
              <a:t>51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96966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Explication: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dirty="0"/>
              <a:t>Si aucun objet popup n'existe, la condition s'évalue à </a:t>
            </a:r>
            <a:r>
              <a:rPr lang="fr-BE" dirty="0" err="1"/>
              <a:t>undefined</a:t>
            </a:r>
            <a:r>
              <a:rPr lang="fr-BE" dirty="0"/>
              <a:t> et donc à false ; le code n'est pas exécuté.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dirty="0"/>
              <a:t>Par contre, si popup existe, on teste alors le booléen </a:t>
            </a:r>
            <a:r>
              <a:rPr lang="fr-BE" dirty="0" err="1"/>
              <a:t>popup.visible</a:t>
            </a:r>
            <a:r>
              <a:rPr lang="fr-BE" dirty="0"/>
              <a:t> et, s'il est vrai, on exécute le code.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dirty="0"/>
              <a:t>Risque de plantage si if (</a:t>
            </a:r>
            <a:r>
              <a:rPr lang="fr-BE" dirty="0" err="1"/>
              <a:t>popup.visible</a:t>
            </a:r>
            <a:r>
              <a:rPr lang="fr-BE" dirty="0"/>
              <a:t>) …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9687F-E9E6-49DD-8811-901A0F2873E8}" type="slidenum">
              <a:rPr lang="fr-BE" smtClean="0"/>
              <a:t>52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7470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8443C-2959-283D-16B0-9E25B7861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7607B0C-199E-0334-D36B-CD00851CE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83C378-F3D9-1E32-F499-6A742720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250C04-3A72-2F57-834E-08635A51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F23BFF-AC11-9636-D6A3-8FC5ECF1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7430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B0601B-99F1-DDE2-656E-5FCB78690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2568C2-F93A-6E8E-0B73-444A0FF20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193761-0441-BEC0-70B5-030F7F86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44FF51-BDA5-90E0-9610-8F46BB8F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308988-0C79-8E77-D58F-33F0EBF2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363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EF333-8A09-9BF2-948B-FD7E277B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9D3BDD-F0D2-F9D5-0266-07D5CA948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D52ACB-7FDE-E4BB-10D4-94081B31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074B00-BE9A-2F10-8920-E9414F6C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EBE2D1-6403-55BF-C034-68E30C88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3274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8B3015-1F7C-DC06-0745-EC816116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D6EE52-56C7-7132-0531-F593FCDB6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733CF6-AAE2-3EB6-0E79-398E5A6A1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86769D-F6B1-389B-8A88-E4DBE5CB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6A8F0B-4460-91EB-332D-CDF22DA0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A6F84D-DBFF-F413-44E4-729DA2171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3802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2EB09B-F142-3B2A-A208-50242E47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59F35C-F7DC-B349-A18E-85D6ADC78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F39ED2-0583-79FC-D7D9-B27E34105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2E95597-3771-2863-B15F-870905AE4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D8E7B59-6E47-3A7B-7891-F16E93F25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AF365E-CD9E-EC86-A5AA-589BECF7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49A9608-6AF6-8D83-1FDB-ADF66DD9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7F3AA2B-C3FB-0EE9-3A10-F16DA592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8558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2EF77-C507-26AB-EC59-DFBEC83A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AE5DEE0-5126-B4AF-6D8C-3C5D43968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67648F-C864-562F-5CE9-374A7791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ACE21F-7034-ACEE-97B8-17F37BAE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0898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E682A93-87B9-4B6B-B5AF-EE5CF08D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8EF1AB-1251-E327-D516-CACB86DB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22EF5A-DFE5-D79E-435F-F76B9939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172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5A1A2-E1D0-4AD7-3E3A-60C604272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E2B7E0-7D7A-85F6-9638-BEEA4F9A3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19CC79-4CB4-95BB-850A-BD4621B6A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802513-254C-8380-677B-63C6C080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93D5C1-334C-4B15-9958-DC7D2B07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86594C-A0F6-E214-9DEE-FE3262977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7125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C82A09-ADA5-B780-5A27-919970E0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366C2F-BCDA-6530-FFF1-8E1EA50C4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07975A-A393-390E-7744-683B32442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F0A617-8E04-9F25-2A45-292449E1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ED1F32-25D6-3BF0-3F0C-4A0C8D20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D5D8D8-AF96-E0BE-574D-F88D34A7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2735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0C02A8-61C5-9A6A-28B6-B2F244F8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20CD97-4840-D06D-B497-E27A9643B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B66D19-5BEE-80C6-89BD-6662EEEE1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78D9C4-F9D5-33A9-DD61-8B3305E1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BE4C0D-8951-313E-3E01-16E9999A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738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B0BEF7-BE42-BE31-8A20-56E37626A2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E52958-2BA4-5120-707F-FBF792A1E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87DAC1-7D1C-80DF-BB2A-FB322F1CB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C70DC7-7A85-C725-0FC8-BFC88A02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7F264C-3334-3524-26CA-2C107047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4016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23BDE3-8719-B5CF-3437-208AC001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29719D-B075-F093-0F5A-F350244F1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875279-01F6-1CC2-3DE6-9E2114587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BDC9F-F5D3-4F00-97C2-20F7CAE1BBD8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BAD80F-8480-396E-C000-6EA3193AD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FE7CE2-43B2-B7DC-B9EC-7F20CC628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7882E-21F6-47BE-9C49-66428A9A74F9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6349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D9817-AAD7-BA29-E49B-7408C5100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850D4C-AB8A-A34A-F5CF-E6E9CE852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082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AEC00-E3FB-38E3-2A52-F95BCA13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FD568-860B-6905-CD7B-EF0A605B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04/10/25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18/10/25 – Chapitre 2. Introduction web – HTML et CSS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8/11/25 – Chapitre 3. Introduction web – Arborescence et Formulaire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22/11/25 – Chapitre 4. Introduction Team Workflow - Git</a:t>
            </a:r>
          </a:p>
          <a:p>
            <a:r>
              <a:rPr lang="fr-B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06/12/25 – Chapitre 5. Introduction à Javascript, Variables et valeurs</a:t>
            </a:r>
          </a:p>
          <a:p>
            <a:r>
              <a:rPr lang="fr-BE" dirty="0"/>
              <a:t>10/01/26 – Chapitre 6. Javascript : Fonctions, tableaux, objets, prototypes et constructeurs</a:t>
            </a:r>
          </a:p>
          <a:p>
            <a:r>
              <a:rPr lang="fr-BE" dirty="0"/>
              <a:t>24/01/26 - Chapitre 7. Javascript : DOM et programmation évènementiel, expression régulière</a:t>
            </a:r>
          </a:p>
          <a:p>
            <a:r>
              <a:rPr lang="fr-BE" dirty="0"/>
              <a:t>07/02/26 - Chapitre 8. Javascript : Fonctions avancées et compléments</a:t>
            </a:r>
          </a:p>
          <a:p>
            <a:r>
              <a:rPr lang="fr-BE" dirty="0"/>
              <a:t>21/02/26 - Chapitre 9. Javascript : Framework (React.js, Angular.js et Vue.js)</a:t>
            </a:r>
          </a:p>
          <a:p>
            <a:r>
              <a:rPr lang="fr-BE" dirty="0"/>
              <a:t>14/03/26 -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 Chapitre 1.</a:t>
            </a:r>
          </a:p>
          <a:p>
            <a:r>
              <a:rPr lang="fr-BE" dirty="0"/>
              <a:t>11/04/26 –  Chapitre 2.</a:t>
            </a:r>
          </a:p>
          <a:p>
            <a:r>
              <a:rPr lang="fr-BE" dirty="0"/>
              <a:t>25/04/26 –  Chapitre 3.</a:t>
            </a:r>
          </a:p>
          <a:p>
            <a:r>
              <a:rPr lang="fr-BE" dirty="0"/>
              <a:t>23/05/26 - Examen 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945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070E70-4C31-F41D-22FD-E6485909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5E4DC3-4119-5684-545B-630879403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 dirty="0"/>
              <a:t>1. Introduction</a:t>
            </a:r>
          </a:p>
          <a:p>
            <a:pPr lvl="1"/>
            <a:r>
              <a:rPr lang="fr-BE" dirty="0"/>
              <a:t>Historique</a:t>
            </a:r>
          </a:p>
          <a:p>
            <a:pPr lvl="1"/>
            <a:r>
              <a:rPr lang="fr-BE" dirty="0"/>
              <a:t>Vocabulaire</a:t>
            </a:r>
          </a:p>
          <a:p>
            <a:pPr lvl="1"/>
            <a:r>
              <a:rPr lang="fr-BE" dirty="0"/>
              <a:t>Statique vs dynamique</a:t>
            </a:r>
          </a:p>
          <a:p>
            <a:pPr lvl="1"/>
            <a:r>
              <a:rPr lang="fr-BE" dirty="0"/>
              <a:t>Présentation du langage javascript</a:t>
            </a:r>
          </a:p>
          <a:p>
            <a:pPr lvl="2"/>
            <a:r>
              <a:rPr lang="fr-BE" dirty="0"/>
              <a:t>Caractéristiques</a:t>
            </a:r>
          </a:p>
          <a:p>
            <a:pPr lvl="2"/>
            <a:r>
              <a:rPr lang="fr-BE" dirty="0"/>
              <a:t>Règles syntaxiques</a:t>
            </a:r>
          </a:p>
          <a:p>
            <a:pPr lvl="2"/>
            <a:r>
              <a:rPr lang="fr-BE" dirty="0"/>
              <a:t>Premières lignes</a:t>
            </a:r>
          </a:p>
          <a:p>
            <a:pPr lvl="1"/>
            <a:r>
              <a:rPr lang="fr-BE" dirty="0"/>
              <a:t>Utilisation</a:t>
            </a:r>
          </a:p>
          <a:p>
            <a:pPr lvl="2"/>
            <a:r>
              <a:rPr lang="fr-BE" dirty="0"/>
              <a:t>Déclaration et initialisation de variables</a:t>
            </a:r>
          </a:p>
          <a:p>
            <a:pPr lvl="2"/>
            <a:r>
              <a:rPr lang="fr-BE" dirty="0"/>
              <a:t>Type de valeurs</a:t>
            </a:r>
          </a:p>
          <a:p>
            <a:pPr lvl="2"/>
            <a:r>
              <a:rPr lang="fr-BE" dirty="0"/>
              <a:t>Entrées et sorties</a:t>
            </a:r>
          </a:p>
          <a:p>
            <a:pPr lvl="2"/>
            <a:r>
              <a:rPr lang="fr-BE" dirty="0"/>
              <a:t>Déclaration et initialisation de </a:t>
            </a:r>
            <a:r>
              <a:rPr lang="fr-BE" dirty="0" err="1"/>
              <a:t>function</a:t>
            </a:r>
            <a:endParaRPr lang="fr-BE" dirty="0"/>
          </a:p>
          <a:p>
            <a:pPr lvl="2"/>
            <a:r>
              <a:rPr lang="fr-BE" dirty="0"/>
              <a:t>Affectations</a:t>
            </a:r>
          </a:p>
          <a:p>
            <a:pPr lvl="2"/>
            <a:r>
              <a:rPr lang="fr-BE" dirty="0"/>
              <a:t>Conditionnelle </a:t>
            </a:r>
          </a:p>
          <a:p>
            <a:pPr lvl="2"/>
            <a:r>
              <a:rPr lang="fr-BE" dirty="0"/>
              <a:t>Boucles </a:t>
            </a:r>
          </a:p>
          <a:p>
            <a:pPr lvl="1"/>
            <a:r>
              <a:rPr lang="fr-BE" dirty="0"/>
              <a:t>Où placer le Javascript</a:t>
            </a:r>
          </a:p>
          <a:p>
            <a:pPr lvl="2"/>
            <a:endParaRPr lang="fr-BE" dirty="0"/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5471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C2B71-3DAE-94BC-C8C8-EE80D6E2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5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C5021A-12A0-4B04-866D-28731BFD8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2. Variables et valeurs</a:t>
            </a:r>
          </a:p>
          <a:p>
            <a:pPr lvl="1"/>
            <a:r>
              <a:rPr lang="fr-BE" dirty="0"/>
              <a:t>Les types de valeurs</a:t>
            </a:r>
          </a:p>
          <a:p>
            <a:pPr lvl="1"/>
            <a:r>
              <a:rPr lang="fr-BE" dirty="0"/>
              <a:t>Déclarations</a:t>
            </a:r>
          </a:p>
          <a:p>
            <a:pPr lvl="2"/>
            <a:r>
              <a:rPr lang="fr-BE" dirty="0"/>
              <a:t>Le scope</a:t>
            </a:r>
          </a:p>
          <a:p>
            <a:pPr lvl="2"/>
            <a:r>
              <a:rPr lang="fr-BE" dirty="0"/>
              <a:t>Les 4 types</a:t>
            </a:r>
          </a:p>
          <a:p>
            <a:pPr lvl="2"/>
            <a:r>
              <a:rPr lang="fr-BE" dirty="0" err="1"/>
              <a:t>Hoisting</a:t>
            </a:r>
            <a:r>
              <a:rPr lang="fr-BE" dirty="0"/>
              <a:t> </a:t>
            </a:r>
          </a:p>
          <a:p>
            <a:pPr lvl="1"/>
            <a:r>
              <a:rPr lang="fr-BE" dirty="0"/>
              <a:t>Les valeurs primitives et opérations</a:t>
            </a:r>
          </a:p>
          <a:p>
            <a:pPr lvl="2"/>
            <a:r>
              <a:rPr lang="fr-BE" dirty="0"/>
              <a:t>Nombre</a:t>
            </a:r>
          </a:p>
          <a:p>
            <a:pPr lvl="3"/>
            <a:r>
              <a:rPr lang="fr-BE" dirty="0"/>
              <a:t>Usuel</a:t>
            </a:r>
          </a:p>
          <a:p>
            <a:pPr lvl="3"/>
            <a:r>
              <a:rPr lang="fr-BE" dirty="0"/>
              <a:t>Bit à bit</a:t>
            </a:r>
          </a:p>
          <a:p>
            <a:pPr lvl="3"/>
            <a:r>
              <a:rPr lang="fr-BE" dirty="0"/>
              <a:t>Librairie Math</a:t>
            </a:r>
          </a:p>
          <a:p>
            <a:pPr lvl="2"/>
            <a:r>
              <a:rPr lang="fr-BE" dirty="0" err="1"/>
              <a:t>Booleen</a:t>
            </a:r>
            <a:endParaRPr lang="fr-BE" dirty="0"/>
          </a:p>
          <a:p>
            <a:pPr lvl="2"/>
            <a:r>
              <a:rPr lang="fr-BE" dirty="0"/>
              <a:t>Chaine de caractères (string)</a:t>
            </a:r>
          </a:p>
          <a:p>
            <a:pPr lvl="3"/>
            <a:r>
              <a:rPr lang="fr-BE" dirty="0"/>
              <a:t>Chaine standard</a:t>
            </a:r>
          </a:p>
          <a:p>
            <a:pPr lvl="3"/>
            <a:r>
              <a:rPr lang="fr-BE" dirty="0"/>
              <a:t>Gabarit </a:t>
            </a:r>
          </a:p>
          <a:p>
            <a:pPr lvl="2"/>
            <a:r>
              <a:rPr lang="fr-BE" dirty="0" err="1"/>
              <a:t>BigInt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6366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9F075B-B1EF-7CD2-1AF9-7C38F246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CFC32D-618B-1B29-D7BD-FFA7CB606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2. Variables et valeurs</a:t>
            </a:r>
          </a:p>
          <a:p>
            <a:pPr lvl="1"/>
            <a:r>
              <a:rPr lang="fr-BE" dirty="0"/>
              <a:t>Conversions de types (explicite et implicite) et règle de conversion</a:t>
            </a:r>
          </a:p>
          <a:p>
            <a:pPr lvl="2"/>
            <a:r>
              <a:rPr lang="fr-BE" dirty="0"/>
              <a:t>Explicite</a:t>
            </a:r>
          </a:p>
          <a:p>
            <a:pPr lvl="2"/>
            <a:r>
              <a:rPr lang="fr-BE" dirty="0"/>
              <a:t>Implicite </a:t>
            </a:r>
          </a:p>
          <a:p>
            <a:pPr lvl="2"/>
            <a:r>
              <a:rPr lang="fr-BE" dirty="0"/>
              <a:t>+, ==, ===, &lt;</a:t>
            </a:r>
          </a:p>
          <a:p>
            <a:pPr lvl="2"/>
            <a:r>
              <a:rPr lang="fr-BE" dirty="0"/>
              <a:t>Clean code</a:t>
            </a:r>
          </a:p>
          <a:p>
            <a:pPr lvl="1"/>
            <a:r>
              <a:rPr lang="fr-BE" dirty="0"/>
              <a:t>Les opérations</a:t>
            </a:r>
          </a:p>
          <a:p>
            <a:pPr lvl="2"/>
            <a:r>
              <a:rPr lang="fr-BE" dirty="0"/>
              <a:t>Affectation</a:t>
            </a:r>
          </a:p>
          <a:p>
            <a:pPr lvl="2"/>
            <a:r>
              <a:rPr lang="fr-BE" dirty="0" err="1"/>
              <a:t>Typeof</a:t>
            </a:r>
            <a:endParaRPr lang="fr-BE" dirty="0"/>
          </a:p>
          <a:p>
            <a:pPr lvl="2"/>
            <a:r>
              <a:rPr lang="fr-BE" dirty="0" err="1"/>
              <a:t>Void</a:t>
            </a:r>
            <a:endParaRPr lang="fr-BE" dirty="0"/>
          </a:p>
          <a:p>
            <a:pPr lvl="2"/>
            <a:r>
              <a:rPr lang="fr-BE" dirty="0"/>
              <a:t>Les opérateurs logiques</a:t>
            </a:r>
          </a:p>
          <a:p>
            <a:pPr lvl="3"/>
            <a:r>
              <a:rPr lang="fr-BE" dirty="0"/>
              <a:t>Sémantiques et utilité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0678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335A7A-FBFA-6335-5EE7-3B94DD7DF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521555-2C47-EFCB-4303-1FC9C5F27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Historique</a:t>
            </a:r>
          </a:p>
          <a:p>
            <a:pPr lvl="1"/>
            <a:r>
              <a:rPr lang="fr-BE" dirty="0"/>
              <a:t>1955 </a:t>
            </a:r>
            <a:r>
              <a:rPr lang="fr-BE" dirty="0">
                <a:sym typeface="Wingdings" panose="05000000000000000000" pitchFamily="2" charset="2"/>
              </a:rPr>
              <a:t>créé par Brendan Eich chez Netscape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Course industrielle pour établir un standard face à la concurrence (</a:t>
            </a:r>
            <a:r>
              <a:rPr lang="fr-BE" dirty="0" err="1">
                <a:sym typeface="Wingdings" panose="05000000000000000000" pitchFamily="2" charset="2"/>
              </a:rPr>
              <a:t>microsoft</a:t>
            </a:r>
            <a:r>
              <a:rPr lang="fr-BE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1996  adopté comme standard via l’ECMA et </a:t>
            </a:r>
            <a:r>
              <a:rPr lang="fr-BE" dirty="0" err="1">
                <a:sym typeface="Wingdings" panose="05000000000000000000" pitchFamily="2" charset="2"/>
              </a:rPr>
              <a:t>renomé</a:t>
            </a:r>
            <a:r>
              <a:rPr lang="fr-BE" dirty="0">
                <a:sym typeface="Wingdings" panose="05000000000000000000" pitchFamily="2" charset="2"/>
              </a:rPr>
              <a:t> en </a:t>
            </a:r>
            <a:r>
              <a:rPr lang="fr-BE" dirty="0" err="1">
                <a:sym typeface="Wingdings" panose="05000000000000000000" pitchFamily="2" charset="2"/>
              </a:rPr>
              <a:t>ECMAscript</a:t>
            </a:r>
            <a:r>
              <a:rPr lang="fr-BE" dirty="0">
                <a:sym typeface="Wingdings" panose="05000000000000000000" pitchFamily="2" charset="2"/>
              </a:rPr>
              <a:t> (ES)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2015  ES6 = ES2015, introduction de l’orienté-objet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0044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C18D-58A2-31E6-B1F0-826DB546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234F5C-6F84-C398-9753-AB70BB62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0A0E4-5441-7368-DFD5-75BF31B5E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 dirty="0"/>
              <a:t>Vocabulaire</a:t>
            </a:r>
          </a:p>
          <a:p>
            <a:pPr lvl="1"/>
            <a:r>
              <a:rPr lang="fr-BE" dirty="0"/>
              <a:t>Script</a:t>
            </a:r>
          </a:p>
          <a:p>
            <a:pPr lvl="2"/>
            <a:r>
              <a:rPr lang="fr-BE" dirty="0"/>
              <a:t>Programmes destinés à être interprétés directement</a:t>
            </a:r>
          </a:p>
          <a:p>
            <a:pPr lvl="1"/>
            <a:r>
              <a:rPr lang="fr-BE" dirty="0"/>
              <a:t>Client</a:t>
            </a:r>
          </a:p>
          <a:p>
            <a:pPr lvl="2"/>
            <a:r>
              <a:rPr lang="fr-BE" dirty="0"/>
              <a:t>La machine de l’utilisateur</a:t>
            </a:r>
          </a:p>
          <a:p>
            <a:pPr lvl="1"/>
            <a:r>
              <a:rPr lang="fr-FR" dirty="0"/>
              <a:t>Variable</a:t>
            </a:r>
          </a:p>
          <a:p>
            <a:pPr lvl="2"/>
            <a:r>
              <a:rPr lang="fr-BE" dirty="0"/>
              <a:t>Un espace mémoire nommé qui stocke une valeur pouvant changer pendant l’exécution du programme.</a:t>
            </a:r>
            <a:endParaRPr lang="fr-FR" dirty="0"/>
          </a:p>
          <a:p>
            <a:pPr lvl="1"/>
            <a:r>
              <a:rPr lang="fr-FR" dirty="0"/>
              <a:t>Type de variables</a:t>
            </a:r>
          </a:p>
          <a:p>
            <a:pPr lvl="2"/>
            <a:r>
              <a:rPr lang="fr-BE" dirty="0"/>
              <a:t>La nature des valeurs qu’une variable peut contenir, comme nombre, chaîne de caractères, booléen, objet, etc.</a:t>
            </a:r>
            <a:endParaRPr lang="fr-FR" dirty="0"/>
          </a:p>
          <a:p>
            <a:pPr lvl="1"/>
            <a:r>
              <a:rPr lang="fr-FR" dirty="0"/>
              <a:t>Déclaration, initialisation et affectation</a:t>
            </a:r>
          </a:p>
          <a:p>
            <a:pPr lvl="2"/>
            <a:r>
              <a:rPr lang="fr-BE" dirty="0"/>
              <a:t>Déclaration = créer une variable ; initialisation = lui donner une première valeur ; affectation = lui attribuer ou modifier sa valeur.</a:t>
            </a:r>
            <a:endParaRPr lang="fr-FR" dirty="0"/>
          </a:p>
          <a:p>
            <a:pPr lvl="1"/>
            <a:r>
              <a:rPr lang="fr-FR" dirty="0"/>
              <a:t>Fonction</a:t>
            </a:r>
          </a:p>
          <a:p>
            <a:pPr lvl="2"/>
            <a:r>
              <a:rPr lang="fr-BE" dirty="0"/>
              <a:t>Un bloc de code réutilisable qui effectue une tâche et peut retourner une valeur.</a:t>
            </a:r>
            <a:endParaRPr lang="fr-FR" dirty="0"/>
          </a:p>
          <a:p>
            <a:pPr lvl="1"/>
            <a:r>
              <a:rPr lang="fr-FR" dirty="0"/>
              <a:t>Condition</a:t>
            </a:r>
          </a:p>
          <a:p>
            <a:pPr lvl="2"/>
            <a:r>
              <a:rPr lang="fr-BE" dirty="0"/>
              <a:t>Une instruction qui exécute du code uniquement si une expression logique est vraie ou fausse (if, </a:t>
            </a:r>
            <a:r>
              <a:rPr lang="fr-BE" dirty="0" err="1"/>
              <a:t>else</a:t>
            </a:r>
            <a:r>
              <a:rPr lang="fr-BE" dirty="0"/>
              <a:t>).</a:t>
            </a:r>
            <a:endParaRPr lang="fr-FR" dirty="0"/>
          </a:p>
          <a:p>
            <a:pPr lvl="1"/>
            <a:r>
              <a:rPr lang="fr-FR" dirty="0"/>
              <a:t>Boucles</a:t>
            </a:r>
          </a:p>
          <a:p>
            <a:pPr lvl="2"/>
            <a:r>
              <a:rPr lang="fr-BE" dirty="0"/>
              <a:t>Des structures qui répètent un bloc de code plusieurs fois tant qu’une condition est remplie (for, </a:t>
            </a:r>
            <a:r>
              <a:rPr lang="fr-BE" dirty="0" err="1"/>
              <a:t>while</a:t>
            </a:r>
            <a:r>
              <a:rPr lang="fr-BE" dirty="0"/>
              <a:t>).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7269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C7CAE-3F0C-93A0-9455-39515A734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EFDBD-284A-4BFC-5BAF-99098D71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B066B6-DEFE-410E-5735-27B124D42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Statique vs dynamique</a:t>
            </a:r>
          </a:p>
          <a:p>
            <a:pPr lvl="1"/>
            <a:r>
              <a:rPr lang="fr-BE" dirty="0"/>
              <a:t>Un site web statique est défini par le code HTML et CSS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fr-BE" dirty="0">
                <a:sym typeface="Wingdings" panose="05000000000000000000" pitchFamily="2" charset="2"/>
              </a:rPr>
              <a:t> le contenu ne change pas</a:t>
            </a:r>
          </a:p>
          <a:p>
            <a:pPr lvl="1"/>
            <a:r>
              <a:rPr lang="fr-BE" dirty="0"/>
              <a:t>Un site web dynamique est défini de manière initiale par le code HTML / CSS et le contenu peut être modifié.</a:t>
            </a:r>
          </a:p>
          <a:p>
            <a:pPr lvl="1"/>
            <a:r>
              <a:rPr lang="fr-BE" dirty="0"/>
              <a:t>Javascript permet le DHTML</a:t>
            </a:r>
          </a:p>
        </p:txBody>
      </p:sp>
      <p:pic>
        <p:nvPicPr>
          <p:cNvPr id="5" name="Image 4" descr="Une image contenant texte, Police, capture d’écran, Rectangle&#10;&#10;Le contenu généré par l’IA peut être incorrect.">
            <a:extLst>
              <a:ext uri="{FF2B5EF4-FFF2-40B4-BE49-F238E27FC236}">
                <a16:creationId xmlns:a16="http://schemas.microsoft.com/office/drawing/2014/main" id="{EC09EFCE-37D3-F106-3D77-008D66928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140" y="4323520"/>
            <a:ext cx="2410161" cy="905001"/>
          </a:xfrm>
          <a:prstGeom prst="rect">
            <a:avLst/>
          </a:prstGeom>
        </p:spPr>
      </p:pic>
      <p:pic>
        <p:nvPicPr>
          <p:cNvPr id="7" name="Image 6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1334488-FE48-6432-96C7-1792DC3EC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723" y="4323518"/>
            <a:ext cx="2391109" cy="905001"/>
          </a:xfrm>
          <a:prstGeom prst="rect">
            <a:avLst/>
          </a:prstGeom>
        </p:spPr>
      </p:pic>
      <p:pic>
        <p:nvPicPr>
          <p:cNvPr id="9" name="Image 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FA434A1-230E-0336-2DCA-946D8A688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256" y="4001295"/>
            <a:ext cx="2400635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36D4-29FC-9792-67AC-FF0B87A2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12E4B-04F6-D83C-785D-434888F4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65F5CD-8198-FD76-CF69-D751D48B9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Statique vs dynamique</a:t>
            </a:r>
          </a:p>
          <a:p>
            <a:pPr lvl="1"/>
            <a:r>
              <a:rPr lang="fr-BE" dirty="0"/>
              <a:t>JS permet:</a:t>
            </a:r>
          </a:p>
          <a:p>
            <a:pPr lvl="2"/>
            <a:r>
              <a:rPr lang="fr-BE" dirty="0"/>
              <a:t>Afficher un message au clic sur un bouton</a:t>
            </a:r>
          </a:p>
          <a:p>
            <a:pPr lvl="2"/>
            <a:r>
              <a:rPr lang="fr-BE" dirty="0"/>
              <a:t>Afficher l’heure dans la page web</a:t>
            </a:r>
          </a:p>
          <a:p>
            <a:pPr lvl="2"/>
            <a:r>
              <a:rPr lang="fr-BE" dirty="0"/>
              <a:t>Demander une information à l’utilisateur</a:t>
            </a:r>
          </a:p>
          <a:p>
            <a:pPr lvl="2"/>
            <a:r>
              <a:rPr lang="fr-BE" dirty="0"/>
              <a:t>Manipuler le navigateur</a:t>
            </a:r>
          </a:p>
          <a:p>
            <a:pPr lvl="2"/>
            <a:r>
              <a:rPr lang="fr-B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4861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343DF-FA11-6A60-EF3A-6D93BF2D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41D8EF-3A4B-B877-2EE7-298F6FAA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E63D94-3EB2-7F0E-237C-D6AAD1031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Caractéristiques</a:t>
            </a:r>
          </a:p>
          <a:p>
            <a:pPr lvl="2"/>
            <a:r>
              <a:rPr lang="fr-BE" dirty="0"/>
              <a:t>Javascript est </a:t>
            </a:r>
          </a:p>
          <a:p>
            <a:pPr lvl="3"/>
            <a:r>
              <a:rPr lang="fr-BE" dirty="0"/>
              <a:t>Un langage de programmation</a:t>
            </a:r>
          </a:p>
          <a:p>
            <a:pPr lvl="3"/>
            <a:r>
              <a:rPr lang="fr-BE" dirty="0"/>
              <a:t>Impératif</a:t>
            </a:r>
          </a:p>
          <a:p>
            <a:pPr lvl="3"/>
            <a:r>
              <a:rPr lang="fr-BE" dirty="0"/>
              <a:t>Orienté objet prototypal</a:t>
            </a:r>
          </a:p>
          <a:p>
            <a:pPr lvl="3"/>
            <a:r>
              <a:rPr lang="fr-BE" dirty="0"/>
              <a:t>Événementiel</a:t>
            </a:r>
          </a:p>
          <a:p>
            <a:pPr lvl="3"/>
            <a:r>
              <a:rPr lang="fr-BE" dirty="0"/>
              <a:t>Faiblement typé</a:t>
            </a:r>
          </a:p>
          <a:p>
            <a:pPr lvl="3"/>
            <a:r>
              <a:rPr lang="fr-BE" dirty="0"/>
              <a:t>Où les fonctions sont des objets de premier ordre, cela permet :</a:t>
            </a:r>
          </a:p>
          <a:p>
            <a:pPr lvl="4"/>
            <a:r>
              <a:rPr lang="fr-BE" dirty="0"/>
              <a:t>la programmation fonctionnelle (</a:t>
            </a:r>
            <a:r>
              <a:rPr lang="fr-BE" dirty="0" err="1"/>
              <a:t>map</a:t>
            </a:r>
            <a:r>
              <a:rPr lang="fr-BE" dirty="0"/>
              <a:t>, </a:t>
            </a:r>
            <a:r>
              <a:rPr lang="fr-BE" dirty="0" err="1"/>
              <a:t>filter</a:t>
            </a:r>
            <a:r>
              <a:rPr lang="fr-BE" dirty="0"/>
              <a:t>, </a:t>
            </a:r>
            <a:r>
              <a:rPr lang="fr-BE" dirty="0" err="1"/>
              <a:t>reduce</a:t>
            </a:r>
            <a:r>
              <a:rPr lang="fr-BE" dirty="0"/>
              <a:t>…)</a:t>
            </a:r>
          </a:p>
          <a:p>
            <a:pPr lvl="4"/>
            <a:r>
              <a:rPr lang="fr-BE" dirty="0"/>
              <a:t>les callbacks et promesses</a:t>
            </a:r>
          </a:p>
          <a:p>
            <a:pPr lvl="4"/>
            <a:r>
              <a:rPr lang="fr-BE" dirty="0"/>
              <a:t>les </a:t>
            </a:r>
            <a:r>
              <a:rPr lang="fr-BE" dirty="0" err="1"/>
              <a:t>closures</a:t>
            </a:r>
            <a:endParaRPr lang="fr-BE" dirty="0"/>
          </a:p>
          <a:p>
            <a:pPr lvl="4"/>
            <a:r>
              <a:rPr lang="fr-BE" dirty="0"/>
              <a:t>la composition de fonctions</a:t>
            </a:r>
          </a:p>
          <a:p>
            <a:pPr lvl="4"/>
            <a:r>
              <a:rPr lang="fr-BE" dirty="0"/>
              <a:t>des patterns avancés comme les fonctions génératrices, </a:t>
            </a:r>
            <a:r>
              <a:rPr lang="fr-BE" dirty="0" err="1"/>
              <a:t>factory</a:t>
            </a:r>
            <a:r>
              <a:rPr lang="fr-BE" dirty="0"/>
              <a:t> </a:t>
            </a:r>
            <a:r>
              <a:rPr lang="fr-BE" dirty="0" err="1"/>
              <a:t>functions</a:t>
            </a:r>
            <a:r>
              <a:rPr lang="fr-BE" dirty="0"/>
              <a:t>, etc.</a:t>
            </a:r>
          </a:p>
          <a:p>
            <a:pPr lvl="4"/>
            <a:r>
              <a:rPr lang="fr-BE" dirty="0"/>
              <a:t>Qui évolue</a:t>
            </a:r>
          </a:p>
        </p:txBody>
      </p:sp>
      <p:pic>
        <p:nvPicPr>
          <p:cNvPr id="1027" name="Picture 3" descr="a rabbit from the secret life of pets is making a funny face and saying heh .">
            <a:extLst>
              <a:ext uri="{FF2B5EF4-FFF2-40B4-BE49-F238E27FC236}">
                <a16:creationId xmlns:a16="http://schemas.microsoft.com/office/drawing/2014/main" id="{FD8E754A-FFC2-D2B9-9248-6229755E9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643" y="1825626"/>
            <a:ext cx="3971311" cy="436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63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A3311-FB94-9660-2B6D-94953188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864D2A-875A-E130-12F0-CC29BC07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526185-70AB-3083-8197-397524543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Caractéristiques </a:t>
            </a:r>
          </a:p>
          <a:p>
            <a:pPr lvl="2"/>
            <a:r>
              <a:rPr lang="fr-BE" dirty="0"/>
              <a:t>JS est un langage de programmation, càd qu’il permet d’interagir avec la machine</a:t>
            </a:r>
          </a:p>
          <a:p>
            <a:pPr lvl="2"/>
            <a:r>
              <a:rPr lang="fr-BE" dirty="0"/>
              <a:t>JS est un langage impératif, càd qu’il donne un série d’instructions</a:t>
            </a:r>
          </a:p>
          <a:p>
            <a:pPr lvl="2"/>
            <a:r>
              <a:rPr lang="fr-BE" dirty="0"/>
              <a:t>JS est un langage orienté objet prototypal, càd que l’héritage ne passe pas forcément à travers des classes mais à travers des objets. ES6 change la donne.</a:t>
            </a:r>
          </a:p>
        </p:txBody>
      </p:sp>
      <p:pic>
        <p:nvPicPr>
          <p:cNvPr id="5" name="Image 4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2F70EDD-526A-93D3-09E7-90BF0988D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488" y="4334715"/>
            <a:ext cx="1981477" cy="1162212"/>
          </a:xfrm>
          <a:prstGeom prst="rect">
            <a:avLst/>
          </a:prstGeom>
        </p:spPr>
      </p:pic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7B5F2806-3671-8570-07E9-2622C6557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695" y="4334716"/>
            <a:ext cx="4658375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3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AC26-0C6C-1821-48A9-151F25E3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DF5C1-04C2-10F2-6D8C-D4C317E1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DD779C-AF21-CA91-74FA-2DC4F4E53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Caractéristiques</a:t>
            </a:r>
          </a:p>
          <a:p>
            <a:pPr lvl="2"/>
            <a:r>
              <a:rPr lang="fr-BE" dirty="0"/>
              <a:t>JS utilise la programmation événementielle, càd que certains de ces composants s’exécutent en réponse à des éléments-déclencheurs.</a:t>
            </a:r>
          </a:p>
          <a:p>
            <a:pPr lvl="2"/>
            <a:r>
              <a:rPr lang="fr-BE" dirty="0"/>
              <a:t>JS est non typé, càd que le type d’une variable n’est pas défini et peut donc évoluer.</a:t>
            </a:r>
          </a:p>
          <a:p>
            <a:pPr lvl="3"/>
            <a:r>
              <a:rPr lang="fr-BE" dirty="0"/>
              <a:t>X = 3; </a:t>
            </a:r>
            <a:r>
              <a:rPr lang="fr-BE" dirty="0">
                <a:sym typeface="Wingdings" panose="05000000000000000000" pitchFamily="2" charset="2"/>
              </a:rPr>
              <a:t> x contient un nombre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X = « This </a:t>
            </a:r>
            <a:r>
              <a:rPr lang="fr-BE" dirty="0" err="1">
                <a:sym typeface="Wingdings" panose="05000000000000000000" pitchFamily="2" charset="2"/>
              </a:rPr>
              <a:t>is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huge</a:t>
            </a:r>
            <a:r>
              <a:rPr lang="fr-BE" dirty="0">
                <a:sym typeface="Wingdings" panose="05000000000000000000" pitchFamily="2" charset="2"/>
              </a:rPr>
              <a:t>  !»;  x contient une phrase (string)</a:t>
            </a:r>
            <a:endParaRPr lang="fr-BE" dirty="0"/>
          </a:p>
          <a:p>
            <a:pPr marL="914377" lvl="2" indent="0">
              <a:buNone/>
            </a:pPr>
            <a:r>
              <a:rPr lang="fr-BE" dirty="0">
                <a:solidFill>
                  <a:srgbClr val="FF0000"/>
                </a:solidFill>
              </a:rPr>
              <a:t>Danger</a:t>
            </a:r>
            <a:r>
              <a:rPr lang="fr-BE" dirty="0"/>
              <a:t> : certaines erreurs de typage ne seront pas repérées à l’interprétation du navigateur tant qu’elles ne surviennent pas.</a:t>
            </a:r>
          </a:p>
          <a:p>
            <a:pPr lvl="2"/>
            <a:r>
              <a:rPr lang="fr-BE" dirty="0"/>
              <a:t>JS traite les fonctions comme des objets de premier ordre, càd des objets </a:t>
            </a:r>
            <a:r>
              <a:rPr lang="fr-BE" dirty="0" err="1"/>
              <a:t>auquels</a:t>
            </a:r>
            <a:r>
              <a:rPr lang="fr-BE" dirty="0"/>
              <a:t> on peut :</a:t>
            </a:r>
          </a:p>
          <a:p>
            <a:pPr lvl="3"/>
            <a:r>
              <a:rPr lang="fr-BE" dirty="0"/>
              <a:t>Affecter à une variable</a:t>
            </a:r>
          </a:p>
          <a:p>
            <a:pPr lvl="3"/>
            <a:r>
              <a:rPr lang="fr-BE" dirty="0"/>
              <a:t>Passer en argument à une fonction</a:t>
            </a:r>
          </a:p>
          <a:p>
            <a:pPr lvl="3"/>
            <a:r>
              <a:rPr lang="fr-BE" dirty="0"/>
              <a:t>Retourner comme résultat d’une fonction</a:t>
            </a:r>
          </a:p>
          <a:p>
            <a:pPr lvl="3"/>
            <a:r>
              <a:rPr lang="fr-BE" dirty="0"/>
              <a:t>Ex : </a:t>
            </a:r>
            <a:br>
              <a:rPr lang="fr-BE" dirty="0"/>
            </a:br>
            <a:r>
              <a:rPr lang="fr-BE" dirty="0"/>
              <a:t>	let somme = </a:t>
            </a:r>
            <a:r>
              <a:rPr lang="fr-BE" dirty="0" err="1"/>
              <a:t>function</a:t>
            </a:r>
            <a:r>
              <a:rPr lang="fr-BE" dirty="0"/>
              <a:t> (</a:t>
            </a:r>
            <a:r>
              <a:rPr lang="fr-BE" dirty="0" err="1"/>
              <a:t>x,y</a:t>
            </a:r>
            <a:r>
              <a:rPr lang="fr-BE" dirty="0"/>
              <a:t>) { return </a:t>
            </a:r>
            <a:r>
              <a:rPr lang="fr-BE" dirty="0" err="1"/>
              <a:t>x+y</a:t>
            </a:r>
            <a:r>
              <a:rPr lang="fr-BE" dirty="0"/>
              <a:t>; }; </a:t>
            </a:r>
            <a:br>
              <a:rPr lang="fr-BE" dirty="0"/>
            </a:br>
            <a:r>
              <a:rPr lang="fr-BE" dirty="0"/>
              <a:t>	z = somme(2,3); </a:t>
            </a:r>
          </a:p>
        </p:txBody>
      </p:sp>
    </p:spTree>
    <p:extLst>
      <p:ext uri="{BB962C8B-B14F-4D97-AF65-F5344CB8AC3E}">
        <p14:creationId xmlns:p14="http://schemas.microsoft.com/office/powerpoint/2010/main" val="110696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5112F-C0CB-7471-4831-4B11BF43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0CDCC-F9A1-9D2B-28DD-6059622E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745B60-BA47-95A9-B162-971696BF4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Règles syntaxiques</a:t>
            </a:r>
          </a:p>
          <a:p>
            <a:pPr lvl="2"/>
            <a:r>
              <a:rPr lang="fr-BE" dirty="0"/>
              <a:t>Javascript ignore les blancs</a:t>
            </a:r>
          </a:p>
          <a:p>
            <a:pPr lvl="2"/>
            <a:r>
              <a:rPr lang="fr-BE" dirty="0"/>
              <a:t>Scripts minimalisés</a:t>
            </a:r>
          </a:p>
          <a:p>
            <a:pPr lvl="2"/>
            <a:r>
              <a:rPr lang="fr-BE" dirty="0"/>
              <a:t>Ex :</a:t>
            </a:r>
          </a:p>
        </p:txBody>
      </p:sp>
      <p:pic>
        <p:nvPicPr>
          <p:cNvPr id="5" name="Image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31A0E0B-FDEF-B82D-F74E-3A9E39057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102" y="3429000"/>
            <a:ext cx="6801799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4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F3DE-8086-B894-93B7-E8A031A7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690036-8E77-4974-9BD6-54BBBBFF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BFADA0-AA9F-FC62-3064-9E58197D9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Règles syntaxiques</a:t>
            </a:r>
          </a:p>
          <a:p>
            <a:pPr lvl="2"/>
            <a:r>
              <a:rPr lang="fr-BE" dirty="0"/>
              <a:t>Utilise les commentaires</a:t>
            </a:r>
          </a:p>
          <a:p>
            <a:pPr lvl="3"/>
            <a:r>
              <a:rPr lang="fr-BE" dirty="0"/>
              <a:t>// pour le reste de la ligne</a:t>
            </a:r>
          </a:p>
          <a:p>
            <a:pPr lvl="3"/>
            <a:r>
              <a:rPr lang="fr-BE" dirty="0"/>
              <a:t>/* … */ pour plusieurs lignes / une partie de ligne</a:t>
            </a:r>
          </a:p>
          <a:p>
            <a:pPr lvl="2"/>
            <a:r>
              <a:rPr lang="fr-BE" dirty="0"/>
              <a:t>Une instruction se termine par « ; »</a:t>
            </a:r>
          </a:p>
        </p:txBody>
      </p:sp>
    </p:spTree>
    <p:extLst>
      <p:ext uri="{BB962C8B-B14F-4D97-AF65-F5344CB8AC3E}">
        <p14:creationId xmlns:p14="http://schemas.microsoft.com/office/powerpoint/2010/main" val="194821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FAEB-B044-E783-5855-6D134FA7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63B9B4-9953-52B0-76B4-81F186A2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D3AB3-75A5-570C-ED4D-15DCB91FB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Déclaration de variables </a:t>
            </a:r>
          </a:p>
          <a:p>
            <a:pPr lvl="2"/>
            <a:r>
              <a:rPr lang="fr-BE" dirty="0"/>
              <a:t>let x; (sans initialisation)</a:t>
            </a:r>
          </a:p>
          <a:p>
            <a:pPr lvl="2"/>
            <a:r>
              <a:rPr lang="fr-BE" dirty="0"/>
              <a:t>Let y = 4; (avec initialisation)</a:t>
            </a:r>
          </a:p>
          <a:p>
            <a:pPr lvl="1"/>
            <a:r>
              <a:rPr lang="fr-BE" dirty="0"/>
              <a:t>Valeurs possibles</a:t>
            </a:r>
          </a:p>
          <a:p>
            <a:pPr lvl="2"/>
            <a:r>
              <a:rPr lang="fr-BE" dirty="0"/>
              <a:t>Nombre</a:t>
            </a:r>
          </a:p>
          <a:p>
            <a:pPr lvl="2"/>
            <a:r>
              <a:rPr lang="fr-BE" dirty="0"/>
              <a:t>Caractère / chaine</a:t>
            </a:r>
          </a:p>
          <a:p>
            <a:pPr lvl="2"/>
            <a:r>
              <a:rPr lang="fr-BE" dirty="0"/>
              <a:t>Booléens</a:t>
            </a:r>
          </a:p>
          <a:p>
            <a:pPr lvl="2"/>
            <a:r>
              <a:rPr lang="fr-BE" dirty="0"/>
              <a:t>Opérations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951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47AC9-1A64-5E5D-8651-E7C0CC76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A3A936-F3E9-34E6-C415-507D3B97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3BE63A-C8B0-6BAC-D5F0-A653DBF7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Entrées</a:t>
            </a:r>
          </a:p>
          <a:p>
            <a:pPr lvl="2"/>
            <a:r>
              <a:rPr lang="fr-BE" dirty="0" err="1"/>
              <a:t>Res</a:t>
            </a:r>
            <a:r>
              <a:rPr lang="fr-BE" dirty="0"/>
              <a:t> = confirme(txt); </a:t>
            </a:r>
            <a:r>
              <a:rPr lang="fr-BE" dirty="0">
                <a:sym typeface="Wingdings" panose="05000000000000000000" pitchFamily="2" charset="2"/>
              </a:rPr>
              <a:t> demande confirmation à l’utilisateur</a:t>
            </a:r>
          </a:p>
          <a:p>
            <a:pPr lvl="2"/>
            <a:r>
              <a:rPr lang="fr-BE" dirty="0" err="1">
                <a:sym typeface="Wingdings" panose="05000000000000000000" pitchFamily="2" charset="2"/>
              </a:rPr>
              <a:t>Res</a:t>
            </a:r>
            <a:r>
              <a:rPr lang="fr-BE" dirty="0">
                <a:sym typeface="Wingdings" panose="05000000000000000000" pitchFamily="2" charset="2"/>
              </a:rPr>
              <a:t> = prompt(txt [,</a:t>
            </a:r>
            <a:r>
              <a:rPr lang="fr-BE" dirty="0" err="1">
                <a:sym typeface="Wingdings" panose="05000000000000000000" pitchFamily="2" charset="2"/>
              </a:rPr>
              <a:t>ValDefaut</a:t>
            </a:r>
            <a:r>
              <a:rPr lang="fr-BE" dirty="0">
                <a:sym typeface="Wingdings" panose="05000000000000000000" pitchFamily="2" charset="2"/>
              </a:rPr>
              <a:t>])  demande une valeur à l’utilisateur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Sorties</a:t>
            </a:r>
          </a:p>
          <a:p>
            <a:pPr lvl="2"/>
            <a:r>
              <a:rPr lang="fr-BE" dirty="0" err="1">
                <a:sym typeface="Wingdings" panose="05000000000000000000" pitchFamily="2" charset="2"/>
              </a:rPr>
              <a:t>Document.write</a:t>
            </a:r>
            <a:r>
              <a:rPr lang="fr-BE" dirty="0">
                <a:sym typeface="Wingdings" panose="05000000000000000000" pitchFamily="2" charset="2"/>
              </a:rPr>
              <a:t>(txt)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Console.log(txt)</a:t>
            </a:r>
          </a:p>
          <a:p>
            <a:pPr lvl="2"/>
            <a:r>
              <a:rPr lang="fr-BE" dirty="0" err="1">
                <a:sym typeface="Wingdings" panose="05000000000000000000" pitchFamily="2" charset="2"/>
              </a:rPr>
              <a:t>Alert</a:t>
            </a:r>
            <a:r>
              <a:rPr lang="fr-BE" dirty="0">
                <a:sym typeface="Wingdings" panose="05000000000000000000" pitchFamily="2" charset="2"/>
              </a:rPr>
              <a:t>(txt)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Déclaration de fonction</a:t>
            </a:r>
            <a:endParaRPr lang="fr-BE" dirty="0"/>
          </a:p>
        </p:txBody>
      </p:sp>
      <p:pic>
        <p:nvPicPr>
          <p:cNvPr id="5" name="Image 4" descr="Une image contenant Police, texte, écriture manuscrite, blanc&#10;&#10;Le contenu généré par l’IA peut être incorrect.">
            <a:extLst>
              <a:ext uri="{FF2B5EF4-FFF2-40B4-BE49-F238E27FC236}">
                <a16:creationId xmlns:a16="http://schemas.microsoft.com/office/drawing/2014/main" id="{4FF95A44-8DE7-475D-F0A9-BB51765A3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064" y="5252910"/>
            <a:ext cx="2857899" cy="92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5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348D-C0FB-0A56-2521-71E72A0CD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9BB97-9E51-697B-B35A-A45E4101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C0BABF-F8FD-08A8-E525-C13381E71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Affectations</a:t>
            </a:r>
          </a:p>
          <a:p>
            <a:pPr lvl="2"/>
            <a:r>
              <a:rPr lang="fr-BE" dirty="0"/>
              <a:t>X = 1; 	X++;</a:t>
            </a:r>
          </a:p>
          <a:p>
            <a:pPr lvl="1"/>
            <a:r>
              <a:rPr lang="fr-BE" dirty="0"/>
              <a:t>Conditionnelle</a:t>
            </a:r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r>
              <a:rPr lang="fr-BE" dirty="0"/>
              <a:t>Boucles </a:t>
            </a:r>
          </a:p>
        </p:txBody>
      </p:sp>
      <p:pic>
        <p:nvPicPr>
          <p:cNvPr id="5" name="Image 4" descr="Une image contenant Police, texte, écriture manuscrite, blanc&#10;&#10;Le contenu généré par l’IA peut être incorrect.">
            <a:extLst>
              <a:ext uri="{FF2B5EF4-FFF2-40B4-BE49-F238E27FC236}">
                <a16:creationId xmlns:a16="http://schemas.microsoft.com/office/drawing/2014/main" id="{9B7C9DA7-15AE-D30B-B1A3-8281E1B95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946" y="3500843"/>
            <a:ext cx="3296111" cy="800212"/>
          </a:xfrm>
          <a:prstGeom prst="rect">
            <a:avLst/>
          </a:prstGeom>
        </p:spPr>
      </p:pic>
      <p:pic>
        <p:nvPicPr>
          <p:cNvPr id="7" name="Image 6" descr="Une image contenant texte, écriture manuscrite, Police&#10;&#10;Le contenu généré par l’IA peut être incorrect.">
            <a:extLst>
              <a:ext uri="{FF2B5EF4-FFF2-40B4-BE49-F238E27FC236}">
                <a16:creationId xmlns:a16="http://schemas.microsoft.com/office/drawing/2014/main" id="{8DF6FB43-7D99-10D8-4028-16D52C578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946" y="4654294"/>
            <a:ext cx="3839111" cy="183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4B19F-CF67-A8DC-01D2-AF698C09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3E2189-870D-BA3B-F12F-A3DB0F9E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EDA9B7-1115-72C0-9559-19FF1F41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Présentation du langage javascript</a:t>
            </a:r>
          </a:p>
          <a:p>
            <a:pPr lvl="1"/>
            <a:r>
              <a:rPr lang="fr-BE" dirty="0"/>
              <a:t>Où placer le code JS ? </a:t>
            </a:r>
          </a:p>
          <a:p>
            <a:pPr lvl="2"/>
            <a:r>
              <a:rPr lang="fr-BE" dirty="0"/>
              <a:t>Interne, dans une balise &lt;script&gt;</a:t>
            </a:r>
          </a:p>
          <a:p>
            <a:pPr lvl="3"/>
            <a:r>
              <a:rPr lang="fr-BE" dirty="0"/>
              <a:t>&lt;script&gt; </a:t>
            </a:r>
            <a:r>
              <a:rPr lang="fr-BE" dirty="0" err="1"/>
              <a:t>codeJS</a:t>
            </a:r>
            <a:r>
              <a:rPr lang="fr-BE" dirty="0"/>
              <a:t> &lt;/script&gt;</a:t>
            </a:r>
          </a:p>
          <a:p>
            <a:pPr lvl="3"/>
            <a:r>
              <a:rPr lang="fr-BE" dirty="0"/>
              <a:t>Exécution synchrone (immédiate)</a:t>
            </a:r>
          </a:p>
          <a:p>
            <a:pPr lvl="3"/>
            <a:r>
              <a:rPr lang="fr-BE" dirty="0"/>
              <a:t>Plusieurs balises possibles</a:t>
            </a: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3EF26F6-E2D1-A715-49CD-65EE3799A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026" y="2854209"/>
            <a:ext cx="6045383" cy="345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0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D13B-CDE4-7855-AD25-774545A4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D31D93-0D91-7DAA-57DE-D90DA7F2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5623F-E322-4156-55DF-3443AC810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Où placer le Javascript ?</a:t>
            </a:r>
          </a:p>
          <a:p>
            <a:endParaRPr lang="fr-BE" dirty="0"/>
          </a:p>
        </p:txBody>
      </p:sp>
      <p:pic>
        <p:nvPicPr>
          <p:cNvPr id="5" name="Image 4" descr="Une image contenant texte, Appareils électroniques, capture d’écran, affichage&#10;&#10;Le contenu généré par l’IA peut être incorrect.">
            <a:extLst>
              <a:ext uri="{FF2B5EF4-FFF2-40B4-BE49-F238E27FC236}">
                <a16:creationId xmlns:a16="http://schemas.microsoft.com/office/drawing/2014/main" id="{48822FCC-50E6-FA39-8E3B-600AF6E2E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446" y="1653438"/>
            <a:ext cx="6893404" cy="452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3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1FCC-D0E8-944D-2D08-FC26D8CB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FD381A-ABFD-0E5F-17B1-D132B14C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8D30D2-E08C-F228-8827-91DA5C8E5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Où placer le Javascript ?</a:t>
            </a:r>
          </a:p>
          <a:p>
            <a:pPr lvl="1"/>
            <a:r>
              <a:rPr lang="fr-BE" dirty="0" err="1"/>
              <a:t>Inline</a:t>
            </a:r>
            <a:endParaRPr lang="fr-BE" dirty="0"/>
          </a:p>
          <a:p>
            <a:pPr lvl="2"/>
            <a:r>
              <a:rPr lang="fr-BE" dirty="0"/>
              <a:t>Directement dans un attribut correspondant à un évènement</a:t>
            </a:r>
          </a:p>
          <a:p>
            <a:pPr lvl="3"/>
            <a:r>
              <a:rPr lang="fr-BE" dirty="0"/>
              <a:t>&lt;</a:t>
            </a:r>
            <a:r>
              <a:rPr lang="fr-BE" dirty="0" err="1"/>
              <a:t>button</a:t>
            </a:r>
            <a:r>
              <a:rPr lang="fr-BE" dirty="0"/>
              <a:t> </a:t>
            </a:r>
            <a:r>
              <a:rPr lang="fr-BE" dirty="0" err="1"/>
              <a:t>onclick</a:t>
            </a:r>
            <a:r>
              <a:rPr lang="fr-BE" dirty="0"/>
              <a:t>="</a:t>
            </a:r>
            <a:r>
              <a:rPr lang="fr-BE" dirty="0" err="1"/>
              <a:t>codeJS</a:t>
            </a:r>
            <a:r>
              <a:rPr lang="fr-BE" dirty="0"/>
              <a:t>"&gt;Cliquez moi!&lt;/</a:t>
            </a:r>
            <a:r>
              <a:rPr lang="fr-BE" dirty="0" err="1"/>
              <a:t>button</a:t>
            </a:r>
            <a:r>
              <a:rPr lang="fr-BE" dirty="0"/>
              <a:t>&gt;</a:t>
            </a:r>
          </a:p>
          <a:p>
            <a:pPr lvl="2"/>
            <a:r>
              <a:rPr lang="fr-BE" dirty="0"/>
              <a:t>Directement dans une référence</a:t>
            </a:r>
          </a:p>
          <a:p>
            <a:pPr lvl="3"/>
            <a:r>
              <a:rPr lang="fr-BE" dirty="0"/>
              <a:t>&lt;a href="</a:t>
            </a:r>
            <a:r>
              <a:rPr lang="fr-BE" dirty="0" err="1"/>
              <a:t>javascript:codeJS</a:t>
            </a:r>
            <a:r>
              <a:rPr lang="fr-BE" dirty="0"/>
              <a:t>"&gt;texte&lt;/a&gt;</a:t>
            </a:r>
          </a:p>
          <a:p>
            <a:pPr lvl="2"/>
            <a:r>
              <a:rPr lang="fr-BE" dirty="0"/>
              <a:t>Exécution asynchrone (reportée à </a:t>
            </a:r>
            <a:r>
              <a:rPr lang="fr-BE" dirty="0" err="1"/>
              <a:t>plutard</a:t>
            </a:r>
            <a:r>
              <a:rPr lang="fr-BE" dirty="0"/>
              <a:t>, quand l’évènement déclencheur se produit)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1476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F1D3-0F55-9387-8EB8-23EACFCD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DC78FE-159D-E55A-9BBA-41148F90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EDF972-6481-651F-C88F-B6EED19A9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Où placer le Javascript ?</a:t>
            </a:r>
          </a:p>
          <a:p>
            <a:pPr lvl="1"/>
            <a:r>
              <a:rPr lang="fr-BE" dirty="0" err="1"/>
              <a:t>Inline</a:t>
            </a:r>
            <a:endParaRPr lang="fr-BE" dirty="0"/>
          </a:p>
          <a:p>
            <a:endParaRPr lang="fr-BE" dirty="0"/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9BE4B06-045A-F17D-DFC3-ECA739464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407" y="2382678"/>
            <a:ext cx="6721187" cy="41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7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11D7F4-A262-AB79-570B-D8C45EDA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Introduction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FC263A-53BE-E1CF-CD5D-15DCA4750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Où placer le Javascript ?</a:t>
            </a:r>
          </a:p>
          <a:p>
            <a:pPr lvl="1"/>
            <a:r>
              <a:rPr lang="fr-BE" dirty="0"/>
              <a:t>Externe </a:t>
            </a:r>
          </a:p>
          <a:p>
            <a:pPr lvl="2"/>
            <a:r>
              <a:rPr lang="fr-BE" dirty="0"/>
              <a:t>Dans un fichier séparé lié via une balise script</a:t>
            </a:r>
          </a:p>
          <a:p>
            <a:pPr lvl="3"/>
            <a:r>
              <a:rPr lang="fr-BE" dirty="0"/>
              <a:t>&lt;script src="nomFichier.js"&gt;&lt;/script&gt;</a:t>
            </a:r>
          </a:p>
          <a:p>
            <a:pPr lvl="2"/>
            <a:r>
              <a:rPr lang="fr-BE" dirty="0"/>
              <a:t>Exécution synchrone</a:t>
            </a:r>
          </a:p>
        </p:txBody>
      </p:sp>
    </p:spTree>
    <p:extLst>
      <p:ext uri="{BB962C8B-B14F-4D97-AF65-F5344CB8AC3E}">
        <p14:creationId xmlns:p14="http://schemas.microsoft.com/office/powerpoint/2010/main" val="285482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1E6259-9D55-C46A-9C6A-BB627055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491C70-3423-B98F-9866-10AE83AD3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types de valeurs en JS</a:t>
            </a:r>
          </a:p>
          <a:p>
            <a:pPr lvl="1"/>
            <a:r>
              <a:rPr lang="fr-BE" dirty="0"/>
              <a:t>Javascript est non typé</a:t>
            </a:r>
          </a:p>
          <a:p>
            <a:pPr lvl="2"/>
            <a:r>
              <a:rPr lang="fr-BE" dirty="0"/>
              <a:t>Le contenu d’une variable peut changer de type au cours de l’exécution</a:t>
            </a:r>
          </a:p>
          <a:p>
            <a:pPr lvl="2"/>
            <a:r>
              <a:rPr lang="fr-BE" dirty="0"/>
              <a:t>Mais à chaque instant, la variable a un type</a:t>
            </a:r>
          </a:p>
          <a:p>
            <a:pPr lvl="2"/>
            <a:r>
              <a:rPr lang="fr-BE" dirty="0"/>
              <a:t>Implications</a:t>
            </a:r>
          </a:p>
          <a:p>
            <a:pPr lvl="3"/>
            <a:r>
              <a:rPr lang="fr-BE" dirty="0"/>
              <a:t>Pas de précision de types à la déclarations</a:t>
            </a:r>
          </a:p>
          <a:p>
            <a:pPr lvl="3"/>
            <a:r>
              <a:rPr lang="fr-BE" dirty="0"/>
              <a:t>De nombreuses conversions (implicites) sont effectuées.</a:t>
            </a:r>
          </a:p>
          <a:p>
            <a:pPr lvl="3"/>
            <a:r>
              <a:rPr lang="fr-BE" dirty="0"/>
              <a:t>Certaines erreurs de logiques ne sont pas détectées.</a:t>
            </a:r>
          </a:p>
          <a:p>
            <a:pPr lvl="1"/>
            <a:r>
              <a:rPr lang="fr-BE" dirty="0"/>
              <a:t>Obtenir le type d’une valeur</a:t>
            </a:r>
          </a:p>
          <a:p>
            <a:pPr lvl="2"/>
            <a:r>
              <a:rPr lang="fr-BE" dirty="0" err="1"/>
              <a:t>typeof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3685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B175-F7B9-1301-93BB-D3FDC09E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A7581D-B3D3-30E8-6972-82094BAA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76D1B1-10A0-2589-6A41-852BB7644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Le scope</a:t>
            </a:r>
          </a:p>
          <a:p>
            <a:pPr lvl="2"/>
            <a:r>
              <a:rPr lang="fr-BE" dirty="0"/>
              <a:t>Les variables ont une durée de vie, pas en temps, mais en partie de programme où elles existent.</a:t>
            </a:r>
          </a:p>
          <a:p>
            <a:pPr lvl="2"/>
            <a:r>
              <a:rPr lang="fr-BE" dirty="0"/>
              <a:t>Le scope d’une variable est la partie du programme où le nom de la variable (pas forcément sa valeur) existe.</a:t>
            </a:r>
          </a:p>
          <a:p>
            <a:pPr marL="457189" lvl="1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488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7B46D-63E0-632A-C2AE-E2C5AD86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D553CB-AC9F-2A09-F5E3-C345D28F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E8D064-9EC6-EEA2-2A3D-B93ED8F29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Le scope</a:t>
            </a:r>
          </a:p>
        </p:txBody>
      </p:sp>
      <p:pic>
        <p:nvPicPr>
          <p:cNvPr id="5" name="Image 4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3B28172-9BC7-FBD8-92EA-B6AD324CB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407" y="2642695"/>
            <a:ext cx="8437188" cy="3850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61AC3D-D867-228F-94AC-AC8B177D370C}"/>
              </a:ext>
            </a:extLst>
          </p:cNvPr>
          <p:cNvSpPr/>
          <p:nvPr/>
        </p:nvSpPr>
        <p:spPr>
          <a:xfrm>
            <a:off x="2005781" y="3500286"/>
            <a:ext cx="4090219" cy="117003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49CEB-7158-6FAC-14AD-F18DCDFDE929}"/>
              </a:ext>
            </a:extLst>
          </p:cNvPr>
          <p:cNvSpPr/>
          <p:nvPr/>
        </p:nvSpPr>
        <p:spPr>
          <a:xfrm>
            <a:off x="2212259" y="3893575"/>
            <a:ext cx="3814916" cy="580103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455A14C-292E-2E50-3751-727237808F01}"/>
              </a:ext>
            </a:extLst>
          </p:cNvPr>
          <p:cNvSpPr/>
          <p:nvPr/>
        </p:nvSpPr>
        <p:spPr>
          <a:xfrm>
            <a:off x="3669276" y="3241649"/>
            <a:ext cx="295523" cy="3035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FDEE37B-9130-956C-3218-A9D68104C1CA}"/>
              </a:ext>
            </a:extLst>
          </p:cNvPr>
          <p:cNvSpPr/>
          <p:nvPr/>
        </p:nvSpPr>
        <p:spPr>
          <a:xfrm>
            <a:off x="1793833" y="4625439"/>
            <a:ext cx="295523" cy="3035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AF1D130-54F6-4FF0-896C-555B5B59369D}"/>
              </a:ext>
            </a:extLst>
          </p:cNvPr>
          <p:cNvSpPr/>
          <p:nvPr/>
        </p:nvSpPr>
        <p:spPr>
          <a:xfrm>
            <a:off x="4050891" y="3612497"/>
            <a:ext cx="295523" cy="3035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D409D5B-CFF2-BD5A-D2CD-F71C2995D00B}"/>
              </a:ext>
            </a:extLst>
          </p:cNvPr>
          <p:cNvSpPr/>
          <p:nvPr/>
        </p:nvSpPr>
        <p:spPr>
          <a:xfrm>
            <a:off x="1961259" y="4420240"/>
            <a:ext cx="295523" cy="3035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2822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ABC7F-21B0-31DF-C4BC-3F428D4A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30BAB-5445-C859-94F5-D9B88841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CCEEDA-4D9F-E442-8AE0-60362535D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Le scope </a:t>
            </a:r>
          </a:p>
        </p:txBody>
      </p:sp>
      <p:pic>
        <p:nvPicPr>
          <p:cNvPr id="12" name="Image 11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8E4DEDD2-54CF-D104-0723-52F001D9B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358" y="2930116"/>
            <a:ext cx="2681385" cy="324684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02466A9-B1BF-0A3D-B97D-FCDEE73B0BE6}"/>
              </a:ext>
            </a:extLst>
          </p:cNvPr>
          <p:cNvSpPr txBox="1"/>
          <p:nvPr/>
        </p:nvSpPr>
        <p:spPr>
          <a:xfrm>
            <a:off x="5745911" y="5400675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>
                <a:solidFill>
                  <a:srgbClr val="FF0000"/>
                </a:solidFill>
                <a:sym typeface="Wingdings" panose="05000000000000000000" pitchFamily="2" charset="2"/>
              </a:rPr>
              <a:t> Reference </a:t>
            </a:r>
            <a:r>
              <a:rPr lang="fr-BE" sz="2800" dirty="0" err="1">
                <a:solidFill>
                  <a:srgbClr val="FF0000"/>
                </a:solidFill>
                <a:sym typeface="Wingdings" panose="05000000000000000000" pitchFamily="2" charset="2"/>
              </a:rPr>
              <a:t>Error</a:t>
            </a:r>
            <a:endParaRPr lang="fr-B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22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4E9B-8933-1DD3-A399-1168B2D4A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052B8-4160-ADD0-03E9-0551648B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512A39-7ADC-D2AC-58CD-622F4456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Types de déclarations de variables (4)</a:t>
            </a:r>
          </a:p>
          <a:p>
            <a:pPr lvl="2"/>
            <a:r>
              <a:rPr lang="fr-BE" dirty="0"/>
              <a:t>Aucune : directement utilisée, portée globale</a:t>
            </a:r>
          </a:p>
        </p:txBody>
      </p:sp>
      <p:pic>
        <p:nvPicPr>
          <p:cNvPr id="5" name="Image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743420A-B87A-9DCA-AF2B-022C89CA9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05084"/>
            <a:ext cx="6158117" cy="2346907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EE865C1-7D1E-F897-5DB6-6D06D2551F2C}"/>
              </a:ext>
            </a:extLst>
          </p:cNvPr>
          <p:cNvCxnSpPr/>
          <p:nvPr/>
        </p:nvCxnSpPr>
        <p:spPr>
          <a:xfrm>
            <a:off x="1028700" y="3800475"/>
            <a:ext cx="44291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26BBCA18-1C9F-71EF-F40C-A5D8B9B065C4}"/>
              </a:ext>
            </a:extLst>
          </p:cNvPr>
          <p:cNvCxnSpPr>
            <a:cxnSpLocks/>
          </p:cNvCxnSpPr>
          <p:nvPr/>
        </p:nvCxnSpPr>
        <p:spPr>
          <a:xfrm>
            <a:off x="5876925" y="3771900"/>
            <a:ext cx="235267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D5B96AD4-8D81-20CF-1DF3-CEC90574E39B}"/>
              </a:ext>
            </a:extLst>
          </p:cNvPr>
          <p:cNvSpPr txBox="1"/>
          <p:nvPr/>
        </p:nvSpPr>
        <p:spPr>
          <a:xfrm>
            <a:off x="8382000" y="3510289"/>
            <a:ext cx="2860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2800" dirty="0">
                <a:solidFill>
                  <a:srgbClr val="FF0000"/>
                </a:solidFill>
              </a:rPr>
              <a:t>Reference </a:t>
            </a:r>
            <a:r>
              <a:rPr lang="fr-BE" sz="2800" dirty="0" err="1">
                <a:solidFill>
                  <a:srgbClr val="FF0000"/>
                </a:solidFill>
              </a:rPr>
              <a:t>Error</a:t>
            </a:r>
            <a:endParaRPr lang="fr-B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07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2EBF-8F3A-F649-7E20-4C4BFC3E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B75C9F-A58F-B614-4CD0-B1BD348A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FC51C2-6B94-0CD9-FA21-818AD67ED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Types de déclarations de variables (4)</a:t>
            </a:r>
          </a:p>
          <a:p>
            <a:pPr lvl="2"/>
            <a:r>
              <a:rPr lang="fr-BE" dirty="0"/>
              <a:t>Let : locale au bloc sauf si au bloc racine</a:t>
            </a:r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5188256-5B07-C571-85A4-3F63A5C80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983" y="3152659"/>
            <a:ext cx="5528035" cy="277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1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9F8D-B121-19CA-F25A-DE38C7C8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932B9-38DD-5354-7DDD-4BCDEDDFF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FDF6A8-8037-D78F-6109-254DF47F7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Types de déclarations de variables (4)</a:t>
            </a:r>
          </a:p>
          <a:p>
            <a:pPr lvl="2"/>
            <a:r>
              <a:rPr lang="fr-BE" dirty="0" err="1"/>
              <a:t>Const</a:t>
            </a:r>
            <a:r>
              <a:rPr lang="fr-BE" dirty="0"/>
              <a:t> : locale au bloc, ou globale si bloc racine, mais DOIT être initialisée.</a:t>
            </a:r>
          </a:p>
          <a:p>
            <a:pPr marL="0" indent="0">
              <a:buNone/>
            </a:pPr>
            <a:endParaRPr lang="fr-BE" dirty="0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C834EC1-1A0A-6CF2-0512-926EA6BF1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95" y="3205047"/>
            <a:ext cx="5914411" cy="26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8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B6F82-6275-2DB0-BD19-5A6A29EE3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474810-84A9-CEC7-E6D3-91657371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1CD979-C747-C956-4173-03627CECB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Types de déclarations de variables (4)</a:t>
            </a:r>
          </a:p>
          <a:p>
            <a:pPr lvl="2"/>
            <a:r>
              <a:rPr lang="fr-BE" dirty="0"/>
              <a:t>Var : locale à la fonction, ou globale hors fonction.</a:t>
            </a:r>
          </a:p>
        </p:txBody>
      </p:sp>
      <p:pic>
        <p:nvPicPr>
          <p:cNvPr id="5" name="Image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BBDA8B2-1F9C-ABEA-A8F9-AFA0CE434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135" y="3147937"/>
            <a:ext cx="5845732" cy="186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2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0D1491-E822-DDF8-6139-B2FD085E6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7BC167-6575-0FFC-BAC6-9A2E53FC7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Que vont produire les appels f(7) et f(-3) ? g(7) et g(-3) ?</a:t>
            </a:r>
          </a:p>
        </p:txBody>
      </p:sp>
      <p:pic>
        <p:nvPicPr>
          <p:cNvPr id="5" name="Image 4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D60F4B74-1D32-1B5C-DE0B-259DF54AF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045" y="3266661"/>
            <a:ext cx="2118785" cy="2587831"/>
          </a:xfrm>
          <a:prstGeom prst="rect">
            <a:avLst/>
          </a:prstGeom>
        </p:spPr>
      </p:pic>
      <p:pic>
        <p:nvPicPr>
          <p:cNvPr id="7" name="Image 6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8A8D1B5D-7244-1997-CDF0-6B327A35E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679" y="3266660"/>
            <a:ext cx="2118787" cy="259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6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6301D-3E09-85EB-8896-6E372E5FA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A036C7-7135-370C-AAD8-A24F8036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2CE088-0F10-B946-8039-D42DD0DDF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 err="1"/>
              <a:t>Hoisting</a:t>
            </a:r>
            <a:endParaRPr lang="fr-BE" dirty="0"/>
          </a:p>
          <a:p>
            <a:pPr lvl="2"/>
            <a:r>
              <a:rPr lang="fr-BE" dirty="0"/>
              <a:t>Dans chaque scope fonctionnel, les déclarations de variables via VAR et les déclarations de fonctions sont hissées vers le début.</a:t>
            </a:r>
          </a:p>
        </p:txBody>
      </p:sp>
      <p:pic>
        <p:nvPicPr>
          <p:cNvPr id="6" name="Image 5" descr="Une image contenant texte, Police, capture d’écran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40BC5A29-927F-ED34-231A-63A4CB3DA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694" y="3429001"/>
            <a:ext cx="2105703" cy="2075620"/>
          </a:xfrm>
          <a:prstGeom prst="rect">
            <a:avLst/>
          </a:prstGeom>
        </p:spPr>
      </p:pic>
      <p:pic>
        <p:nvPicPr>
          <p:cNvPr id="9" name="Image 8" descr="Une image contenant texte, Police, capture d’écran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60A00430-DD34-E898-98EA-D936AD51E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707" y="3429001"/>
            <a:ext cx="2075620" cy="2075620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345816E-5100-F022-E7B2-B313DCDC4A83}"/>
              </a:ext>
            </a:extLst>
          </p:cNvPr>
          <p:cNvCxnSpPr>
            <a:cxnSpLocks/>
          </p:cNvCxnSpPr>
          <p:nvPr/>
        </p:nvCxnSpPr>
        <p:spPr>
          <a:xfrm>
            <a:off x="4699820" y="4395019"/>
            <a:ext cx="2231923" cy="0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94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4A4E-2C73-3D6B-1E22-7B3D24C5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BB7B6-D462-4368-7119-E4DEF692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8A4C5A-30D2-5427-9BE9-0D7DF2B8B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 err="1"/>
              <a:t>Hoisting</a:t>
            </a:r>
            <a:endParaRPr lang="fr-BE" dirty="0"/>
          </a:p>
          <a:p>
            <a:pPr lvl="2"/>
            <a:r>
              <a:rPr lang="fr-BE" dirty="0"/>
              <a:t>Dans le cas de let et de </a:t>
            </a:r>
            <a:r>
              <a:rPr lang="fr-BE" dirty="0" err="1"/>
              <a:t>const</a:t>
            </a:r>
            <a:endParaRPr lang="fr-BE" dirty="0"/>
          </a:p>
          <a:p>
            <a:pPr lvl="3"/>
            <a:r>
              <a:rPr lang="fr-BE" dirty="0"/>
              <a:t>Hissage vers le début du bloc mais on ne peut pas utiliser la variable avant sa déclaration (Temporal Dead Zone)</a:t>
            </a:r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E52E466E-B8B0-082E-5551-5549EDF19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273" y="3593870"/>
            <a:ext cx="3483867" cy="2583095"/>
          </a:xfrm>
          <a:prstGeom prst="rect">
            <a:avLst/>
          </a:prstGeom>
        </p:spPr>
      </p:pic>
      <p:pic>
        <p:nvPicPr>
          <p:cNvPr id="8" name="Image 7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5E6F987E-245D-35D0-7459-39D13F73C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002" y="3593870"/>
            <a:ext cx="2150903" cy="258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32D8-6860-B475-B23D-F4584E20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7FB801-E57D-FFE5-B2BA-15238805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DE783D-34D8-2905-3A47-7BEA9B812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Déclarations de variables</a:t>
            </a:r>
          </a:p>
          <a:p>
            <a:pPr lvl="1"/>
            <a:r>
              <a:rPr lang="fr-BE" dirty="0"/>
              <a:t>Résumé</a:t>
            </a:r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r>
              <a:rPr lang="fr-BE" dirty="0"/>
              <a:t>En pratique,</a:t>
            </a:r>
          </a:p>
          <a:p>
            <a:pPr lvl="2"/>
            <a:r>
              <a:rPr lang="fr-BE" dirty="0"/>
              <a:t>Éviter var et les déclarations implicites</a:t>
            </a:r>
          </a:p>
          <a:p>
            <a:pPr lvl="2"/>
            <a:r>
              <a:rPr lang="fr-BE" dirty="0"/>
              <a:t>Utiliser </a:t>
            </a:r>
            <a:r>
              <a:rPr lang="fr-BE" dirty="0" err="1"/>
              <a:t>const</a:t>
            </a:r>
            <a:r>
              <a:rPr lang="fr-BE" dirty="0"/>
              <a:t> + déclaration si la valeur ne change pas</a:t>
            </a:r>
          </a:p>
          <a:p>
            <a:pPr lvl="2"/>
            <a:r>
              <a:rPr lang="fr-BE" dirty="0"/>
              <a:t>Sinon utiliser let</a:t>
            </a:r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9CD4041-414A-A562-772D-3E2CC0ABF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398" y="2313941"/>
            <a:ext cx="7687748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BFD5-02A2-7247-1F65-09CCB2DA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FDF33-AB54-7741-3A7E-BAB9E88F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700" dirty="0"/>
              <a:t>Les valeurs primitives et opérations</a:t>
            </a:r>
            <a:endParaRPr lang="fr-BE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190C351-3C77-75C7-7FDD-7C2E36CCA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432772"/>
          </a:xfrm>
        </p:spPr>
        <p:txBody>
          <a:bodyPr/>
          <a:lstStyle/>
          <a:p>
            <a:r>
              <a:rPr lang="fr-BE" dirty="0" err="1"/>
              <a:t>Litéraux</a:t>
            </a:r>
            <a:r>
              <a:rPr lang="fr-BE" dirty="0"/>
              <a:t> pour les nombres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E941B85-65B1-E4F8-A799-053DECD67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182762"/>
            <a:ext cx="5157787" cy="4006903"/>
          </a:xfrm>
        </p:spPr>
        <p:txBody>
          <a:bodyPr>
            <a:normAutofit/>
          </a:bodyPr>
          <a:lstStyle/>
          <a:p>
            <a:r>
              <a:rPr lang="fr-BE" dirty="0"/>
              <a:t>Entier : </a:t>
            </a:r>
          </a:p>
          <a:p>
            <a:pPr lvl="1"/>
            <a:r>
              <a:rPr lang="fr-BE" dirty="0"/>
              <a:t>42; -78</a:t>
            </a:r>
          </a:p>
          <a:p>
            <a:r>
              <a:rPr lang="fr-BE" dirty="0"/>
              <a:t>Réels : </a:t>
            </a:r>
          </a:p>
          <a:p>
            <a:pPr lvl="1"/>
            <a:r>
              <a:rPr lang="fr-BE" dirty="0"/>
              <a:t>342,17 ; 1,36</a:t>
            </a:r>
            <a:r>
              <a:rPr lang="fr-BE" baseline="30000" dirty="0"/>
              <a:t>E</a:t>
            </a:r>
            <a:r>
              <a:rPr lang="fr-BE" dirty="0"/>
              <a:t>78</a:t>
            </a:r>
          </a:p>
          <a:p>
            <a:r>
              <a:rPr lang="fr-BE" dirty="0"/>
              <a:t>Autres bases: </a:t>
            </a:r>
          </a:p>
          <a:p>
            <a:pPr lvl="1"/>
            <a:r>
              <a:rPr lang="fr-BE" dirty="0"/>
              <a:t>037 (octal); 0x3BFF (hexa); 0b11101010 (binaire)</a:t>
            </a:r>
          </a:p>
          <a:p>
            <a:r>
              <a:rPr lang="fr-BE" dirty="0"/>
              <a:t>Spéciaux : </a:t>
            </a:r>
          </a:p>
          <a:p>
            <a:pPr lvl="1"/>
            <a:r>
              <a:rPr lang="fr-BE" dirty="0" err="1"/>
              <a:t>Infinity</a:t>
            </a:r>
            <a:r>
              <a:rPr lang="fr-BE" dirty="0"/>
              <a:t>; -</a:t>
            </a:r>
            <a:r>
              <a:rPr lang="fr-BE" dirty="0" err="1"/>
              <a:t>Infinity</a:t>
            </a:r>
            <a:r>
              <a:rPr lang="fr-BE" dirty="0"/>
              <a:t>, NaN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EE843B1-1EDC-5353-434E-5317EAD9D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432772"/>
          </a:xfrm>
        </p:spPr>
        <p:txBody>
          <a:bodyPr/>
          <a:lstStyle/>
          <a:p>
            <a:r>
              <a:rPr lang="fr-BE" dirty="0"/>
              <a:t>Opérations sur les nombres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A2B871B-A570-0F15-F625-B3D402087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182762"/>
            <a:ext cx="5183188" cy="4006903"/>
          </a:xfrm>
        </p:spPr>
        <p:txBody>
          <a:bodyPr>
            <a:normAutofit/>
          </a:bodyPr>
          <a:lstStyle/>
          <a:p>
            <a:r>
              <a:rPr lang="fr-BE" dirty="0"/>
              <a:t>Opérateur usuel: </a:t>
            </a:r>
          </a:p>
          <a:p>
            <a:pPr lvl="1"/>
            <a:r>
              <a:rPr lang="fr-BE" dirty="0"/>
              <a:t>+; -; *; / ; ++ ; -- ; &lt; ; &gt;= ; == ; === ; %</a:t>
            </a:r>
          </a:p>
          <a:p>
            <a:r>
              <a:rPr lang="fr-BE" dirty="0"/>
              <a:t>Opérateur de la bibliothèque Math: </a:t>
            </a:r>
          </a:p>
          <a:p>
            <a:pPr lvl="1"/>
            <a:r>
              <a:rPr lang="fr-BE" dirty="0" err="1"/>
              <a:t>Math.Pi</a:t>
            </a:r>
            <a:r>
              <a:rPr lang="fr-BE" dirty="0"/>
              <a:t> ; </a:t>
            </a:r>
            <a:r>
              <a:rPr lang="fr-BE" dirty="0" err="1"/>
              <a:t>Math.abs</a:t>
            </a:r>
            <a:r>
              <a:rPr lang="fr-BE" dirty="0"/>
              <a:t>(x) ; …</a:t>
            </a:r>
          </a:p>
        </p:txBody>
      </p:sp>
    </p:spTree>
    <p:extLst>
      <p:ext uri="{BB962C8B-B14F-4D97-AF65-F5344CB8AC3E}">
        <p14:creationId xmlns:p14="http://schemas.microsoft.com/office/powerpoint/2010/main" val="185728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1931B-1DB5-8CAC-7FE6-4F981381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F5FF10-7FFD-E28C-A32D-3B865EFB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700" dirty="0"/>
              <a:t>Les valeurs primitives et opérations</a:t>
            </a:r>
            <a:endParaRPr lang="fr-BE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D6D89F4-B867-209A-C624-1BAC84F99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432772"/>
          </a:xfrm>
        </p:spPr>
        <p:txBody>
          <a:bodyPr/>
          <a:lstStyle/>
          <a:p>
            <a:r>
              <a:rPr lang="fr-BE" dirty="0" err="1"/>
              <a:t>Litéraux</a:t>
            </a:r>
            <a:r>
              <a:rPr lang="fr-BE" dirty="0"/>
              <a:t> pour les booléens	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2F7540A-1940-3D8E-D50E-8961C9B23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182762"/>
            <a:ext cx="5157787" cy="4006903"/>
          </a:xfrm>
        </p:spPr>
        <p:txBody>
          <a:bodyPr/>
          <a:lstStyle/>
          <a:p>
            <a:r>
              <a:rPr lang="fr-BE" dirty="0" err="1"/>
              <a:t>True</a:t>
            </a:r>
            <a:endParaRPr lang="fr-BE" dirty="0"/>
          </a:p>
          <a:p>
            <a:r>
              <a:rPr lang="fr-BE" dirty="0"/>
              <a:t>False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CF79CD5-5465-5EE7-9C9F-AB6082829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432772"/>
          </a:xfrm>
        </p:spPr>
        <p:txBody>
          <a:bodyPr/>
          <a:lstStyle/>
          <a:p>
            <a:r>
              <a:rPr lang="fr-BE" dirty="0"/>
              <a:t>Opérations sur les booléens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AC40689-68EB-C472-8A41-4840504D2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182762"/>
            <a:ext cx="5183188" cy="4006903"/>
          </a:xfrm>
        </p:spPr>
        <p:txBody>
          <a:bodyPr/>
          <a:lstStyle/>
          <a:p>
            <a:r>
              <a:rPr lang="fr-BE" dirty="0"/>
              <a:t>Opérations standards:</a:t>
            </a:r>
          </a:p>
          <a:p>
            <a:pPr lvl="1"/>
            <a:r>
              <a:rPr lang="fr-BE" dirty="0"/>
              <a:t>!		&amp;&amp; 		||</a:t>
            </a:r>
          </a:p>
          <a:p>
            <a:r>
              <a:rPr lang="fr-BE" dirty="0"/>
              <a:t>Opérations ternaires:</a:t>
            </a:r>
          </a:p>
          <a:p>
            <a:pPr lvl="1"/>
            <a:r>
              <a:rPr lang="fr-BE" dirty="0"/>
              <a:t>Élément + </a:t>
            </a:r>
            <a:r>
              <a:rPr lang="fr-BE" dirty="0" err="1"/>
              <a:t>nbElem</a:t>
            </a:r>
            <a:r>
              <a:rPr lang="fr-BE" dirty="0"/>
              <a:t> &gt; 1 ? « s » : «  »</a:t>
            </a:r>
          </a:p>
        </p:txBody>
      </p:sp>
    </p:spTree>
    <p:extLst>
      <p:ext uri="{BB962C8B-B14F-4D97-AF65-F5344CB8AC3E}">
        <p14:creationId xmlns:p14="http://schemas.microsoft.com/office/powerpoint/2010/main" val="268986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A80F4-5431-9AB8-DD64-AB3B2BC6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D8EFD-8C3E-B51E-02C9-33B68494F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700" dirty="0"/>
              <a:t>Les valeurs primitives et opérations</a:t>
            </a:r>
            <a:endParaRPr lang="fr-BE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9E7859-7DAB-D4DF-E991-5E5FD4DCF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432772"/>
          </a:xfrm>
        </p:spPr>
        <p:txBody>
          <a:bodyPr/>
          <a:lstStyle/>
          <a:p>
            <a:r>
              <a:rPr lang="fr-BE" dirty="0" err="1"/>
              <a:t>Litéraux</a:t>
            </a:r>
            <a:r>
              <a:rPr lang="fr-BE" dirty="0"/>
              <a:t> pour les strings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18B0BD-42FE-49D8-C119-0193B6FA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182762"/>
            <a:ext cx="5157787" cy="4006903"/>
          </a:xfrm>
        </p:spPr>
        <p:txBody>
          <a:bodyPr>
            <a:normAutofit fontScale="55000" lnSpcReduction="20000"/>
          </a:bodyPr>
          <a:lstStyle/>
          <a:p>
            <a:r>
              <a:rPr lang="fr-BE" dirty="0"/>
              <a:t>Chaines standards:</a:t>
            </a:r>
          </a:p>
          <a:p>
            <a:pPr lvl="1"/>
            <a:r>
              <a:rPr lang="fr-BE" dirty="0"/>
              <a:t>« pommes » ‘chaine’ </a:t>
            </a:r>
            <a:br>
              <a:rPr lang="fr-BE" dirty="0"/>
            </a:br>
            <a:r>
              <a:rPr lang="fr-BE" dirty="0"/>
              <a:t>‘&lt;p class=« intro »&gt;…&lt;/p&gt;’</a:t>
            </a:r>
          </a:p>
          <a:p>
            <a:r>
              <a:rPr lang="fr-BE" dirty="0"/>
              <a:t>Caractères échappés:</a:t>
            </a:r>
          </a:p>
          <a:p>
            <a:pPr lvl="1"/>
            <a:r>
              <a:rPr lang="fr-BE" dirty="0"/>
              <a:t>\n 	\t 	\’	 \ »</a:t>
            </a:r>
          </a:p>
          <a:p>
            <a:r>
              <a:rPr lang="fr-BE" dirty="0"/>
              <a:t>Gabarit:</a:t>
            </a:r>
          </a:p>
          <a:p>
            <a:pPr lvl="1"/>
            <a:r>
              <a:rPr lang="fr-BE" dirty="0"/>
              <a:t>`la somme vaut ${nb1+nb2}, cher ${nom}.`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77A1FD1-D5B6-5B74-57EF-9C38878D4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432772"/>
          </a:xfrm>
        </p:spPr>
        <p:txBody>
          <a:bodyPr/>
          <a:lstStyle/>
          <a:p>
            <a:r>
              <a:rPr lang="fr-BE" dirty="0"/>
              <a:t>Opérations sur les strings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210D791-46CF-9E81-C776-6D828B855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182762"/>
            <a:ext cx="5183188" cy="4006903"/>
          </a:xfrm>
        </p:spPr>
        <p:txBody>
          <a:bodyPr>
            <a:normAutofit fontScale="55000" lnSpcReduction="20000"/>
          </a:bodyPr>
          <a:lstStyle/>
          <a:p>
            <a:r>
              <a:rPr lang="fr-BE" dirty="0"/>
              <a:t>Concaténation:</a:t>
            </a:r>
          </a:p>
          <a:p>
            <a:pPr lvl="1"/>
            <a:r>
              <a:rPr lang="fr-BE" dirty="0"/>
              <a:t>« Bonjour,  » + nom</a:t>
            </a:r>
          </a:p>
          <a:p>
            <a:r>
              <a:rPr lang="fr-BE" dirty="0" err="1"/>
              <a:t>Longeur</a:t>
            </a:r>
            <a:r>
              <a:rPr lang="fr-BE" dirty="0"/>
              <a:t>:</a:t>
            </a:r>
          </a:p>
          <a:p>
            <a:pPr lvl="1"/>
            <a:r>
              <a:rPr lang="fr-BE" dirty="0" err="1"/>
              <a:t>Nom.length</a:t>
            </a:r>
            <a:endParaRPr lang="fr-BE" dirty="0"/>
          </a:p>
          <a:p>
            <a:r>
              <a:rPr lang="fr-BE" dirty="0"/>
              <a:t>Extraction:</a:t>
            </a:r>
          </a:p>
          <a:p>
            <a:pPr lvl="1"/>
            <a:r>
              <a:rPr lang="fr-BE" dirty="0"/>
              <a:t>Nom[0] ou </a:t>
            </a:r>
            <a:r>
              <a:rPr lang="fr-BE" dirty="0" err="1"/>
              <a:t>s.charAt</a:t>
            </a:r>
            <a:r>
              <a:rPr lang="fr-BE" dirty="0"/>
              <a:t>(0)</a:t>
            </a:r>
          </a:p>
          <a:p>
            <a:r>
              <a:rPr lang="fr-BE" dirty="0"/>
              <a:t>Immuabilité</a:t>
            </a:r>
          </a:p>
          <a:p>
            <a:r>
              <a:rPr lang="fr-BE" dirty="0"/>
              <a:t>Test:</a:t>
            </a:r>
          </a:p>
          <a:p>
            <a:pPr lvl="1"/>
            <a:r>
              <a:rPr lang="fr-BE" dirty="0" err="1"/>
              <a:t>S.startsWith</a:t>
            </a:r>
            <a:r>
              <a:rPr lang="fr-BE" dirty="0"/>
              <a:t>(deb), …</a:t>
            </a:r>
          </a:p>
          <a:p>
            <a:r>
              <a:rPr lang="fr-BE" dirty="0"/>
              <a:t>Extraction:</a:t>
            </a:r>
          </a:p>
          <a:p>
            <a:pPr lvl="1"/>
            <a:r>
              <a:rPr lang="fr-BE" dirty="0" err="1"/>
              <a:t>S.substr</a:t>
            </a:r>
            <a:r>
              <a:rPr lang="fr-BE" dirty="0"/>
              <a:t>(deb, longueur)</a:t>
            </a:r>
          </a:p>
          <a:p>
            <a:r>
              <a:rPr lang="fr-BE" dirty="0"/>
              <a:t>Recherche:</a:t>
            </a:r>
          </a:p>
          <a:p>
            <a:pPr lvl="1"/>
            <a:r>
              <a:rPr lang="fr-BE" dirty="0" err="1"/>
              <a:t>S.indexOf</a:t>
            </a:r>
            <a:r>
              <a:rPr lang="fr-BE" dirty="0"/>
              <a:t>(partie)</a:t>
            </a:r>
          </a:p>
          <a:p>
            <a:r>
              <a:rPr lang="fr-BE" dirty="0"/>
              <a:t>Décomposition:</a:t>
            </a:r>
          </a:p>
          <a:p>
            <a:pPr lvl="1"/>
            <a:r>
              <a:rPr lang="fr-BE" dirty="0" err="1"/>
              <a:t>S.split</a:t>
            </a:r>
            <a:r>
              <a:rPr lang="fr-BE" dirty="0"/>
              <a:t>(sep)</a:t>
            </a:r>
          </a:p>
        </p:txBody>
      </p:sp>
    </p:spTree>
    <p:extLst>
      <p:ext uri="{BB962C8B-B14F-4D97-AF65-F5344CB8AC3E}">
        <p14:creationId xmlns:p14="http://schemas.microsoft.com/office/powerpoint/2010/main" val="124640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14C9D-6703-23AA-26D5-CFBC1863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50AAC-2046-0276-67EA-FC3FD2277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4E26DE-2341-2495-5ED2-80D63796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Conversions explicites</a:t>
            </a:r>
          </a:p>
          <a:p>
            <a:pPr lvl="1"/>
            <a:r>
              <a:rPr lang="fr-BE" dirty="0" err="1"/>
              <a:t>Number</a:t>
            </a:r>
            <a:r>
              <a:rPr lang="fr-BE" dirty="0"/>
              <a:t>(« 127 »)</a:t>
            </a:r>
          </a:p>
          <a:p>
            <a:pPr lvl="1"/>
            <a:r>
              <a:rPr lang="fr-BE" dirty="0"/>
              <a:t>String(</a:t>
            </a:r>
            <a:r>
              <a:rPr lang="fr-BE" dirty="0" err="1"/>
              <a:t>true</a:t>
            </a:r>
            <a:r>
              <a:rPr lang="fr-BE" dirty="0"/>
              <a:t>)</a:t>
            </a:r>
          </a:p>
          <a:p>
            <a:pPr lvl="1"/>
            <a:r>
              <a:rPr lang="fr-BE" dirty="0" err="1"/>
              <a:t>Booléan</a:t>
            </a:r>
            <a:r>
              <a:rPr lang="fr-BE" dirty="0"/>
              <a:t>(0)</a:t>
            </a:r>
          </a:p>
          <a:p>
            <a:pPr marL="914377" lvl="2" indent="0">
              <a:buNone/>
            </a:pPr>
            <a:r>
              <a:rPr lang="fr-BE" dirty="0">
                <a:sym typeface="Wingdings" panose="05000000000000000000" pitchFamily="2" charset="2"/>
              </a:rPr>
              <a:t> facile</a:t>
            </a:r>
            <a:endParaRPr lang="fr-BE" dirty="0"/>
          </a:p>
          <a:p>
            <a:pPr lvl="1"/>
            <a:r>
              <a:rPr lang="fr-BE" dirty="0" err="1"/>
              <a:t>Number</a:t>
            </a:r>
            <a:r>
              <a:rPr lang="fr-BE" dirty="0"/>
              <a:t>(« 15 + 12 »)</a:t>
            </a:r>
          </a:p>
          <a:p>
            <a:pPr lvl="1"/>
            <a:r>
              <a:rPr lang="fr-BE" dirty="0" err="1"/>
              <a:t>Booléan</a:t>
            </a:r>
            <a:r>
              <a:rPr lang="fr-BE" dirty="0"/>
              <a:t>(-1)</a:t>
            </a:r>
          </a:p>
          <a:p>
            <a:pPr lvl="1"/>
            <a:r>
              <a:rPr lang="fr-BE" dirty="0"/>
              <a:t>String(</a:t>
            </a:r>
            <a:r>
              <a:rPr lang="fr-BE" dirty="0" err="1"/>
              <a:t>undefined</a:t>
            </a:r>
            <a:r>
              <a:rPr lang="fr-BE" dirty="0"/>
              <a:t>)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fr-BE" dirty="0">
                <a:sym typeface="Wingdings" panose="05000000000000000000" pitchFamily="2" charset="2"/>
              </a:rPr>
              <a:t>??? </a:t>
            </a:r>
          </a:p>
          <a:p>
            <a:pPr marL="914377" lvl="2" indent="0">
              <a:buNone/>
            </a:pPr>
            <a:r>
              <a:rPr lang="fr-BE" dirty="0">
                <a:sym typeface="Wingdings" panose="05000000000000000000" pitchFamily="2" charset="2"/>
              </a:rPr>
              <a:t> règle de conversion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58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2B90-7ECA-4726-9CCF-FFEA22EA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9A7F4-68AD-F95C-A9C2-C6CE7884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C6880C-2F4F-72F0-42C9-6DDDE4BC1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Conversions explicites vers un nombre</a:t>
            </a: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16DE51B-4E76-6599-2C75-E9571FA84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049" y="2435381"/>
            <a:ext cx="7201905" cy="363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9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38BC-B2C7-EA7A-0039-F0CC37FC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660832-1FFD-4D71-D69E-A757F149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DDC674-0688-8C6E-4F7D-1E3B52486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Conversions explicites vers un booléen</a:t>
            </a: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6D2DCF4-578E-27EA-C087-095B7ABFB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049" y="2453266"/>
            <a:ext cx="7201905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4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BABE7-B24A-9B85-1F79-4BFB98A8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36868C-1BDD-11F6-7319-F0D295B7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8E6C4D-9A29-CCE1-3168-0A59FB5E1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Conversions explicites vers un string</a:t>
            </a: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F563F76-DB33-4EA8-6434-63CE8E3EC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811" y="2319897"/>
            <a:ext cx="7192379" cy="336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0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102E0-F130-3D30-FCFE-C250052E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68B6F-1541-0DED-ED71-4EE6FC56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301C01-9DA8-E4C0-268F-C9D5E0C6F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Conversions explicites exotiques</a:t>
            </a:r>
          </a:p>
          <a:p>
            <a:pPr lvl="1"/>
            <a:r>
              <a:rPr lang="fr-BE" dirty="0" err="1"/>
              <a:t>parseFloat</a:t>
            </a:r>
            <a:r>
              <a:rPr lang="fr-BE" dirty="0"/>
              <a:t>(s) : convertit s en string, supprime les blancs initiaux et transforme en nombre le plus long préfixe possible</a:t>
            </a:r>
          </a:p>
          <a:p>
            <a:pPr lvl="2"/>
            <a:r>
              <a:rPr lang="fr-BE" dirty="0" err="1"/>
              <a:t>parseFloat</a:t>
            </a:r>
            <a:r>
              <a:rPr lang="fr-BE" dirty="0"/>
              <a:t>(</a:t>
            </a:r>
            <a:r>
              <a:rPr lang="fr-BE" dirty="0" err="1"/>
              <a:t>true</a:t>
            </a:r>
            <a:r>
              <a:rPr lang="fr-BE" dirty="0"/>
              <a:t>) → </a:t>
            </a:r>
            <a:r>
              <a:rPr lang="fr-BE" dirty="0" err="1"/>
              <a:t>parseFloat</a:t>
            </a:r>
            <a:r>
              <a:rPr lang="fr-BE" dirty="0"/>
              <a:t>("</a:t>
            </a:r>
            <a:r>
              <a:rPr lang="fr-BE" dirty="0" err="1"/>
              <a:t>true</a:t>
            </a:r>
            <a:r>
              <a:rPr lang="fr-BE" dirty="0"/>
              <a:t>") → NaN</a:t>
            </a:r>
          </a:p>
          <a:p>
            <a:pPr lvl="2"/>
            <a:r>
              <a:rPr lang="fr-BE" dirty="0" err="1"/>
              <a:t>parseFloat</a:t>
            </a:r>
            <a:r>
              <a:rPr lang="fr-BE" dirty="0"/>
              <a:t>("") → NaN</a:t>
            </a:r>
          </a:p>
          <a:p>
            <a:pPr lvl="2"/>
            <a:r>
              <a:rPr lang="fr-BE" dirty="0" err="1"/>
              <a:t>parseFloat</a:t>
            </a:r>
            <a:r>
              <a:rPr lang="fr-BE" dirty="0"/>
              <a:t>("123piano") → 123</a:t>
            </a:r>
          </a:p>
          <a:p>
            <a:pPr lvl="1"/>
            <a:r>
              <a:rPr lang="fr-BE" dirty="0" err="1"/>
              <a:t>parseInt</a:t>
            </a:r>
            <a:r>
              <a:rPr lang="fr-BE" dirty="0"/>
              <a:t>(</a:t>
            </a:r>
            <a:r>
              <a:rPr lang="fr-BE" dirty="0" err="1"/>
              <a:t>s,base</a:t>
            </a:r>
            <a:r>
              <a:rPr lang="fr-BE" dirty="0"/>
              <a:t>) : idem mais pour un entier dans une base donnée</a:t>
            </a:r>
          </a:p>
          <a:p>
            <a:pPr lvl="2"/>
            <a:r>
              <a:rPr lang="fr-BE" dirty="0" err="1"/>
              <a:t>parseInt</a:t>
            </a:r>
            <a:r>
              <a:rPr lang="fr-BE" dirty="0"/>
              <a:t>(</a:t>
            </a:r>
            <a:r>
              <a:rPr lang="fr-BE" dirty="0" err="1"/>
              <a:t>true</a:t>
            </a:r>
            <a:r>
              <a:rPr lang="fr-BE" dirty="0"/>
              <a:t>, 6) → NaN</a:t>
            </a:r>
          </a:p>
          <a:p>
            <a:pPr lvl="2"/>
            <a:r>
              <a:rPr lang="fr-BE" dirty="0" err="1"/>
              <a:t>parseInt</a:t>
            </a:r>
            <a:r>
              <a:rPr lang="fr-BE" dirty="0"/>
              <a:t>(" 17.12") → 17</a:t>
            </a:r>
          </a:p>
        </p:txBody>
      </p:sp>
    </p:spTree>
    <p:extLst>
      <p:ext uri="{BB962C8B-B14F-4D97-AF65-F5344CB8AC3E}">
        <p14:creationId xmlns:p14="http://schemas.microsoft.com/office/powerpoint/2010/main" val="83695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52C2-CA77-FBC7-1C2C-E0E767E4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0FC7AD-B127-E557-25B5-D2F99D54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DE358E-69B6-8593-8453-D2A657AD1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Conversions implicites</a:t>
            </a:r>
          </a:p>
          <a:p>
            <a:pPr lvl="1"/>
            <a:r>
              <a:rPr lang="fr-BE" dirty="0"/>
              <a:t>Certaines opérations n’ont de sens que pour un type de valeurs.</a:t>
            </a:r>
          </a:p>
          <a:p>
            <a:pPr lvl="2"/>
            <a:r>
              <a:rPr lang="fr-BE" dirty="0"/>
              <a:t>Ex: x * y</a:t>
            </a:r>
          </a:p>
          <a:p>
            <a:pPr lvl="1"/>
            <a:r>
              <a:rPr lang="fr-BE" dirty="0"/>
              <a:t>Si à l’exécution, x et y contiennent autre chose que des nombres, JS les convertit implicitement en nombres.</a:t>
            </a:r>
          </a:p>
          <a:p>
            <a:pPr lvl="2"/>
            <a:r>
              <a:rPr lang="fr-BE" dirty="0"/>
              <a:t>Ex: false * "</a:t>
            </a:r>
            <a:r>
              <a:rPr lang="fr-BE" dirty="0" err="1"/>
              <a:t>true</a:t>
            </a:r>
            <a:r>
              <a:rPr lang="fr-BE" dirty="0"/>
              <a:t>" → 0 * NaN → NaN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2064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F87E-E8F8-3506-3E88-F30F5861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AFB08-064E-5794-B157-9186088F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B46400-61BB-89C0-E61C-60A979FF0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Conversions implicites pour une addition</a:t>
            </a:r>
          </a:p>
          <a:p>
            <a:pPr lvl="1"/>
            <a:r>
              <a:rPr lang="fr-BE" dirty="0"/>
              <a:t>Si au moins un string </a:t>
            </a:r>
            <a:r>
              <a:rPr lang="fr-BE" dirty="0">
                <a:sym typeface="Wingdings" panose="05000000000000000000" pitchFamily="2" charset="2"/>
              </a:rPr>
              <a:t> convertit en string et concatène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Sinon  convertit en nombre et additionne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Ex : </a:t>
            </a:r>
          </a:p>
          <a:p>
            <a:pPr lvl="2"/>
            <a:r>
              <a:rPr lang="fr-BE" dirty="0"/>
              <a:t>3 + « 2 »→ « 32 »</a:t>
            </a:r>
          </a:p>
          <a:p>
            <a:pPr lvl="2"/>
            <a:r>
              <a:rPr lang="fr-BE" dirty="0"/>
              <a:t>3 – « 2 »  → 1</a:t>
            </a:r>
          </a:p>
          <a:p>
            <a:pPr lvl="2"/>
            <a:r>
              <a:rPr lang="fr-BE" dirty="0"/>
              <a:t>"15" + "1"→ "151"</a:t>
            </a:r>
          </a:p>
          <a:p>
            <a:pPr lvl="2"/>
            <a:r>
              <a:rPr lang="fr-BE" dirty="0"/>
              <a:t>7 + </a:t>
            </a:r>
            <a:r>
              <a:rPr lang="fr-BE" dirty="0" err="1"/>
              <a:t>true</a:t>
            </a:r>
            <a:r>
              <a:rPr lang="fr-BE" dirty="0"/>
              <a:t> → 8</a:t>
            </a:r>
          </a:p>
          <a:p>
            <a:pPr lvl="2"/>
            <a:endParaRPr lang="fr-BE" dirty="0"/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5822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8691-AC00-FE50-30A8-B7E8102AE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5AD55-0D11-23F2-1199-F9755BFE7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FC6E13-5C47-BA4A-4DAA-6D27C1CC0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Conversions implicites pour une égalité</a:t>
            </a:r>
          </a:p>
          <a:p>
            <a:pPr lvl="1"/>
            <a:r>
              <a:rPr lang="fr-BE" dirty="0"/>
              <a:t>Si valeurs du même type </a:t>
            </a:r>
            <a:r>
              <a:rPr lang="fr-BE" dirty="0">
                <a:sym typeface="Wingdings" panose="05000000000000000000" pitchFamily="2" charset="2"/>
              </a:rPr>
              <a:t> comparaison simple (sauf NaN, il ne s’égale pas lui-même)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Sinon, s’il y a au moins un </a:t>
            </a:r>
            <a:r>
              <a:rPr lang="fr-BE" dirty="0" err="1">
                <a:sym typeface="Wingdings" panose="05000000000000000000" pitchFamily="2" charset="2"/>
              </a:rPr>
              <a:t>null</a:t>
            </a:r>
            <a:r>
              <a:rPr lang="fr-BE" dirty="0">
                <a:sym typeface="Wingdings" panose="05000000000000000000" pitchFamily="2" charset="2"/>
              </a:rPr>
              <a:t> ou un </a:t>
            </a:r>
            <a:r>
              <a:rPr lang="fr-BE" dirty="0" err="1">
                <a:sym typeface="Wingdings" panose="05000000000000000000" pitchFamily="2" charset="2"/>
              </a:rPr>
              <a:t>undefined</a:t>
            </a:r>
            <a:endParaRPr lang="fr-BE" dirty="0">
              <a:sym typeface="Wingdings" panose="05000000000000000000" pitchFamily="2" charset="2"/>
            </a:endParaRPr>
          </a:p>
          <a:p>
            <a:pPr lvl="2"/>
            <a:r>
              <a:rPr lang="fr-BE" dirty="0" err="1">
                <a:sym typeface="Wingdings" panose="05000000000000000000" pitchFamily="2" charset="2"/>
              </a:rPr>
              <a:t>Null</a:t>
            </a:r>
            <a:r>
              <a:rPr lang="fr-BE" dirty="0">
                <a:sym typeface="Wingdings" panose="05000000000000000000" pitchFamily="2" charset="2"/>
              </a:rPr>
              <a:t> == </a:t>
            </a:r>
            <a:r>
              <a:rPr lang="fr-BE" dirty="0" err="1">
                <a:sym typeface="Wingdings" panose="05000000000000000000" pitchFamily="2" charset="2"/>
              </a:rPr>
              <a:t>undefined</a:t>
            </a:r>
            <a:r>
              <a:rPr lang="fr-BE" dirty="0">
                <a:sym typeface="Wingdings" panose="05000000000000000000" pitchFamily="2" charset="2"/>
              </a:rPr>
              <a:t>  </a:t>
            </a:r>
            <a:r>
              <a:rPr lang="fr-BE" dirty="0" err="1">
                <a:sym typeface="Wingdings" panose="05000000000000000000" pitchFamily="2" charset="2"/>
              </a:rPr>
              <a:t>true</a:t>
            </a:r>
            <a:endParaRPr lang="fr-BE" dirty="0">
              <a:sym typeface="Wingdings" panose="05000000000000000000" pitchFamily="2" charset="2"/>
            </a:endParaRPr>
          </a:p>
          <a:p>
            <a:pPr lvl="2"/>
            <a:r>
              <a:rPr lang="fr-BE" dirty="0">
                <a:sym typeface="Wingdings" panose="05000000000000000000" pitchFamily="2" charset="2"/>
              </a:rPr>
              <a:t>Tous les </a:t>
            </a:r>
            <a:r>
              <a:rPr lang="fr-BE" dirty="0" err="1">
                <a:sym typeface="Wingdings" panose="05000000000000000000" pitchFamily="2" charset="2"/>
              </a:rPr>
              <a:t>aures</a:t>
            </a:r>
            <a:r>
              <a:rPr lang="fr-BE" dirty="0">
                <a:sym typeface="Wingdings" panose="05000000000000000000" pitchFamily="2" charset="2"/>
              </a:rPr>
              <a:t>  false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Sinon tous convertir en nombres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Ex: </a:t>
            </a:r>
          </a:p>
          <a:p>
            <a:pPr lvl="2"/>
            <a:r>
              <a:rPr lang="fr-BE" dirty="0"/>
              <a:t>"4" == </a:t>
            </a:r>
            <a:r>
              <a:rPr lang="fr-BE" dirty="0" err="1"/>
              <a:t>true</a:t>
            </a:r>
            <a:r>
              <a:rPr lang="fr-BE" dirty="0"/>
              <a:t> → false "" == "0" → false</a:t>
            </a:r>
          </a:p>
          <a:p>
            <a:pPr lvl="2"/>
            <a:r>
              <a:rPr lang="fr-BE" dirty="0"/>
              <a:t>5 == "5" → </a:t>
            </a:r>
            <a:r>
              <a:rPr lang="fr-BE" dirty="0" err="1"/>
              <a:t>true</a:t>
            </a:r>
            <a:r>
              <a:rPr lang="fr-BE" dirty="0"/>
              <a:t> 0 == "0" → </a:t>
            </a:r>
            <a:r>
              <a:rPr lang="fr-BE" dirty="0" err="1"/>
              <a:t>true</a:t>
            </a:r>
            <a:endParaRPr lang="fr-BE" dirty="0"/>
          </a:p>
          <a:p>
            <a:pPr lvl="2"/>
            <a:r>
              <a:rPr lang="fr-BE" dirty="0"/>
              <a:t>'2' == 2 → </a:t>
            </a:r>
            <a:r>
              <a:rPr lang="fr-BE" dirty="0" err="1"/>
              <a:t>true</a:t>
            </a:r>
            <a:r>
              <a:rPr lang="fr-BE" dirty="0"/>
              <a:t> false == </a:t>
            </a:r>
            <a:r>
              <a:rPr lang="fr-BE" dirty="0" err="1"/>
              <a:t>undefined</a:t>
            </a:r>
            <a:r>
              <a:rPr lang="fr-BE" dirty="0"/>
              <a:t> → false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1977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428B-C726-1BBB-D4C8-06A75998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AA9479-884F-C954-C2A7-159974622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27F166-EAB1-730D-A4B6-053FEEE1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Conversions implicites pour une égalité stricte</a:t>
            </a:r>
          </a:p>
          <a:p>
            <a:pPr lvl="1"/>
            <a:r>
              <a:rPr lang="fr-BE" dirty="0"/>
              <a:t>Donne automatiquement false si les types sont différents</a:t>
            </a:r>
          </a:p>
          <a:p>
            <a:pPr lvl="2"/>
            <a:r>
              <a:rPr lang="fr-BE" dirty="0"/>
              <a:t>Ex:</a:t>
            </a:r>
          </a:p>
          <a:p>
            <a:pPr lvl="3"/>
            <a:r>
              <a:rPr lang="fr-BE" dirty="0"/>
              <a:t>33 === "33" → false</a:t>
            </a:r>
          </a:p>
          <a:p>
            <a:pPr lvl="3"/>
            <a:r>
              <a:rPr lang="fr-BE" dirty="0" err="1"/>
              <a:t>null</a:t>
            </a:r>
            <a:r>
              <a:rPr lang="fr-BE" dirty="0"/>
              <a:t> === </a:t>
            </a:r>
            <a:r>
              <a:rPr lang="fr-BE" dirty="0" err="1"/>
              <a:t>undefined</a:t>
            </a:r>
            <a:r>
              <a:rPr lang="fr-BE" dirty="0"/>
              <a:t> → false</a:t>
            </a:r>
          </a:p>
          <a:p>
            <a:pPr lvl="3"/>
            <a:r>
              <a:rPr lang="fr-BE" dirty="0"/>
              <a:t>NaN === NaN → false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8631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88445-DFD9-07F7-793D-398B6433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3A87DB-DD1A-E66A-CA2E-9DB3C53D1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455AB8-38DC-9B23-5291-0D3B13491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Conversions implicites pour l’opérateur &lt;</a:t>
            </a:r>
          </a:p>
          <a:p>
            <a:pPr lvl="1"/>
            <a:r>
              <a:rPr lang="fr-BE" dirty="0"/>
              <a:t>Si 2 strings </a:t>
            </a:r>
            <a:r>
              <a:rPr lang="fr-BE" dirty="0">
                <a:sym typeface="Wingdings" panose="05000000000000000000" pitchFamily="2" charset="2"/>
              </a:rPr>
              <a:t> comparaisons lexicographique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Sinon  convertir en nombres et comparer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Ex: </a:t>
            </a:r>
          </a:p>
          <a:p>
            <a:pPr lvl="2"/>
            <a:r>
              <a:rPr lang="da-DK" dirty="0"/>
              <a:t>31 &lt; "274"→ true</a:t>
            </a:r>
          </a:p>
          <a:p>
            <a:pPr lvl="2"/>
            <a:r>
              <a:rPr lang="da-DK" dirty="0"/>
              <a:t>"147" &lt; "25"→ true</a:t>
            </a:r>
          </a:p>
          <a:p>
            <a:pPr lvl="2"/>
            <a:r>
              <a:rPr lang="da-DK" dirty="0"/>
              <a:t>"150" &lt; 99 → false</a:t>
            </a:r>
            <a:endParaRPr lang="fr-BE" dirty="0"/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8983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CAB1C-7988-B5FD-CE9F-82DB26FC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AA745-932C-0AD5-74CC-0A8669D4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400" dirty="0"/>
              <a:t>Conversions de 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882628-4A97-FCF8-AA1C-E533A7713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fr-BE" dirty="0"/>
              <a:t>Les conversions implicites rendent le code difficile à comprendre.</a:t>
            </a:r>
          </a:p>
          <a:p>
            <a:pPr lvl="2"/>
            <a:r>
              <a:rPr lang="fr-BE" dirty="0"/>
              <a:t>Règles complexe</a:t>
            </a:r>
          </a:p>
          <a:p>
            <a:pPr lvl="2"/>
            <a:r>
              <a:rPr lang="fr-BE" dirty="0"/>
              <a:t>Règles difficiles à retenir quand on jongle avec plusieurs langages</a:t>
            </a:r>
          </a:p>
          <a:p>
            <a:pPr lvl="2"/>
            <a:endParaRPr lang="fr-BE" dirty="0"/>
          </a:p>
          <a:p>
            <a:pPr lvl="1"/>
            <a:r>
              <a:rPr lang="fr-BE" dirty="0"/>
              <a:t>En clean code, on évite. Convertissez explicitement.</a:t>
            </a:r>
          </a:p>
          <a:p>
            <a:pPr lvl="1"/>
            <a:r>
              <a:rPr lang="fr-BE" dirty="0"/>
              <a:t>Evitez aussi ==. Préférez ===</a:t>
            </a:r>
          </a:p>
        </p:txBody>
      </p:sp>
    </p:spTree>
    <p:extLst>
      <p:ext uri="{BB962C8B-B14F-4D97-AF65-F5344CB8AC3E}">
        <p14:creationId xmlns:p14="http://schemas.microsoft.com/office/powerpoint/2010/main" val="410581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B46AF-BEA9-30FB-8974-6A65E7F5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0D6711-F833-38F2-8B17-E45ADCE9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800" dirty="0"/>
              <a:t>Les opérations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1F22D5-1641-852A-EF0C-EEDB9273F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Affectations</a:t>
            </a:r>
          </a:p>
          <a:p>
            <a:pPr lvl="1"/>
            <a:r>
              <a:rPr lang="fr-BE" dirty="0"/>
              <a:t>Version standard</a:t>
            </a:r>
          </a:p>
          <a:p>
            <a:pPr lvl="2"/>
            <a:r>
              <a:rPr lang="fr-BE" dirty="0" err="1"/>
              <a:t>VitesseKmH</a:t>
            </a:r>
            <a:r>
              <a:rPr lang="fr-BE" dirty="0"/>
              <a:t> = 90;</a:t>
            </a:r>
          </a:p>
          <a:p>
            <a:pPr lvl="1"/>
            <a:r>
              <a:rPr lang="fr-BE" dirty="0"/>
              <a:t>Version raccourcie</a:t>
            </a:r>
          </a:p>
          <a:p>
            <a:pPr lvl="2"/>
            <a:r>
              <a:rPr lang="fr-BE" dirty="0" err="1"/>
              <a:t>nbElements</a:t>
            </a:r>
            <a:r>
              <a:rPr lang="fr-BE" dirty="0"/>
              <a:t> ++;</a:t>
            </a:r>
          </a:p>
          <a:p>
            <a:pPr lvl="1"/>
            <a:r>
              <a:rPr lang="fr-BE" dirty="0"/>
              <a:t>Une affectation c’est une opération qui donne une valeur à une variable</a:t>
            </a:r>
          </a:p>
        </p:txBody>
      </p:sp>
    </p:spTree>
    <p:extLst>
      <p:ext uri="{BB962C8B-B14F-4D97-AF65-F5344CB8AC3E}">
        <p14:creationId xmlns:p14="http://schemas.microsoft.com/office/powerpoint/2010/main" val="411584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B22AC-DFF1-1B03-5BF1-88A78A40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55E22-F1BF-59E1-D121-A131330C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800" dirty="0"/>
              <a:t>Les opérations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9D1BC5-DF7A-C25E-CC80-3755A393A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Opérateur </a:t>
            </a:r>
            <a:r>
              <a:rPr lang="fr-FR" dirty="0" err="1"/>
              <a:t>Typeof</a:t>
            </a:r>
            <a:endParaRPr lang="fr-FR" dirty="0"/>
          </a:p>
          <a:p>
            <a:pPr lvl="1"/>
            <a:r>
              <a:rPr lang="fr-FR" dirty="0"/>
              <a:t>Indique le type de son argument</a:t>
            </a:r>
          </a:p>
          <a:p>
            <a:pPr lvl="1"/>
            <a:r>
              <a:rPr lang="fr-FR" dirty="0"/>
              <a:t>Renvoie </a:t>
            </a:r>
            <a:r>
              <a:rPr lang="fr-FR" dirty="0" err="1"/>
              <a:t>undefined</a:t>
            </a:r>
            <a:r>
              <a:rPr lang="fr-FR" dirty="0"/>
              <a:t> si la variable n’existe pas</a:t>
            </a:r>
          </a:p>
          <a:p>
            <a:pPr lvl="1"/>
            <a:r>
              <a:rPr lang="fr-FR" dirty="0"/>
              <a:t>Ex:</a:t>
            </a:r>
          </a:p>
          <a:p>
            <a:pPr lvl="2"/>
            <a:r>
              <a:rPr lang="fr-BE" dirty="0" err="1"/>
              <a:t>typeof</a:t>
            </a:r>
            <a:r>
              <a:rPr lang="fr-BE" dirty="0"/>
              <a:t> 12 donne « </a:t>
            </a:r>
            <a:r>
              <a:rPr lang="fr-BE" dirty="0" err="1"/>
              <a:t>number</a:t>
            </a:r>
            <a:r>
              <a:rPr lang="fr-BE" dirty="0"/>
              <a:t> »</a:t>
            </a:r>
          </a:p>
          <a:p>
            <a:r>
              <a:rPr lang="fr-FR" dirty="0"/>
              <a:t>Opérateur </a:t>
            </a:r>
            <a:r>
              <a:rPr lang="fr-BE" dirty="0" err="1"/>
              <a:t>Void</a:t>
            </a:r>
            <a:endParaRPr lang="fr-BE" dirty="0"/>
          </a:p>
          <a:p>
            <a:pPr lvl="1"/>
            <a:r>
              <a:rPr lang="fr-BE" dirty="0"/>
              <a:t>Il évalue son argument mais ne renvoie pas sa valeur.</a:t>
            </a:r>
          </a:p>
          <a:p>
            <a:pPr lvl="1"/>
            <a:r>
              <a:rPr lang="fr-BE" dirty="0"/>
              <a:t>Ex: </a:t>
            </a:r>
          </a:p>
          <a:p>
            <a:pPr lvl="2"/>
            <a:r>
              <a:rPr lang="fr-BE" dirty="0"/>
              <a:t>&lt;a href="</a:t>
            </a:r>
            <a:r>
              <a:rPr lang="fr-BE" dirty="0" err="1"/>
              <a:t>javascript:void</a:t>
            </a:r>
            <a:r>
              <a:rPr lang="fr-BE" dirty="0"/>
              <a:t>(0)"&gt;Ne rien faire&lt;/a&gt;</a:t>
            </a:r>
          </a:p>
          <a:p>
            <a:pPr lvl="2"/>
            <a:r>
              <a:rPr lang="fr-BE" dirty="0"/>
              <a:t>&lt;a href="</a:t>
            </a:r>
            <a:r>
              <a:rPr lang="fr-BE" dirty="0" err="1"/>
              <a:t>javascript:void</a:t>
            </a:r>
            <a:r>
              <a:rPr lang="fr-BE" dirty="0"/>
              <a:t>(</a:t>
            </a:r>
            <a:r>
              <a:rPr lang="fr-BE" dirty="0" err="1"/>
              <a:t>document.form.submit</a:t>
            </a:r>
            <a:r>
              <a:rPr lang="fr-BE" dirty="0"/>
              <a:t>())"&gt;Envoyer le formulaire&lt;/a&gt;</a:t>
            </a:r>
          </a:p>
        </p:txBody>
      </p:sp>
    </p:spTree>
    <p:extLst>
      <p:ext uri="{BB962C8B-B14F-4D97-AF65-F5344CB8AC3E}">
        <p14:creationId xmlns:p14="http://schemas.microsoft.com/office/powerpoint/2010/main" val="150814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47B4-05A2-10D5-162E-A41422D5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7ACD02-ACFC-471F-97DC-E838B5CB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800" dirty="0"/>
              <a:t>Les opérations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6BFE5C-2E27-8632-DF3D-A391D6A70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Opérateur ||</a:t>
            </a:r>
          </a:p>
          <a:p>
            <a:pPr lvl="1"/>
            <a:r>
              <a:rPr lang="fr-FR" dirty="0"/>
              <a:t>Sémantique de l’opération A || B</a:t>
            </a:r>
          </a:p>
          <a:p>
            <a:pPr lvl="2"/>
            <a:r>
              <a:rPr lang="fr-FR" dirty="0"/>
              <a:t>On évalue l’expression A</a:t>
            </a:r>
          </a:p>
          <a:p>
            <a:pPr lvl="2"/>
            <a:r>
              <a:rPr lang="fr-FR" dirty="0"/>
              <a:t>Si A converti en booléen donne </a:t>
            </a:r>
            <a:r>
              <a:rPr lang="fr-FR" dirty="0" err="1"/>
              <a:t>true</a:t>
            </a:r>
            <a:r>
              <a:rPr lang="fr-FR" dirty="0"/>
              <a:t>, le résultat est A.</a:t>
            </a:r>
          </a:p>
          <a:p>
            <a:pPr lvl="2"/>
            <a:r>
              <a:rPr lang="fr-FR" dirty="0"/>
              <a:t>Sinon le résultat est la valeur de B.</a:t>
            </a:r>
          </a:p>
          <a:p>
            <a:pPr lvl="2"/>
            <a:r>
              <a:rPr lang="fr-FR" dirty="0"/>
              <a:t>Ex: </a:t>
            </a:r>
          </a:p>
          <a:p>
            <a:pPr lvl="3"/>
            <a:r>
              <a:rPr lang="fr-FR" dirty="0"/>
              <a:t>(12 + 5) || « erreur » </a:t>
            </a:r>
            <a:r>
              <a:rPr lang="fr-FR" dirty="0">
                <a:sym typeface="Wingdings" panose="05000000000000000000" pitchFamily="2" charset="2"/>
              </a:rPr>
              <a:t> 17 || « erreur »  17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«  » || 33  33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Valeurs « </a:t>
            </a:r>
            <a:r>
              <a:rPr lang="fr-FR" dirty="0" err="1">
                <a:sym typeface="Wingdings" panose="05000000000000000000" pitchFamily="2" charset="2"/>
              </a:rPr>
              <a:t>falsy</a:t>
            </a:r>
            <a:r>
              <a:rPr lang="fr-FR" dirty="0">
                <a:sym typeface="Wingdings" panose="05000000000000000000" pitchFamily="2" charset="2"/>
              </a:rPr>
              <a:t> »: false, </a:t>
            </a:r>
            <a:r>
              <a:rPr lang="fr-FR" dirty="0" err="1">
                <a:sym typeface="Wingdings" panose="05000000000000000000" pitchFamily="2" charset="2"/>
              </a:rPr>
              <a:t>undefined</a:t>
            </a:r>
            <a:r>
              <a:rPr lang="fr-FR" dirty="0">
                <a:sym typeface="Wingdings" panose="05000000000000000000" pitchFamily="2" charset="2"/>
              </a:rPr>
              <a:t>, null,0, NaN et «  »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Utilité: définir une valeur par défaut</a:t>
            </a:r>
            <a:endParaRPr lang="fr-BE" dirty="0">
              <a:sym typeface="Wingdings" panose="05000000000000000000" pitchFamily="2" charset="2"/>
            </a:endParaRPr>
          </a:p>
          <a:p>
            <a:pPr lvl="3"/>
            <a:r>
              <a:rPr lang="fr-BE" dirty="0">
                <a:sym typeface="Wingdings" panose="05000000000000000000" pitchFamily="2" charset="2"/>
              </a:rPr>
              <a:t>Ex : </a:t>
            </a:r>
            <a:endParaRPr lang="fr-FR" dirty="0">
              <a:sym typeface="Wingdings" panose="05000000000000000000" pitchFamily="2" charset="2"/>
            </a:endParaRPr>
          </a:p>
        </p:txBody>
      </p:sp>
      <p:pic>
        <p:nvPicPr>
          <p:cNvPr id="5" name="Image 4" descr="Une image contenant texte, Police, écriture manuscrite, ligne&#10;&#10;Le contenu généré par l’IA peut être incorrect.">
            <a:extLst>
              <a:ext uri="{FF2B5EF4-FFF2-40B4-BE49-F238E27FC236}">
                <a16:creationId xmlns:a16="http://schemas.microsoft.com/office/drawing/2014/main" id="{6A2D9380-2D83-AA0F-2981-AC74A92A9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7" y="5406873"/>
            <a:ext cx="3639059" cy="108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1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259A4-4F39-A45F-C75A-F7D0713A0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E2E339-DE29-B839-DAAC-BC5DB85C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Chapitre 5 – Variables et valeurs</a:t>
            </a:r>
            <a:br>
              <a:rPr lang="fr-BE" dirty="0"/>
            </a:br>
            <a:r>
              <a:rPr lang="fr-BE" sz="2800" dirty="0"/>
              <a:t>Les opérations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F050C9-9484-A828-816B-5D86C7462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Opérateur &amp;&amp;</a:t>
            </a:r>
          </a:p>
          <a:p>
            <a:pPr lvl="1"/>
            <a:r>
              <a:rPr lang="fr-FR" dirty="0"/>
              <a:t>Sémantique de l’opérateur logique A &amp;&amp; B</a:t>
            </a:r>
          </a:p>
          <a:p>
            <a:pPr lvl="2"/>
            <a:r>
              <a:rPr lang="fr-FR" dirty="0"/>
              <a:t>On évalue l’expression A.</a:t>
            </a:r>
          </a:p>
          <a:p>
            <a:pPr lvl="2"/>
            <a:r>
              <a:rPr lang="fr-FR" dirty="0"/>
              <a:t>Si A convertit en booléen donne false, le résultat est A.</a:t>
            </a:r>
          </a:p>
          <a:p>
            <a:pPr lvl="2"/>
            <a:r>
              <a:rPr lang="fr-FR" dirty="0"/>
              <a:t>Sinon le résultat est la valeur de B.</a:t>
            </a:r>
          </a:p>
          <a:p>
            <a:pPr lvl="2"/>
            <a:r>
              <a:rPr lang="fr-FR" dirty="0"/>
              <a:t>Ex : </a:t>
            </a:r>
          </a:p>
          <a:p>
            <a:pPr lvl="3"/>
            <a:r>
              <a:rPr lang="fr-FR" dirty="0"/>
              <a:t>(12+5) &amp;&amp; « ok » </a:t>
            </a:r>
            <a:r>
              <a:rPr lang="fr-FR" dirty="0">
                <a:sym typeface="Wingdings" panose="05000000000000000000" pitchFamily="2" charset="2"/>
              </a:rPr>
              <a:t> 17 &amp;&amp; « ok »  « ok »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Undefined</a:t>
            </a:r>
            <a:r>
              <a:rPr lang="fr-FR" dirty="0">
                <a:sym typeface="Wingdings" panose="05000000000000000000" pitchFamily="2" charset="2"/>
              </a:rPr>
              <a:t> &amp;&amp; 33  </a:t>
            </a:r>
            <a:r>
              <a:rPr lang="fr-FR" dirty="0" err="1">
                <a:sym typeface="Wingdings" panose="05000000000000000000" pitchFamily="2" charset="2"/>
              </a:rPr>
              <a:t>undefined</a:t>
            </a:r>
            <a:endParaRPr lang="fr-FR" dirty="0">
              <a:sym typeface="Wingdings" panose="05000000000000000000" pitchFamily="2" charset="2"/>
            </a:endParaRPr>
          </a:p>
          <a:p>
            <a:pPr lvl="2"/>
            <a:r>
              <a:rPr lang="fr-FR" dirty="0">
                <a:sym typeface="Wingdings" panose="05000000000000000000" pitchFamily="2" charset="2"/>
              </a:rPr>
              <a:t>Utilité: écrire des conditions d’existence.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Ex: 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if(popup &amp;&amp; </a:t>
            </a:r>
            <a:r>
              <a:rPr lang="fr-FR" dirty="0" err="1">
                <a:sym typeface="Wingdings" panose="05000000000000000000" pitchFamily="2" charset="2"/>
              </a:rPr>
              <a:t>popup.visible</a:t>
            </a:r>
            <a:r>
              <a:rPr lang="fr-FR" dirty="0">
                <a:sym typeface="Wingdings" panose="05000000000000000000" pitchFamily="2" charset="2"/>
              </a:rPr>
              <a:t>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0497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1175</TotalTime>
  <Words>2926</Words>
  <Application>Microsoft Office PowerPoint</Application>
  <PresentationFormat>Grand écran</PresentationFormat>
  <Paragraphs>463</Paragraphs>
  <Slides>52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Wingdings</vt:lpstr>
      <vt:lpstr>Thème Office</vt:lpstr>
      <vt:lpstr>Module 1 – Programmation web Frontend</vt:lpstr>
      <vt:lpstr>Planning</vt:lpstr>
      <vt:lpstr>Chapitre 5</vt:lpstr>
      <vt:lpstr>Chapitre 5</vt:lpstr>
      <vt:lpstr>Chapitre 5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Introduction Javascript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</vt:lpstr>
      <vt:lpstr>Chapitre 5 – Variables et valeurs Les valeurs primitives et opérations</vt:lpstr>
      <vt:lpstr>Chapitre 5 – Variables et valeurs Les valeurs primitives et opérations</vt:lpstr>
      <vt:lpstr>Chapitre 5 – Variables et valeurs Les valeurs primitives et opérations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Conversions de types</vt:lpstr>
      <vt:lpstr>Chapitre 5 – Variables et valeurs Les opérations</vt:lpstr>
      <vt:lpstr>Chapitre 5 – Variables et valeurs Les opérations</vt:lpstr>
      <vt:lpstr>Chapitre 5 – Variables et valeurs Les opérations</vt:lpstr>
      <vt:lpstr>Chapitre 5 – Variables et valeurs Les opérations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18</cp:revision>
  <dcterms:created xsi:type="dcterms:W3CDTF">2025-11-27T18:08:15Z</dcterms:created>
  <dcterms:modified xsi:type="dcterms:W3CDTF">2025-12-03T19:03:53Z</dcterms:modified>
</cp:coreProperties>
</file>