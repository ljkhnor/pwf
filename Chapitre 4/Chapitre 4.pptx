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36_5AA75CA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89" r:id="rId4"/>
    <p:sldId id="258" r:id="rId5"/>
    <p:sldId id="259" r:id="rId6"/>
    <p:sldId id="260" r:id="rId7"/>
    <p:sldId id="294" r:id="rId8"/>
    <p:sldId id="261" r:id="rId9"/>
    <p:sldId id="317" r:id="rId10"/>
    <p:sldId id="318" r:id="rId11"/>
    <p:sldId id="319" r:id="rId12"/>
    <p:sldId id="320" r:id="rId13"/>
    <p:sldId id="290" r:id="rId14"/>
    <p:sldId id="321" r:id="rId15"/>
    <p:sldId id="322" r:id="rId16"/>
    <p:sldId id="323" r:id="rId17"/>
    <p:sldId id="324" r:id="rId18"/>
    <p:sldId id="262" r:id="rId19"/>
    <p:sldId id="295" r:id="rId20"/>
    <p:sldId id="296" r:id="rId21"/>
    <p:sldId id="291" r:id="rId22"/>
    <p:sldId id="297" r:id="rId23"/>
    <p:sldId id="292" r:id="rId24"/>
    <p:sldId id="293" r:id="rId25"/>
    <p:sldId id="299" r:id="rId26"/>
    <p:sldId id="298" r:id="rId27"/>
    <p:sldId id="300" r:id="rId28"/>
    <p:sldId id="263" r:id="rId29"/>
    <p:sldId id="264" r:id="rId30"/>
    <p:sldId id="301" r:id="rId31"/>
    <p:sldId id="302" r:id="rId32"/>
    <p:sldId id="303" r:id="rId33"/>
    <p:sldId id="304" r:id="rId34"/>
    <p:sldId id="266" r:id="rId35"/>
    <p:sldId id="310" r:id="rId36"/>
    <p:sldId id="305" r:id="rId37"/>
    <p:sldId id="311" r:id="rId38"/>
    <p:sldId id="312" r:id="rId39"/>
    <p:sldId id="313" r:id="rId40"/>
    <p:sldId id="314" r:id="rId41"/>
    <p:sldId id="307" r:id="rId42"/>
    <p:sldId id="306" r:id="rId43"/>
    <p:sldId id="309" r:id="rId44"/>
    <p:sldId id="315" r:id="rId45"/>
    <p:sldId id="316" r:id="rId46"/>
    <p:sldId id="325" r:id="rId47"/>
    <p:sldId id="326" r:id="rId4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89D0A9-43A6-AEC0-2DAC-61E403DAB944}" name="joachim lejeune" initials="jl" userId="d5e5db10bef01fd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omments/modernComment_136_5AA75C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A5A7D4-67B0-45EE-83FD-6315DA37A23C}" authorId="{3F89D0A9-43A6-AEC0-2DAC-61E403DAB944}" created="2025-11-19T18:09:27.1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20917669" sldId="310"/>
      <ac:picMk id="5" creationId="{F909FBB8-95FB-DBC2-BFDE-DEB634368FA5}"/>
    </ac:deMkLst>
    <p188:txBody>
      <a:bodyPr/>
      <a:lstStyle/>
      <a:p>
        <a:r>
          <a:rPr lang="fr-BE"/>
          <a:t>Prendre l’exemple d’un hotfix en production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B4D9B-4D0F-4330-BE60-A3BB8C2FF8A7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E29D9-7A4F-4EB6-9A63-81A63F8F1FC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039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Prendre l’exemple d’un </a:t>
            </a:r>
            <a:r>
              <a:rPr lang="fr-FR" dirty="0" err="1"/>
              <a:t>hotfix</a:t>
            </a:r>
            <a:r>
              <a:rPr lang="fr-FR" dirty="0"/>
              <a:t> en production</a:t>
            </a:r>
            <a:br>
              <a:rPr lang="fr-FR" dirty="0"/>
            </a:br>
            <a:r>
              <a:rPr lang="fr-FR" dirty="0"/>
              <a:t>le dev se passe, on créer une </a:t>
            </a:r>
            <a:r>
              <a:rPr lang="fr-FR" dirty="0" err="1"/>
              <a:t>feature</a:t>
            </a:r>
            <a:r>
              <a:rPr lang="fr-FR" dirty="0"/>
              <a:t> depuis le main et la </a:t>
            </a:r>
            <a:r>
              <a:rPr lang="fr-FR" dirty="0" err="1"/>
              <a:t>bam</a:t>
            </a:r>
            <a:r>
              <a:rPr lang="fr-FR" dirty="0"/>
              <a:t>!, </a:t>
            </a:r>
            <a:r>
              <a:rPr lang="fr-FR" dirty="0" err="1"/>
              <a:t>hotfix</a:t>
            </a:r>
            <a:r>
              <a:rPr lang="fr-FR" dirty="0"/>
              <a:t> (page suivante)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E29D9-7A4F-4EB6-9A63-81A63F8F1FCD}" type="slidenum">
              <a:rPr lang="fr-BE" smtClean="0"/>
              <a:t>34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2247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E29D9-7A4F-4EB6-9A63-81A63F8F1FCD}" type="slidenum">
              <a:rPr lang="fr-BE" smtClean="0"/>
              <a:t>35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29049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AE1B6-CBF1-72E6-E285-8F2439C93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CAA810-B9F5-5BFD-1B74-BDB9649C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32AF9D-3B41-3C32-282E-AF0F9BB4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DD6C61-831E-8DBF-FB5E-8E9FB0DB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28817E-A4D2-CF8F-5119-781CDD6C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8583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AAC83E-24DF-3D10-6420-B54ED745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03AAE8-2C18-D6AB-DE26-18609B62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D0AF56-9294-9A3B-21F9-2F4F5F12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B99F12-BC99-B5E1-2D5F-6320CDBF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1C633F-C1FA-6879-080B-5599FEC6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082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DC908-9ECD-4221-FB80-DBA18FC0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0FDE2F-128F-30F1-E0C2-725851718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D804DA-3257-85B0-7F9C-1581E412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63428A-5E9E-989B-4594-E0A20AE7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BADA1A-C5F4-1304-2487-889702CD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6794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B9945F-724D-08B2-1044-AEDEAC2A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759D58-87F2-6B01-C0CA-2A6E88572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2C92C4-BDEC-11E5-2A58-6D514066C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5A4EFE-B8E0-528F-629E-500BCEC8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183479-5165-FE85-B611-33FC964F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6A768-ADC2-74C0-AD29-A50A3B12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0664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A2124-AD99-2364-FCD4-41431E2C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9935FE-1740-24FA-8C3A-BE9E64D07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514B83-135E-C8E6-7F9A-441121249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87E2CC-90D7-A955-5466-E2C128567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8C4AD8-D1AC-954F-02FD-30F5EFBA2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AE25E1-F75B-A0C1-0AC8-0830F8FB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CD9D6C-CA1D-8F5B-DB57-DA97DA28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5DE735-8304-DAAB-BB15-3C8342B8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62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B18717-2F4D-8C09-F532-091BA7BB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A731D7-858F-2353-5739-371D68CE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3841FC-0FC1-23D4-1F2B-F873F52D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9BAE45-801A-C820-EC5F-AF70B9DA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676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A8E9BE-0A60-FAE4-7149-34D219DA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D6FF1AD-11BF-1241-6A2A-69AD3F85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6E50A6-186C-F7EA-A560-CBDD2682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5703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81491-8BFB-F859-555D-E9C6369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76469B-66C7-1918-0B48-245DE2984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CDB127-7156-E509-90F0-025706AF9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1B4D9C-7BAF-C028-8CC9-F9685A55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805585-FB5A-0732-3DA8-49EE94F0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072847-2B36-3714-D08E-48EFDFEF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664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1F788-53A2-9D47-A3D5-929A3CF5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9B037-53E0-7759-6FA7-591FF7554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4EC552-F7EB-5CFF-8F73-D1AED30EE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1070A7-4CEA-A578-3A62-E2CC3E3C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C28D09-F369-6B81-00EE-D02BB97A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222FB6-860B-FF9B-D232-788EAC96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5822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F78EF-C8F8-0D72-B612-D2159644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7DE98E6-FCBD-8191-046C-2F57748CB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3204BD-9B30-1645-5115-D212AB0D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9A39E9-BF28-C4D5-5E49-3E0ED3A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490993-6793-102C-E8ED-A6CEEB36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721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DA2C1B6-234C-00AE-F34F-FB99ABD4F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B556BF-04A5-CC8E-4545-40EB38DD8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C2B640-3018-11E2-1C7B-C5262A88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FDA21-5313-4B3E-1E16-7CD0EF6B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2D21DB-6674-2E6C-B27A-0185A67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5891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1C8A45-CA23-DD22-B695-D7143616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C5A705-218D-A172-9002-F0A0AF20B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9DE4ED-1897-2939-6A39-5ACF111D7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2A682-DD39-4819-89F0-642635859CB9}" type="datetimeFigureOut">
              <a:rPr lang="fr-BE" smtClean="0"/>
              <a:t>20-11-25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974111-0EE1-801D-3073-B6CCF9D4F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F8F5E6-A3DD-FFBC-5E97-A4AB8D015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D605B-1046-4E75-8775-AC3AA41BE90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7928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book/fr/v2/D&#233;marrage-rapide-&#192;-propos-de-la-gestion-de-vers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survey.stackoverflow.co/2022/#version-control-version-control-system-pro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6_5AA75CA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8/11/25 – Chapitre 3. Introduction web – Arborescence et Formulaire</a:t>
            </a:r>
          </a:p>
          <a:p>
            <a:r>
              <a:rPr lang="fr-B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/>
              <a:t>06/12/25 – Chapitre 5. Introduction à Javascript, Variables et valeurs</a:t>
            </a:r>
          </a:p>
          <a:p>
            <a:r>
              <a:rPr lang="fr-BE" dirty="0"/>
              <a:t>10/01/26 – Chapitre 6. Javascript : Fonctions, tableaux, objets, prototypes et constructeurs</a:t>
            </a:r>
          </a:p>
          <a:p>
            <a:r>
              <a:rPr lang="fr-BE" dirty="0"/>
              <a:t>24/01/26 - Chapitre 7. Javascript : DOM et programmation évènementiel, expression régulière</a:t>
            </a:r>
          </a:p>
          <a:p>
            <a:r>
              <a:rPr lang="fr-BE" dirty="0"/>
              <a:t>07/02/26 - Chapitre 8. Javascript : Fonctions avancées et compléments</a:t>
            </a:r>
          </a:p>
          <a:p>
            <a:r>
              <a:rPr lang="fr-BE" dirty="0"/>
              <a:t>21/02/26 - Chapitre 9. Javascript : Framework (React.js, Angular.js et Vue.js)</a:t>
            </a:r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A3A2A-029F-545F-3CF2-42DB4337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Source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5A6A6D-2B71-21EB-DCF7-995F4FD8F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>
                <a:hlinkClick r:id="rId2"/>
              </a:rPr>
              <a:t>https://www.atlassian.com/fr/git/tutorials/setting-up-a-repository</a:t>
            </a:r>
          </a:p>
          <a:p>
            <a:r>
              <a:rPr lang="fr-BE" dirty="0">
                <a:hlinkClick r:id="rId2"/>
              </a:rPr>
              <a:t>https://git-scm.com/book/</a:t>
            </a:r>
            <a:r>
              <a:rPr lang="fr-BE" dirty="0" err="1">
                <a:hlinkClick r:id="rId2"/>
              </a:rPr>
              <a:t>fr</a:t>
            </a:r>
            <a:r>
              <a:rPr lang="fr-BE" dirty="0">
                <a:hlinkClick r:id="rId2"/>
              </a:rPr>
              <a:t>/v2/Démarrage-rapide-À-propos-de-la-gestion-de-version</a:t>
            </a:r>
            <a:r>
              <a:rPr lang="fr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238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B85159-528A-B0E6-095C-045A3B9A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90FF0C-29BA-9BB3-40F3-CFE09211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1. Rappel</a:t>
            </a:r>
          </a:p>
          <a:p>
            <a:pPr lvl="1"/>
            <a:r>
              <a:rPr lang="fr-BE" dirty="0"/>
              <a:t>Arborescence</a:t>
            </a:r>
          </a:p>
          <a:p>
            <a:pPr lvl="2"/>
            <a:r>
              <a:rPr lang="fr-BE" dirty="0"/>
              <a:t>L’arborescence HTML et CSS</a:t>
            </a:r>
          </a:p>
          <a:p>
            <a:pPr lvl="2"/>
            <a:r>
              <a:rPr lang="fr-BE" dirty="0"/>
              <a:t>Sélecteurs basés sur l’arborescence et sur les attributs</a:t>
            </a:r>
          </a:p>
          <a:p>
            <a:pPr lvl="2"/>
            <a:r>
              <a:rPr lang="fr-BE" dirty="0"/>
              <a:t>Pseudo-classes et pseudo-éléments CSS</a:t>
            </a:r>
          </a:p>
          <a:p>
            <a:pPr lvl="1"/>
            <a:r>
              <a:rPr lang="fr-BE" dirty="0"/>
              <a:t>Formulaire</a:t>
            </a:r>
          </a:p>
          <a:p>
            <a:pPr lvl="2"/>
            <a:r>
              <a:rPr lang="fr-BE" dirty="0"/>
              <a:t>Qu’est-ce qu’un formulaire HTML</a:t>
            </a:r>
          </a:p>
          <a:p>
            <a:pPr lvl="2"/>
            <a:r>
              <a:rPr lang="fr-BE" dirty="0"/>
              <a:t>Les actions</a:t>
            </a:r>
          </a:p>
          <a:p>
            <a:pPr lvl="2"/>
            <a:r>
              <a:rPr lang="fr-BE" dirty="0"/>
              <a:t>Protocoles GET et POST</a:t>
            </a:r>
          </a:p>
          <a:p>
            <a:pPr lvl="2"/>
            <a:r>
              <a:rPr lang="fr-BE" dirty="0"/>
              <a:t>Le formulaire dans son ensemble</a:t>
            </a:r>
          </a:p>
          <a:p>
            <a:pPr lvl="2"/>
            <a:r>
              <a:rPr lang="fr-BE" dirty="0"/>
              <a:t>Eléments types d’un formulaire</a:t>
            </a:r>
          </a:p>
          <a:p>
            <a:pPr lvl="2"/>
            <a:r>
              <a:rPr lang="fr-BE" dirty="0"/>
              <a:t>CSS</a:t>
            </a:r>
          </a:p>
          <a:p>
            <a:pPr lvl="2"/>
            <a:r>
              <a:rPr lang="fr-BE" dirty="0"/>
              <a:t>Contraintes et validations HTML</a:t>
            </a:r>
          </a:p>
          <a:p>
            <a:pPr lvl="2"/>
            <a:r>
              <a:rPr lang="fr-BE" dirty="0"/>
              <a:t>Sélecteurs CSS relatifs à la validation</a:t>
            </a:r>
          </a:p>
        </p:txBody>
      </p:sp>
    </p:spTree>
    <p:extLst>
      <p:ext uri="{BB962C8B-B14F-4D97-AF65-F5344CB8AC3E}">
        <p14:creationId xmlns:p14="http://schemas.microsoft.com/office/powerpoint/2010/main" val="228457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BAE54-5F13-2073-8038-B8A1536B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4261F9-A2AD-2BEE-E0B4-AD08A730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2. Contrôle de version - GIT</a:t>
            </a:r>
          </a:p>
          <a:p>
            <a:pPr lvl="1"/>
            <a:r>
              <a:rPr lang="fr-BE" dirty="0"/>
              <a:t>Système de contrôle de version centralisé (VCS)</a:t>
            </a:r>
          </a:p>
          <a:p>
            <a:pPr lvl="2"/>
            <a:r>
              <a:rPr lang="fr-BE" dirty="0"/>
              <a:t>Avantages</a:t>
            </a:r>
          </a:p>
          <a:p>
            <a:pPr lvl="2"/>
            <a:r>
              <a:rPr lang="fr-BE" dirty="0"/>
              <a:t>Inconvénients </a:t>
            </a:r>
          </a:p>
          <a:p>
            <a:pPr lvl="1"/>
            <a:r>
              <a:rPr lang="fr-BE" dirty="0"/>
              <a:t>GIT</a:t>
            </a:r>
          </a:p>
          <a:p>
            <a:pPr lvl="2"/>
            <a:r>
              <a:rPr lang="fr-BE" dirty="0"/>
              <a:t>Historique</a:t>
            </a:r>
          </a:p>
          <a:p>
            <a:pPr lvl="2"/>
            <a:r>
              <a:rPr lang="fr-BE" dirty="0"/>
              <a:t>Rudiments</a:t>
            </a:r>
          </a:p>
          <a:p>
            <a:pPr lvl="2"/>
            <a:r>
              <a:rPr lang="fr-BE" dirty="0"/>
              <a:t>Ligne de commande (trop cool)</a:t>
            </a:r>
          </a:p>
          <a:p>
            <a:pPr lvl="2"/>
            <a:endParaRPr lang="fr-BE" dirty="0"/>
          </a:p>
          <a:p>
            <a:pPr lvl="1"/>
            <a:r>
              <a:rPr lang="fr-BE" dirty="0"/>
              <a:t>Vocabulaire</a:t>
            </a:r>
          </a:p>
          <a:p>
            <a:pPr lvl="2"/>
            <a:r>
              <a:rPr lang="fr-BE" dirty="0"/>
              <a:t>Dépôt, init, </a:t>
            </a:r>
            <a:r>
              <a:rPr lang="fr-BE" dirty="0" err="1"/>
              <a:t>add</a:t>
            </a:r>
            <a:r>
              <a:rPr lang="fr-BE" dirty="0"/>
              <a:t>, </a:t>
            </a:r>
            <a:r>
              <a:rPr lang="fr-BE" dirty="0" err="1"/>
              <a:t>stash</a:t>
            </a:r>
            <a:r>
              <a:rPr lang="fr-BE" dirty="0"/>
              <a:t>,…</a:t>
            </a:r>
          </a:p>
          <a:p>
            <a:pPr lvl="1"/>
            <a:r>
              <a:rPr lang="fr-BE" dirty="0"/>
              <a:t>Les bases de GIT</a:t>
            </a:r>
          </a:p>
          <a:p>
            <a:pPr lvl="2"/>
            <a:r>
              <a:rPr lang="fr-BE" dirty="0"/>
              <a:t>Démarrer un dépôt</a:t>
            </a:r>
          </a:p>
          <a:p>
            <a:pPr lvl="2"/>
            <a:r>
              <a:rPr lang="fr-BE" dirty="0"/>
              <a:t>Visualiser l’historique</a:t>
            </a:r>
          </a:p>
          <a:p>
            <a:pPr lvl="2"/>
            <a:r>
              <a:rPr lang="fr-BE" dirty="0"/>
              <a:t>Annuler des actions</a:t>
            </a:r>
          </a:p>
          <a:p>
            <a:pPr lvl="2"/>
            <a:r>
              <a:rPr lang="fr-BE" dirty="0"/>
              <a:t>Dépôt distant</a:t>
            </a:r>
          </a:p>
          <a:p>
            <a:pPr lvl="2"/>
            <a:r>
              <a:rPr lang="fr-BE" dirty="0"/>
              <a:t>Etiquette (tag)</a:t>
            </a:r>
          </a:p>
          <a:p>
            <a:pPr lvl="2"/>
            <a:r>
              <a:rPr lang="fr-BE" dirty="0"/>
              <a:t>Alias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4501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C83120-E586-2C23-841B-557F7717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AF6E91-3493-84AC-E718-6194EDAAA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2. Contrôle de version - GIT</a:t>
            </a:r>
          </a:p>
          <a:p>
            <a:pPr lvl="1"/>
            <a:r>
              <a:rPr lang="fr-BE" dirty="0"/>
              <a:t>Le commit et son arbre</a:t>
            </a:r>
          </a:p>
          <a:p>
            <a:pPr lvl="1"/>
            <a:r>
              <a:rPr lang="fr-BE" dirty="0"/>
              <a:t>Les branches</a:t>
            </a:r>
          </a:p>
          <a:p>
            <a:pPr lvl="2"/>
            <a:r>
              <a:rPr lang="fr-BE" dirty="0"/>
              <a:t>Git </a:t>
            </a:r>
            <a:r>
              <a:rPr lang="fr-BE" dirty="0" err="1"/>
              <a:t>branch</a:t>
            </a:r>
            <a:endParaRPr lang="fr-BE" dirty="0"/>
          </a:p>
          <a:p>
            <a:pPr lvl="2"/>
            <a:r>
              <a:rPr lang="fr-BE" dirty="0"/>
              <a:t>Git </a:t>
            </a:r>
            <a:r>
              <a:rPr lang="fr-BE" dirty="0" err="1"/>
              <a:t>checkout</a:t>
            </a:r>
            <a:endParaRPr lang="fr-BE" dirty="0"/>
          </a:p>
          <a:p>
            <a:pPr lvl="2"/>
            <a:r>
              <a:rPr lang="fr-BE" dirty="0"/>
              <a:t>Git commit</a:t>
            </a:r>
          </a:p>
          <a:p>
            <a:pPr lvl="2"/>
            <a:r>
              <a:rPr lang="fr-BE" dirty="0"/>
              <a:t>Git log</a:t>
            </a:r>
          </a:p>
          <a:p>
            <a:pPr lvl="1"/>
            <a:r>
              <a:rPr lang="fr-BE" dirty="0"/>
              <a:t>Les branches et fusion</a:t>
            </a:r>
          </a:p>
          <a:p>
            <a:pPr lvl="2"/>
            <a:r>
              <a:rPr lang="fr-BE" dirty="0"/>
              <a:t>Git merge</a:t>
            </a:r>
          </a:p>
          <a:p>
            <a:pPr lvl="2"/>
            <a:r>
              <a:rPr lang="fr-BE" dirty="0"/>
              <a:t>Git </a:t>
            </a:r>
            <a:r>
              <a:rPr lang="fr-BE" dirty="0" err="1"/>
              <a:t>delete</a:t>
            </a:r>
            <a:endParaRPr lang="fr-BE" dirty="0"/>
          </a:p>
          <a:p>
            <a:pPr lvl="2"/>
            <a:r>
              <a:rPr lang="fr-BE" dirty="0"/>
              <a:t>Git push</a:t>
            </a:r>
          </a:p>
          <a:p>
            <a:pPr lvl="2"/>
            <a:r>
              <a:rPr lang="fr-BE" dirty="0"/>
              <a:t>Git </a:t>
            </a:r>
            <a:r>
              <a:rPr lang="fr-BE" dirty="0" err="1"/>
              <a:t>fetch</a:t>
            </a:r>
            <a:endParaRPr lang="fr-BE" dirty="0"/>
          </a:p>
          <a:p>
            <a:pPr lvl="2"/>
            <a:r>
              <a:rPr lang="fr-BE" dirty="0"/>
              <a:t>Git push</a:t>
            </a:r>
          </a:p>
          <a:p>
            <a:pPr lvl="2"/>
            <a:r>
              <a:rPr lang="fr-BE" dirty="0"/>
              <a:t>Git rebase</a:t>
            </a:r>
          </a:p>
          <a:p>
            <a:pPr lvl="1"/>
            <a:r>
              <a:rPr lang="fr-BE" dirty="0"/>
              <a:t>Les Protocoles</a:t>
            </a:r>
          </a:p>
          <a:p>
            <a:pPr lvl="2"/>
            <a:r>
              <a:rPr lang="fr-BE" dirty="0"/>
              <a:t>Local</a:t>
            </a:r>
          </a:p>
          <a:p>
            <a:pPr lvl="2"/>
            <a:r>
              <a:rPr lang="fr-BE" dirty="0"/>
              <a:t>http</a:t>
            </a:r>
          </a:p>
          <a:p>
            <a:pPr lvl="2"/>
            <a:r>
              <a:rPr lang="fr-BE" dirty="0"/>
              <a:t>SSH</a:t>
            </a:r>
          </a:p>
          <a:p>
            <a:pPr lvl="2"/>
            <a:r>
              <a:rPr lang="fr-BE" dirty="0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81200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C5786-F1E2-781C-6C7D-E25F0324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4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8BFBC6-16DC-996B-8D36-DC4A7E42F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  <a:endParaRPr lang="fr-FR" dirty="0"/>
          </a:p>
          <a:p>
            <a:pPr lvl="1"/>
            <a:r>
              <a:rPr lang="fr-FR" dirty="0"/>
              <a:t>Contribuer à un projet</a:t>
            </a:r>
          </a:p>
          <a:p>
            <a:pPr lvl="2"/>
            <a:r>
              <a:rPr lang="fr-FR" dirty="0"/>
              <a:t>Fork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181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C2CCFF-AE22-CA79-193C-DAE79498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7C5DBB-8184-AB61-AFA9-B19681940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Arborescence</a:t>
            </a:r>
            <a:endParaRPr lang="fr-BE" dirty="0"/>
          </a:p>
        </p:txBody>
      </p:sp>
      <p:pic>
        <p:nvPicPr>
          <p:cNvPr id="25" name="Image 2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C56C154-F5E6-11F6-25C7-9AF6F221F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142" y="2047962"/>
            <a:ext cx="5257993" cy="432923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6629B19-310D-6B31-1B09-C899D1242F60}"/>
              </a:ext>
            </a:extLst>
          </p:cNvPr>
          <p:cNvSpPr/>
          <p:nvPr/>
        </p:nvSpPr>
        <p:spPr>
          <a:xfrm>
            <a:off x="5958348" y="1890918"/>
            <a:ext cx="5486400" cy="4601957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4A084D-B188-93BD-F4B9-25EC7B850234}"/>
              </a:ext>
            </a:extLst>
          </p:cNvPr>
          <p:cNvSpPr/>
          <p:nvPr/>
        </p:nvSpPr>
        <p:spPr>
          <a:xfrm>
            <a:off x="6459794" y="2628798"/>
            <a:ext cx="4758812" cy="1101043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4DEBAB-7B4B-914D-63A5-432D7DDA7FB5}"/>
              </a:ext>
            </a:extLst>
          </p:cNvPr>
          <p:cNvSpPr/>
          <p:nvPr/>
        </p:nvSpPr>
        <p:spPr>
          <a:xfrm>
            <a:off x="6459794" y="3751949"/>
            <a:ext cx="4758812" cy="2288642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7E7CAB-3E79-0463-510F-7B41EC688430}"/>
              </a:ext>
            </a:extLst>
          </p:cNvPr>
          <p:cNvSpPr/>
          <p:nvPr/>
        </p:nvSpPr>
        <p:spPr>
          <a:xfrm>
            <a:off x="6971071" y="2933598"/>
            <a:ext cx="4168877" cy="282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97A651-A917-8FCA-540A-64723E3CBA1F}"/>
              </a:ext>
            </a:extLst>
          </p:cNvPr>
          <p:cNvSpPr/>
          <p:nvPr/>
        </p:nvSpPr>
        <p:spPr>
          <a:xfrm>
            <a:off x="6971070" y="3253632"/>
            <a:ext cx="4168877" cy="282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795AE1-3739-8F79-01D5-FCF80FD2043C}"/>
              </a:ext>
            </a:extLst>
          </p:cNvPr>
          <p:cNvSpPr/>
          <p:nvPr/>
        </p:nvSpPr>
        <p:spPr>
          <a:xfrm>
            <a:off x="6971070" y="4060082"/>
            <a:ext cx="4168877" cy="282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EE85C9-B407-D44A-B8FE-37A67B3765F5}"/>
              </a:ext>
            </a:extLst>
          </p:cNvPr>
          <p:cNvSpPr/>
          <p:nvPr/>
        </p:nvSpPr>
        <p:spPr>
          <a:xfrm>
            <a:off x="6971070" y="4651098"/>
            <a:ext cx="4168877" cy="1104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7474E9D-EA89-E885-B4E2-A4E005AE1908}"/>
              </a:ext>
            </a:extLst>
          </p:cNvPr>
          <p:cNvSpPr txBox="1"/>
          <p:nvPr/>
        </p:nvSpPr>
        <p:spPr>
          <a:xfrm>
            <a:off x="2776019" y="2444132"/>
            <a:ext cx="756938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47F1A69-96E7-77ED-9B3F-4F06B27ECFE7}"/>
              </a:ext>
            </a:extLst>
          </p:cNvPr>
          <p:cNvSpPr txBox="1"/>
          <p:nvPr/>
        </p:nvSpPr>
        <p:spPr>
          <a:xfrm>
            <a:off x="1595138" y="3258060"/>
            <a:ext cx="75693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95C356E-C3D9-85C6-8D1A-09013120A5CF}"/>
              </a:ext>
            </a:extLst>
          </p:cNvPr>
          <p:cNvSpPr txBox="1"/>
          <p:nvPr/>
        </p:nvSpPr>
        <p:spPr>
          <a:xfrm>
            <a:off x="3911426" y="3258060"/>
            <a:ext cx="75693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C5D6ED1-1D89-DF64-EE3A-B5A8FC33AADA}"/>
              </a:ext>
            </a:extLst>
          </p:cNvPr>
          <p:cNvSpPr txBox="1"/>
          <p:nvPr/>
        </p:nvSpPr>
        <p:spPr>
          <a:xfrm>
            <a:off x="838200" y="416578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C4E2299-323C-9CE0-7DBE-8684EAC8DFD1}"/>
              </a:ext>
            </a:extLst>
          </p:cNvPr>
          <p:cNvSpPr txBox="1"/>
          <p:nvPr/>
        </p:nvSpPr>
        <p:spPr>
          <a:xfrm>
            <a:off x="2352076" y="416578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3BF61B5-5B29-BCC3-911E-C4406C3EE9D3}"/>
              </a:ext>
            </a:extLst>
          </p:cNvPr>
          <p:cNvSpPr txBox="1"/>
          <p:nvPr/>
        </p:nvSpPr>
        <p:spPr>
          <a:xfrm>
            <a:off x="3154488" y="416578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814666C-E957-6A15-7C2E-D2B3B15D3D36}"/>
              </a:ext>
            </a:extLst>
          </p:cNvPr>
          <p:cNvSpPr txBox="1"/>
          <p:nvPr/>
        </p:nvSpPr>
        <p:spPr>
          <a:xfrm>
            <a:off x="4668364" y="416578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C647E2B7-0146-4690-19CC-EDC8C984E87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973607" y="2813464"/>
            <a:ext cx="1180881" cy="444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A27037A-34A1-382F-E798-F2796D1A1D4D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1216669" y="362739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78C2E835-AFC0-7AA0-BB29-623EB1B877A9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>
            <a:off x="1973607" y="362739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999D671-8A3E-73E0-5436-96C82BAC2CCB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3154488" y="2813464"/>
            <a:ext cx="1135407" cy="444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DC86B976-B9E3-B713-E285-CAB162694AB3}"/>
              </a:ext>
            </a:extLst>
          </p:cNvPr>
          <p:cNvCxnSpPr>
            <a:cxnSpLocks/>
            <a:stCxn id="35" idx="2"/>
            <a:endCxn id="39" idx="0"/>
          </p:cNvCxnSpPr>
          <p:nvPr/>
        </p:nvCxnSpPr>
        <p:spPr>
          <a:xfrm>
            <a:off x="4289895" y="362739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140CE236-BA84-4D82-09CC-A327AD4AC9C8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 flipH="1">
            <a:off x="3532957" y="362739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63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92EA-4AB6-9DB9-F5EA-30FA3AA8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D6D10-539C-CB07-0985-E9D9C7D8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63629-74BF-B2A0-8151-0B7F49CDD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Arborescence</a:t>
            </a:r>
          </a:p>
          <a:p>
            <a:pPr lvl="1"/>
            <a:r>
              <a:rPr lang="fr-BE" dirty="0"/>
              <a:t>Vocabulaire</a:t>
            </a:r>
          </a:p>
          <a:p>
            <a:pPr lvl="2"/>
            <a:r>
              <a:rPr lang="fr-BE" dirty="0"/>
              <a:t>A est le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père</a:t>
            </a:r>
            <a:r>
              <a:rPr lang="fr-BE" dirty="0"/>
              <a:t> de B et de C</a:t>
            </a:r>
          </a:p>
          <a:p>
            <a:pPr lvl="2"/>
            <a:r>
              <a:rPr lang="fr-BE" dirty="0"/>
              <a:t>B et C sont les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fils</a:t>
            </a:r>
          </a:p>
          <a:p>
            <a:pPr lvl="2"/>
            <a:r>
              <a:rPr lang="fr-BE" dirty="0"/>
              <a:t>B et C sont des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frères/sœurs 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A est un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ancêtre</a:t>
            </a:r>
            <a:r>
              <a:rPr lang="fr-BE" dirty="0"/>
              <a:t> de D</a:t>
            </a:r>
          </a:p>
          <a:p>
            <a:pPr lvl="2"/>
            <a:r>
              <a:rPr lang="fr-BE" dirty="0"/>
              <a:t>D est un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descendant</a:t>
            </a:r>
            <a:r>
              <a:rPr lang="fr-BE" dirty="0"/>
              <a:t> de A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D207410-E736-47AD-5AA5-396D06BAE25B}"/>
              </a:ext>
            </a:extLst>
          </p:cNvPr>
          <p:cNvSpPr/>
          <p:nvPr/>
        </p:nvSpPr>
        <p:spPr>
          <a:xfrm>
            <a:off x="8160776" y="2069379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716A672-F93E-9A48-BA83-36FAEE07B811}"/>
              </a:ext>
            </a:extLst>
          </p:cNvPr>
          <p:cNvSpPr/>
          <p:nvPr/>
        </p:nvSpPr>
        <p:spPr>
          <a:xfrm>
            <a:off x="7654416" y="257126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7A969C9-4A05-BA9D-151A-792DBBB4D8DE}"/>
              </a:ext>
            </a:extLst>
          </p:cNvPr>
          <p:cNvSpPr/>
          <p:nvPr/>
        </p:nvSpPr>
        <p:spPr>
          <a:xfrm>
            <a:off x="8627809" y="257126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9960AC0-21D9-B7E7-87FB-461F34DCB8E8}"/>
              </a:ext>
            </a:extLst>
          </p:cNvPr>
          <p:cNvSpPr/>
          <p:nvPr/>
        </p:nvSpPr>
        <p:spPr>
          <a:xfrm>
            <a:off x="7418442" y="3106682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DD1FAEA-2D6C-E57C-10AF-B2D8091412DF}"/>
              </a:ext>
            </a:extLst>
          </p:cNvPr>
          <p:cNvSpPr/>
          <p:nvPr/>
        </p:nvSpPr>
        <p:spPr>
          <a:xfrm>
            <a:off x="7870725" y="3106682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B0C17CB-73AF-5218-7C5B-F260FA14ADA9}"/>
              </a:ext>
            </a:extLst>
          </p:cNvPr>
          <p:cNvSpPr/>
          <p:nvPr/>
        </p:nvSpPr>
        <p:spPr>
          <a:xfrm>
            <a:off x="8396750" y="3106682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744A7BC-D9E7-4DEC-0A4D-ECB7F0627534}"/>
              </a:ext>
            </a:extLst>
          </p:cNvPr>
          <p:cNvSpPr txBox="1"/>
          <p:nvPr/>
        </p:nvSpPr>
        <p:spPr>
          <a:xfrm>
            <a:off x="8345402" y="326178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7BFB9CC-A959-9FC4-6CF9-C9272C9FF959}"/>
              </a:ext>
            </a:extLst>
          </p:cNvPr>
          <p:cNvSpPr/>
          <p:nvPr/>
        </p:nvSpPr>
        <p:spPr>
          <a:xfrm>
            <a:off x="8922775" y="3106682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6879D0-66C1-8ACB-FC7B-65247ADC1318}"/>
              </a:ext>
            </a:extLst>
          </p:cNvPr>
          <p:cNvSpPr txBox="1"/>
          <p:nvPr/>
        </p:nvSpPr>
        <p:spPr>
          <a:xfrm>
            <a:off x="8863783" y="325853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</a:rPr>
              <a:t>B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B3667B7-9776-417B-2561-056CD2F52E9F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7855832" y="2227001"/>
            <a:ext cx="339502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2E74821-17F2-9763-8383-29FBFDF2CCA0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8362192" y="2227001"/>
            <a:ext cx="300175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C3EE9A5-CDBC-C45B-EA88-EBB62580B92D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7536429" y="2728883"/>
            <a:ext cx="152545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FA52955-E7A3-C316-DD56-A6A5D8ABD48F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7855832" y="2728883"/>
            <a:ext cx="13288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77DF4AC-1EA7-6835-A48E-8B0C240F59DC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8514737" y="2728883"/>
            <a:ext cx="14763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6FB1DE1-4475-344E-A5CD-33F4EFE956BD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8829225" y="2728883"/>
            <a:ext cx="211537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28183279-216B-3D88-1489-92ADA2EAD97D}"/>
              </a:ext>
            </a:extLst>
          </p:cNvPr>
          <p:cNvSpPr/>
          <p:nvPr/>
        </p:nvSpPr>
        <p:spPr>
          <a:xfrm>
            <a:off x="8150944" y="4329016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1F9DDAE-F635-89E6-195D-B01745FE9414}"/>
              </a:ext>
            </a:extLst>
          </p:cNvPr>
          <p:cNvSpPr/>
          <p:nvPr/>
        </p:nvSpPr>
        <p:spPr>
          <a:xfrm>
            <a:off x="7644584" y="4830898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3FF0870-9898-0F3C-5AAC-689B87A586C7}"/>
              </a:ext>
            </a:extLst>
          </p:cNvPr>
          <p:cNvSpPr/>
          <p:nvPr/>
        </p:nvSpPr>
        <p:spPr>
          <a:xfrm>
            <a:off x="8617977" y="4830898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5727686-4D98-8207-E9EE-8D6187D471EC}"/>
              </a:ext>
            </a:extLst>
          </p:cNvPr>
          <p:cNvSpPr/>
          <p:nvPr/>
        </p:nvSpPr>
        <p:spPr>
          <a:xfrm>
            <a:off x="7408610" y="5366319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CCB55CF-DD2E-8775-CF72-1C41C7AA16FB}"/>
              </a:ext>
            </a:extLst>
          </p:cNvPr>
          <p:cNvSpPr/>
          <p:nvPr/>
        </p:nvSpPr>
        <p:spPr>
          <a:xfrm>
            <a:off x="7860893" y="5366319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D362EC7-0635-CD51-2874-97F177A74ABE}"/>
              </a:ext>
            </a:extLst>
          </p:cNvPr>
          <p:cNvSpPr/>
          <p:nvPr/>
        </p:nvSpPr>
        <p:spPr>
          <a:xfrm>
            <a:off x="8386918" y="5366319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5D680D2-0CC9-F281-6411-3EB845FAE035}"/>
              </a:ext>
            </a:extLst>
          </p:cNvPr>
          <p:cNvSpPr/>
          <p:nvPr/>
        </p:nvSpPr>
        <p:spPr>
          <a:xfrm>
            <a:off x="8912943" y="5366319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D803A4A8-8B71-19CD-E5A9-E25D4E47B811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7846000" y="4486638"/>
            <a:ext cx="339502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5A3503B-AAED-DD5A-F66C-5E20FFABC68D}"/>
              </a:ext>
            </a:extLst>
          </p:cNvPr>
          <p:cNvCxnSpPr>
            <a:cxnSpLocks/>
            <a:stCxn id="17" idx="5"/>
            <a:endCxn id="19" idx="1"/>
          </p:cNvCxnSpPr>
          <p:nvPr/>
        </p:nvCxnSpPr>
        <p:spPr>
          <a:xfrm>
            <a:off x="8352360" y="4486638"/>
            <a:ext cx="300175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E8BF8EF7-BAEF-DE0B-5E68-2FAF9DCA2930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 flipH="1">
            <a:off x="7526597" y="4988520"/>
            <a:ext cx="152545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353F49D-24A7-1D24-E978-0E95F71E7A50}"/>
              </a:ext>
            </a:extLst>
          </p:cNvPr>
          <p:cNvCxnSpPr>
            <a:cxnSpLocks/>
            <a:stCxn id="18" idx="5"/>
            <a:endCxn id="21" idx="0"/>
          </p:cNvCxnSpPr>
          <p:nvPr/>
        </p:nvCxnSpPr>
        <p:spPr>
          <a:xfrm>
            <a:off x="7846000" y="4988520"/>
            <a:ext cx="13288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05C0081C-2192-87C9-3E7C-253E6332234E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8504905" y="4988520"/>
            <a:ext cx="14763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04E89B6D-D656-CD33-BB9E-E813EFF327F9}"/>
              </a:ext>
            </a:extLst>
          </p:cNvPr>
          <p:cNvCxnSpPr>
            <a:cxnSpLocks/>
            <a:stCxn id="19" idx="5"/>
            <a:endCxn id="23" idx="0"/>
          </p:cNvCxnSpPr>
          <p:nvPr/>
        </p:nvCxnSpPr>
        <p:spPr>
          <a:xfrm>
            <a:off x="8819393" y="4988520"/>
            <a:ext cx="211537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EB3C3F66-74AE-1AD4-8A10-30BE771027DF}"/>
              </a:ext>
            </a:extLst>
          </p:cNvPr>
          <p:cNvSpPr txBox="1"/>
          <p:nvPr/>
        </p:nvSpPr>
        <p:spPr>
          <a:xfrm>
            <a:off x="8863783" y="228196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7EA601D-820C-D8DA-1FD7-D9095C12D2C7}"/>
              </a:ext>
            </a:extLst>
          </p:cNvPr>
          <p:cNvSpPr txBox="1"/>
          <p:nvPr/>
        </p:nvSpPr>
        <p:spPr>
          <a:xfrm>
            <a:off x="8352360" y="56298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8C8815E-37F2-529D-20E9-8FEAF1DC4499}"/>
              </a:ext>
            </a:extLst>
          </p:cNvPr>
          <p:cNvSpPr txBox="1"/>
          <p:nvPr/>
        </p:nvSpPr>
        <p:spPr>
          <a:xfrm>
            <a:off x="8108470" y="393920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914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32" grpId="0"/>
      <p:bldP spid="10" grpId="0" animBg="1"/>
      <p:bldP spid="31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D8F19-C02A-C5D5-B1B9-5F3F6655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02306-6DA9-1353-6D2A-3EC6FF58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A4812D-0BC0-4A80-7476-640E3826D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Arborescence</a:t>
            </a:r>
          </a:p>
          <a:p>
            <a:pPr lvl="1"/>
            <a:r>
              <a:rPr lang="fr-BE" dirty="0"/>
              <a:t>CSS =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Cascading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Style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Sheet</a:t>
            </a:r>
            <a:endParaRPr lang="fr-B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fr-BE" dirty="0"/>
              <a:t>2 types différents</a:t>
            </a:r>
          </a:p>
          <a:p>
            <a:pPr lvl="2"/>
            <a:r>
              <a:rPr lang="fr-BE" dirty="0"/>
              <a:t>Cascade par source</a:t>
            </a:r>
          </a:p>
          <a:p>
            <a:pPr lvl="3"/>
            <a:r>
              <a:rPr lang="fr-BE" dirty="0"/>
              <a:t>Navigateur</a:t>
            </a:r>
          </a:p>
          <a:p>
            <a:pPr lvl="3"/>
            <a:r>
              <a:rPr lang="fr-BE" dirty="0"/>
              <a:t>Auteur</a:t>
            </a:r>
          </a:p>
          <a:p>
            <a:pPr lvl="3"/>
            <a:r>
              <a:rPr lang="fr-BE" dirty="0"/>
              <a:t>Utilisateur</a:t>
            </a:r>
          </a:p>
          <a:p>
            <a:pPr lvl="2"/>
            <a:r>
              <a:rPr lang="fr-BE" dirty="0"/>
              <a:t>Héritage</a:t>
            </a:r>
          </a:p>
        </p:txBody>
      </p:sp>
    </p:spTree>
    <p:extLst>
      <p:ext uri="{BB962C8B-B14F-4D97-AF65-F5344CB8AC3E}">
        <p14:creationId xmlns:p14="http://schemas.microsoft.com/office/powerpoint/2010/main" val="201962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3CEE-C578-5F2A-9E67-741EA10C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337FF-D156-5851-B6CD-44E4BFF0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63BB47-C9CB-C31A-4CD9-3A6820D40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Arborescence</a:t>
            </a:r>
          </a:p>
          <a:p>
            <a:pPr lvl="1"/>
            <a:r>
              <a:rPr lang="fr-BE" dirty="0"/>
              <a:t>Sélecteurs basés sur l’arborescence</a:t>
            </a:r>
          </a:p>
          <a:p>
            <a:pPr lvl="2"/>
            <a:r>
              <a:rPr lang="fr-BE" dirty="0"/>
              <a:t>Restriction en fonction des ancêtres/parents (ex: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 &gt;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Restriction en fonction des frères / sœurs précédents (ex: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strong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+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/>
              <a:t> )</a:t>
            </a:r>
          </a:p>
          <a:p>
            <a:pPr lvl="2"/>
            <a:endParaRPr lang="fr-BE" dirty="0"/>
          </a:p>
          <a:p>
            <a:pPr lvl="1"/>
            <a:r>
              <a:rPr lang="fr-FR" dirty="0"/>
              <a:t>Sélecteurs selon les attributs simple ou en testant la valeur (ex: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_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blank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FR" dirty="0"/>
              <a:t>ou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a[href$=« .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pdf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FR" dirty="0"/>
              <a:t>)</a:t>
            </a:r>
          </a:p>
          <a:p>
            <a:pPr lvl="2"/>
            <a:endParaRPr lang="fr-FR" dirty="0"/>
          </a:p>
          <a:p>
            <a:pPr lvl="1"/>
            <a:r>
              <a:rPr lang="fr-FR" dirty="0"/>
              <a:t>Sélecteurs sans balise (ex: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[id^=«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prem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FR" dirty="0"/>
              <a:t>)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0328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4BED-1A2A-1ECB-984B-BC939CCF3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91DB80-925F-1811-7DB5-FAB8EA79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84189-C6C2-4EE1-6939-8E089653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Arborescence</a:t>
            </a:r>
          </a:p>
          <a:p>
            <a:pPr lvl="1"/>
            <a:r>
              <a:rPr lang="fr-FR" dirty="0"/>
              <a:t>Les pseudo-classes</a:t>
            </a:r>
          </a:p>
          <a:p>
            <a:pPr lvl="2"/>
            <a:r>
              <a:rPr lang="fr-FR" dirty="0"/>
              <a:t>Ce sont des restrictions qui ressemblent à des classes prédéfinies et qui se notent avec un « : ». Elles permettent de restreindre une sélection en ne ciblant que les éléments HTML qui vérifient une condition donnée.</a:t>
            </a:r>
          </a:p>
          <a:p>
            <a:pPr lvl="2"/>
            <a:r>
              <a:rPr lang="fr-BE" dirty="0"/>
              <a:t>Ex: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A:hover </a:t>
            </a:r>
            <a:r>
              <a:rPr lang="fr-FR" dirty="0"/>
              <a:t>≡ lien survolé par le curseur</a:t>
            </a:r>
          </a:p>
          <a:p>
            <a:pPr lvl="1"/>
            <a:r>
              <a:rPr lang="fr-BE" dirty="0"/>
              <a:t>Les pseudo-éléments</a:t>
            </a:r>
          </a:p>
          <a:p>
            <a:pPr lvl="2"/>
            <a:r>
              <a:rPr lang="fr-BE" dirty="0"/>
              <a:t>Ils permettent de sélectionner des morceaux de contenu qui ne correspondent pas à des éléments HTML.</a:t>
            </a:r>
          </a:p>
          <a:p>
            <a:pPr lvl="2"/>
            <a:r>
              <a:rPr lang="fr-BE" dirty="0"/>
              <a:t>Ex: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p::first-letter </a:t>
            </a:r>
            <a:r>
              <a:rPr lang="fr-BE" dirty="0"/>
              <a:t>≡ la 1re lettre d'un paragraphe</a:t>
            </a:r>
          </a:p>
        </p:txBody>
      </p:sp>
    </p:spTree>
    <p:extLst>
      <p:ext uri="{BB962C8B-B14F-4D97-AF65-F5344CB8AC3E}">
        <p14:creationId xmlns:p14="http://schemas.microsoft.com/office/powerpoint/2010/main" val="3741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1034-2F0F-4D6D-FC4A-FE79ADBB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1B253-80D1-D2F3-030D-B8F36B6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94BC48-FD61-1E5E-15DD-C7966857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Formulaire</a:t>
            </a:r>
          </a:p>
          <a:p>
            <a:pPr lvl="1"/>
            <a:r>
              <a:rPr lang="fr-FR" dirty="0"/>
              <a:t>Les actions (3 grandes principales)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Recueillir</a:t>
            </a:r>
            <a:r>
              <a:rPr lang="fr-BE" dirty="0"/>
              <a:t> les informations de l’utilisateur</a:t>
            </a:r>
          </a:p>
          <a:p>
            <a:pPr lvl="3"/>
            <a:r>
              <a:rPr lang="fr-BE" dirty="0"/>
              <a:t>Propriété / valeur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Vérifier</a:t>
            </a:r>
            <a:r>
              <a:rPr lang="fr-BE" dirty="0"/>
              <a:t> certaines contraintes sur ces informations</a:t>
            </a:r>
          </a:p>
          <a:p>
            <a:pPr lvl="3"/>
            <a:r>
              <a:rPr lang="fr-BE" dirty="0"/>
              <a:t>Validation en deux temps</a:t>
            </a:r>
          </a:p>
          <a:p>
            <a:pPr lvl="4"/>
            <a:r>
              <a:rPr lang="fr-BE" dirty="0"/>
              <a:t>Locale</a:t>
            </a:r>
          </a:p>
          <a:p>
            <a:pPr lvl="4"/>
            <a:r>
              <a:rPr lang="fr-BE" dirty="0"/>
              <a:t>serveur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Envoyer</a:t>
            </a:r>
            <a:r>
              <a:rPr lang="fr-BE" dirty="0"/>
              <a:t> les informations via le web</a:t>
            </a:r>
          </a:p>
          <a:p>
            <a:pPr lvl="3"/>
            <a:r>
              <a:rPr lang="fr-BE" dirty="0"/>
              <a:t>Où, comment, ensuite</a:t>
            </a:r>
          </a:p>
          <a:p>
            <a:pPr lvl="1"/>
            <a:endParaRPr lang="fr-BE" dirty="0"/>
          </a:p>
        </p:txBody>
      </p:sp>
      <p:pic>
        <p:nvPicPr>
          <p:cNvPr id="4" name="Image 3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4AC1B6B-4734-8B10-DA3E-0561E50F6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49" y="2376948"/>
            <a:ext cx="3704151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8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DD350-B8E7-A472-9DEA-EA5F0BCF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3A30E-7ABD-1386-E082-C4597382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C10834-B5BF-2046-FD9E-3A1760188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Formulaire</a:t>
            </a:r>
          </a:p>
          <a:p>
            <a:pPr lvl="1"/>
            <a:r>
              <a:rPr lang="fr-FR" dirty="0"/>
              <a:t>Les protocoles GET et POST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GET</a:t>
            </a:r>
            <a:r>
              <a:rPr lang="fr-BE" dirty="0"/>
              <a:t> : données inclues dans l’adresse web.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POST</a:t>
            </a:r>
            <a:r>
              <a:rPr lang="fr-BE" dirty="0"/>
              <a:t> : données transmises au sein de la demande.</a:t>
            </a:r>
            <a:endParaRPr lang="fr-FR" dirty="0"/>
          </a:p>
          <a:p>
            <a:pPr lvl="1"/>
            <a:r>
              <a:rPr lang="fr-BE" dirty="0"/>
              <a:t>Le formulaire dans son ensemble (HTML et CSS)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form</a:t>
            </a:r>
            <a:br>
              <a:rPr lang="fr-BE" dirty="0"/>
            </a:br>
            <a:r>
              <a:rPr lang="fr-BE" dirty="0"/>
              <a:t>	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action="http://monsite.be/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monscript.php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 </a:t>
            </a:r>
            <a:br>
              <a:rPr lang="fr-BE" dirty="0"/>
            </a:br>
            <a:r>
              <a:rPr lang="fr-BE" dirty="0"/>
              <a:t>	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method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</a:t>
            </a:r>
            <a:b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BE" dirty="0"/>
              <a:t>	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_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blank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</a:t>
            </a:r>
            <a:r>
              <a:rPr lang="fr-BE" dirty="0"/>
              <a:t>&gt;</a:t>
            </a:r>
            <a:br>
              <a:rPr lang="fr-BE" dirty="0"/>
            </a:br>
            <a:r>
              <a:rPr lang="fr-BE" dirty="0"/>
              <a:t>	…</a:t>
            </a:r>
            <a:br>
              <a:rPr lang="fr-BE" dirty="0"/>
            </a:br>
            <a:r>
              <a:rPr lang="fr-BE" dirty="0"/>
              <a:t>&lt;/</a:t>
            </a:r>
            <a:r>
              <a:rPr lang="fr-BE" dirty="0" err="1"/>
              <a:t>form</a:t>
            </a:r>
            <a:r>
              <a:rPr lang="fr-BE" dirty="0"/>
              <a:t>&gt;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8767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4D2AA-5433-9997-3A71-2D34CFEC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A85D4F-DC15-E270-C48F-7FD3E8F2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63068F-9794-5A80-837E-F568FDEC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Formulaire</a:t>
            </a:r>
          </a:p>
          <a:p>
            <a:pPr lvl="1"/>
            <a:r>
              <a:rPr lang="fr-BE" dirty="0"/>
              <a:t>Section d’un formulaire: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fieldset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pPr lvl="1"/>
            <a:r>
              <a:rPr lang="fr-BE" dirty="0"/>
              <a:t>Titre à une section de formulaire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legend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pPr lvl="1"/>
            <a:r>
              <a:rPr lang="fr-BE" dirty="0"/>
              <a:t>Déclencheur de soumission :</a:t>
            </a:r>
          </a:p>
          <a:p>
            <a:pPr lvl="2"/>
            <a:r>
              <a:rPr lang="fr-BE" dirty="0"/>
              <a:t>&lt;input&gt;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button</a:t>
            </a:r>
            <a:r>
              <a:rPr lang="fr-BE" dirty="0"/>
              <a:t>&gt;</a:t>
            </a:r>
          </a:p>
          <a:p>
            <a:pPr lvl="1"/>
            <a:r>
              <a:rPr lang="fr-FR" dirty="0"/>
              <a:t>Champs d’un formulaire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&lt;input&gt;</a:t>
            </a:r>
            <a:r>
              <a:rPr lang="fr-FR" dirty="0"/>
              <a:t>,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  <a:r>
              <a:rPr lang="fr-FR" dirty="0"/>
              <a:t> et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&lt;select&gt;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fr-BE" dirty="0"/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8FFCE1C-3873-748C-9D59-25273AC2E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068" y="1572938"/>
            <a:ext cx="3641732" cy="411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7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6249-DB53-6277-6561-43AEF5C84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3FD63-9525-FCD0-36DF-D724FCD2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C644BF-5A3D-03D1-4881-062831D12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Formulaire</a:t>
            </a:r>
          </a:p>
          <a:p>
            <a:pPr lvl="1"/>
            <a:r>
              <a:rPr lang="fr-BE" dirty="0"/>
              <a:t>Champs</a:t>
            </a:r>
          </a:p>
          <a:p>
            <a:pPr lvl="2"/>
            <a:r>
              <a:rPr lang="fr-FR" dirty="0"/>
              <a:t>Champ textuel simple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pPr lvl="2"/>
            <a:r>
              <a:rPr lang="fr-FR" dirty="0"/>
              <a:t>Bloc de texte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pPr lvl="2"/>
            <a:r>
              <a:rPr lang="fr-FR" dirty="0"/>
              <a:t>Champ numérique simple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number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pPr lvl="2"/>
            <a:r>
              <a:rPr lang="fr-FR" dirty="0"/>
              <a:t>Cases à cocher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checkbox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pPr lvl="2"/>
            <a:r>
              <a:rPr lang="fr-BE" dirty="0"/>
              <a:t>Liste de choix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radio » /&gt;</a:t>
            </a:r>
          </a:p>
          <a:p>
            <a:pPr lvl="2"/>
            <a:r>
              <a:rPr lang="fr-FR" dirty="0"/>
              <a:t>Liste déroulante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&lt;select&gt;</a:t>
            </a:r>
          </a:p>
        </p:txBody>
      </p:sp>
    </p:spTree>
    <p:extLst>
      <p:ext uri="{BB962C8B-B14F-4D97-AF65-F5344CB8AC3E}">
        <p14:creationId xmlns:p14="http://schemas.microsoft.com/office/powerpoint/2010/main" val="17501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CABF6-4E63-B66A-2CEB-4FC8C8C9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687FB3-3926-4CD0-1697-3485101D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043455-F038-7710-C6A7-265497DEF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fr-BE" dirty="0"/>
          </a:p>
        </p:txBody>
      </p:sp>
      <p:pic>
        <p:nvPicPr>
          <p:cNvPr id="4" name="Image 3" descr="Une image contenant texte, capture d’écran, reçu, nombre&#10;&#10;Le contenu généré par l’IA peut être incorrect.">
            <a:extLst>
              <a:ext uri="{FF2B5EF4-FFF2-40B4-BE49-F238E27FC236}">
                <a16:creationId xmlns:a16="http://schemas.microsoft.com/office/drawing/2014/main" id="{F56B42D7-0863-4505-F649-6B37997B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93" y="1433513"/>
            <a:ext cx="3901548" cy="4663279"/>
          </a:xfrm>
          <a:prstGeom prst="rect">
            <a:avLst/>
          </a:prstGeom>
        </p:spPr>
      </p:pic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1B4BE25-7400-F7CE-565D-BCDE3C6E7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99" y="1433514"/>
            <a:ext cx="373954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7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D2377E-AA3B-9A3F-096A-DA59A670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98D70D-5FC4-71D2-5D93-650994100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Système de contrôle de version centralisé (VCS)</a:t>
            </a:r>
          </a:p>
          <a:p>
            <a:pPr lvl="1"/>
            <a:r>
              <a:rPr lang="fr-BE" dirty="0"/>
              <a:t>Un </a:t>
            </a:r>
            <a:r>
              <a:rPr lang="fr-BE" i="1" dirty="0"/>
              <a:t>Version Control System</a:t>
            </a:r>
            <a:r>
              <a:rPr lang="fr-BE" dirty="0"/>
              <a:t> permet d’enregistrer l’évolution d’un projet dans le temps.</a:t>
            </a:r>
          </a:p>
          <a:p>
            <a:pPr lvl="1"/>
            <a:r>
              <a:rPr lang="fr-BE" dirty="0"/>
              <a:t>Il garde une trace de chaque modification afin de pouvoir :</a:t>
            </a:r>
          </a:p>
          <a:p>
            <a:pPr lvl="2"/>
            <a:r>
              <a:rPr lang="fr-BE" dirty="0"/>
              <a:t>revenir en arrière,</a:t>
            </a:r>
          </a:p>
          <a:p>
            <a:pPr lvl="2"/>
            <a:r>
              <a:rPr lang="fr-BE" dirty="0"/>
              <a:t>comprendre qui a modifié quoi,</a:t>
            </a:r>
          </a:p>
          <a:p>
            <a:pPr lvl="2"/>
            <a:r>
              <a:rPr lang="fr-BE" dirty="0"/>
              <a:t>travailler à plusieurs sans perdre son travail.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2852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58D6-2D36-21DC-7156-1159886C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D2EDB-32FB-6713-1D4B-B4B79F5B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A4982C-9507-5B53-EF3C-BE7739CA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VCS centralisé vs décentralisé</a:t>
            </a:r>
          </a:p>
          <a:p>
            <a:pPr lvl="1"/>
            <a:r>
              <a:rPr lang="fr-BE" dirty="0"/>
              <a:t>VCS Centralisé (ex : SVN)</a:t>
            </a:r>
          </a:p>
          <a:p>
            <a:pPr lvl="2"/>
            <a:r>
              <a:rPr lang="fr-BE" dirty="0"/>
              <a:t>Un </a:t>
            </a:r>
            <a:r>
              <a:rPr lang="fr-BE" b="1" dirty="0"/>
              <a:t>serveur central</a:t>
            </a:r>
            <a:r>
              <a:rPr lang="fr-BE" dirty="0"/>
              <a:t> contient le projet.</a:t>
            </a:r>
          </a:p>
          <a:p>
            <a:pPr lvl="2"/>
            <a:r>
              <a:rPr lang="fr-BE" dirty="0"/>
              <a:t>Les utilisateurs travaillent en se connectant à celui-ci.</a:t>
            </a:r>
          </a:p>
          <a:p>
            <a:pPr lvl="2"/>
            <a:r>
              <a:rPr lang="fr-BE" b="1" dirty="0"/>
              <a:t>Avantages :</a:t>
            </a:r>
            <a:endParaRPr lang="fr-BE" dirty="0"/>
          </a:p>
          <a:p>
            <a:pPr lvl="3"/>
            <a:r>
              <a:rPr lang="fr-BE" dirty="0"/>
              <a:t>Simple à comprendre.</a:t>
            </a:r>
          </a:p>
          <a:p>
            <a:pPr lvl="3"/>
            <a:r>
              <a:rPr lang="fr-BE" dirty="0"/>
              <a:t>Contrôle central.</a:t>
            </a:r>
          </a:p>
          <a:p>
            <a:pPr lvl="2"/>
            <a:r>
              <a:rPr lang="fr-BE" b="1" dirty="0"/>
              <a:t>Inconvénients :</a:t>
            </a:r>
            <a:endParaRPr lang="fr-BE" dirty="0"/>
          </a:p>
          <a:p>
            <a:pPr lvl="3"/>
            <a:r>
              <a:rPr lang="fr-BE" dirty="0"/>
              <a:t>Si le serveur tombe → impossible de travailler.</a:t>
            </a:r>
          </a:p>
          <a:p>
            <a:pPr lvl="3"/>
            <a:r>
              <a:rPr lang="fr-BE" dirty="0"/>
              <a:t>Faible flexibilité pour les branches.</a:t>
            </a:r>
          </a:p>
        </p:txBody>
      </p:sp>
    </p:spTree>
    <p:extLst>
      <p:ext uri="{BB962C8B-B14F-4D97-AF65-F5344CB8AC3E}">
        <p14:creationId xmlns:p14="http://schemas.microsoft.com/office/powerpoint/2010/main" val="278218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7153-092F-7DF4-19E4-77F2979C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B61A2-698C-CDFB-4245-2D2FE951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51FA0-A99C-1A53-25EB-B261E7B24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VCS centralisé vs décentralisé</a:t>
            </a:r>
            <a:endParaRPr lang="fr-BE" b="1" dirty="0"/>
          </a:p>
          <a:p>
            <a:pPr lvl="1"/>
            <a:r>
              <a:rPr lang="fr-BE" dirty="0"/>
              <a:t>VCS Décentralisé (ex : Git)</a:t>
            </a:r>
          </a:p>
          <a:p>
            <a:pPr lvl="2"/>
            <a:r>
              <a:rPr lang="fr-BE" dirty="0"/>
              <a:t>Chaque utilisateur possède </a:t>
            </a:r>
            <a:r>
              <a:rPr lang="fr-BE" b="1" dirty="0"/>
              <a:t>une copie complète du projet</a:t>
            </a:r>
            <a:r>
              <a:rPr lang="fr-BE" dirty="0"/>
              <a:t> (avec tout l’historique).</a:t>
            </a:r>
          </a:p>
          <a:p>
            <a:pPr lvl="2"/>
            <a:r>
              <a:rPr lang="fr-BE" b="1" dirty="0"/>
              <a:t>Avantages :</a:t>
            </a:r>
            <a:endParaRPr lang="fr-BE" dirty="0"/>
          </a:p>
          <a:p>
            <a:pPr lvl="3"/>
            <a:r>
              <a:rPr lang="fr-BE" dirty="0"/>
              <a:t>Travaille hors ligne.</a:t>
            </a:r>
          </a:p>
          <a:p>
            <a:pPr lvl="3"/>
            <a:r>
              <a:rPr lang="fr-BE" dirty="0"/>
              <a:t>Très rapide.</a:t>
            </a:r>
          </a:p>
          <a:p>
            <a:pPr lvl="3"/>
            <a:r>
              <a:rPr lang="fr-BE" dirty="0"/>
              <a:t>Branches légères et flexibles.</a:t>
            </a:r>
          </a:p>
          <a:p>
            <a:pPr lvl="3"/>
            <a:r>
              <a:rPr lang="fr-BE" dirty="0"/>
              <a:t>Plus sécurisé (copies multiples)</a:t>
            </a:r>
          </a:p>
          <a:p>
            <a:pPr lvl="2"/>
            <a:r>
              <a:rPr lang="fr-BE" b="1" dirty="0"/>
              <a:t>Inconvénients :</a:t>
            </a:r>
            <a:endParaRPr lang="fr-BE" dirty="0"/>
          </a:p>
          <a:p>
            <a:pPr lvl="3"/>
            <a:r>
              <a:rPr lang="fr-BE" dirty="0"/>
              <a:t>Complexe</a:t>
            </a:r>
          </a:p>
        </p:txBody>
      </p:sp>
    </p:spTree>
    <p:extLst>
      <p:ext uri="{BB962C8B-B14F-4D97-AF65-F5344CB8AC3E}">
        <p14:creationId xmlns:p14="http://schemas.microsoft.com/office/powerpoint/2010/main" val="122925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9FB2-6879-81EB-616C-A3F9474B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A810B-8CBD-1D85-4939-1F9108C2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6C90FC-6159-75F3-1928-936AD535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GIT</a:t>
            </a:r>
          </a:p>
          <a:p>
            <a:pPr lvl="1"/>
            <a:r>
              <a:rPr lang="fr-BE" dirty="0"/>
              <a:t>Historique</a:t>
            </a:r>
          </a:p>
          <a:p>
            <a:pPr lvl="2"/>
            <a:r>
              <a:rPr lang="fr-BE" dirty="0"/>
              <a:t>Créé par Linus </a:t>
            </a:r>
            <a:r>
              <a:rPr lang="fr-BE" dirty="0" err="1"/>
              <a:t>Torvalds</a:t>
            </a:r>
            <a:r>
              <a:rPr lang="fr-BE" dirty="0"/>
              <a:t> en 2005 (créateur de Linux)</a:t>
            </a:r>
          </a:p>
          <a:p>
            <a:pPr lvl="2"/>
            <a:r>
              <a:rPr lang="fr-BE" dirty="0"/>
              <a:t>Conçu pour être :</a:t>
            </a:r>
          </a:p>
          <a:p>
            <a:pPr lvl="3"/>
            <a:r>
              <a:rPr lang="fr-BE" dirty="0"/>
              <a:t>rapide</a:t>
            </a:r>
          </a:p>
          <a:p>
            <a:pPr lvl="3"/>
            <a:r>
              <a:rPr lang="fr-BE" dirty="0"/>
              <a:t>fiable</a:t>
            </a:r>
          </a:p>
          <a:p>
            <a:pPr lvl="3"/>
            <a:r>
              <a:rPr lang="fr-BE" dirty="0"/>
              <a:t>distribué</a:t>
            </a:r>
          </a:p>
          <a:p>
            <a:pPr lvl="3"/>
            <a:r>
              <a:rPr lang="fr-BE" dirty="0"/>
              <a:t>léger pour les branches et merges</a:t>
            </a:r>
          </a:p>
          <a:p>
            <a:pPr lvl="2"/>
            <a:r>
              <a:rPr lang="fr-BE" dirty="0"/>
              <a:t>Aujourd’hui utilisé par la majorité des projets open-source et entreprises.</a:t>
            </a:r>
          </a:p>
          <a:p>
            <a:pPr lvl="3"/>
            <a:r>
              <a:rPr lang="fr-BE" dirty="0"/>
              <a:t>96% des développeurs (</a:t>
            </a:r>
            <a:r>
              <a:rPr lang="fr-BE" dirty="0">
                <a:hlinkClick r:id="rId2"/>
              </a:rPr>
              <a:t>https://survey.stackoverflow.co/2022/#version-control-version-control-system-prof</a:t>
            </a:r>
            <a:r>
              <a:rPr lang="fr-BE" dirty="0"/>
              <a:t>) l’utilise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420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F596A-3726-C8E6-83C1-4720C5B9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6DE9E2-6B57-C6E4-7024-C4449F9F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Rudiments - Ligne de commande (trop cool)</a:t>
            </a:r>
          </a:p>
          <a:p>
            <a:pPr lvl="1"/>
            <a:r>
              <a:rPr lang="fr-BE" b="1" dirty="0"/>
              <a:t>Pourquoi la ligne de commande ?</a:t>
            </a:r>
          </a:p>
          <a:p>
            <a:pPr lvl="2"/>
            <a:r>
              <a:rPr lang="fr-BE" dirty="0"/>
              <a:t>Plus rapide que les interfaces graphiques</a:t>
            </a:r>
          </a:p>
          <a:p>
            <a:pPr lvl="2"/>
            <a:r>
              <a:rPr lang="fr-BE" dirty="0"/>
              <a:t>Donne accès à </a:t>
            </a:r>
            <a:r>
              <a:rPr lang="fr-BE" b="1" dirty="0"/>
              <a:t>toutes</a:t>
            </a:r>
            <a:r>
              <a:rPr lang="fr-BE" dirty="0"/>
              <a:t> les fonctionnalités</a:t>
            </a:r>
          </a:p>
          <a:p>
            <a:pPr lvl="2"/>
            <a:r>
              <a:rPr lang="fr-BE" dirty="0"/>
              <a:t>Compréhension profonde de Git</a:t>
            </a:r>
          </a:p>
          <a:p>
            <a:pPr lvl="2"/>
            <a:r>
              <a:rPr lang="fr-BE" dirty="0"/>
              <a:t>Indispensable pour GitHub / </a:t>
            </a:r>
            <a:r>
              <a:rPr lang="fr-BE" dirty="0" err="1"/>
              <a:t>GitLab</a:t>
            </a:r>
            <a:r>
              <a:rPr lang="fr-BE" dirty="0"/>
              <a:t> / serveurs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5071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E069-0989-3B10-F363-CC54102A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2BB9BE-590E-061E-9C39-5F96B722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B22475-352D-73D9-93CD-061D4DF8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Vocabulaire</a:t>
            </a:r>
          </a:p>
          <a:p>
            <a:pPr lvl="1"/>
            <a:endParaRPr lang="fr-BE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6BFA427-A3D5-23B5-D3C0-9A894938B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064890"/>
              </p:ext>
            </p:extLst>
          </p:nvPr>
        </p:nvGraphicFramePr>
        <p:xfrm>
          <a:off x="2032000" y="2282995"/>
          <a:ext cx="8128000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4040319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80115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Mot 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Définition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15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Dépôt (repo)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Le dossier contenant le projet et tout son historique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58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Init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 un nouveau dépôt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48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Add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Préparer les fichiers pour un commit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Commit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Sauvegarde les modifications avec message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92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Stash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Met de côté des modifications non </a:t>
                      </a:r>
                      <a:r>
                        <a:rPr lang="fr-FR" dirty="0" err="1"/>
                        <a:t>committées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1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Branch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une ligne de développement parallèle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6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Merge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Fusionne deux branches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65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Clone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Copie un dépôt distant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833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3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500E-A4FD-FB5F-4FD7-B9ABBC41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47F2F-E891-144D-A366-F8EB12B2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C53A75-BDED-C817-5D01-89869094A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Démarrer un dépôt</a:t>
            </a:r>
          </a:p>
          <a:p>
            <a:pPr lvl="2"/>
            <a:r>
              <a:rPr lang="fr-BE" dirty="0"/>
              <a:t>Git init</a:t>
            </a:r>
          </a:p>
          <a:p>
            <a:pPr lvl="3"/>
            <a:r>
              <a:rPr lang="fr-BE" dirty="0"/>
              <a:t>Ça crée un sous répertoire .git qui contient tous les fichiers nécessaires à la gestion du dépôt</a:t>
            </a:r>
          </a:p>
          <a:p>
            <a:pPr lvl="1"/>
            <a:r>
              <a:rPr lang="fr-BE" dirty="0"/>
              <a:t>Cloner un dépôt distant</a:t>
            </a:r>
          </a:p>
          <a:p>
            <a:pPr lvl="2"/>
            <a:r>
              <a:rPr lang="fr-BE" dirty="0"/>
              <a:t>Git clone &lt;url&gt; par ex : https://github.com/libgit2/libgit2</a:t>
            </a:r>
          </a:p>
          <a:p>
            <a:pPr lvl="3"/>
            <a:r>
              <a:rPr lang="fr-BE" dirty="0"/>
              <a:t>Ça crée un répertoire  libgit2, initialise un répertoire .git, récupère toutes les données du dépôt et extrait toutes les dernières données de ce dépôt.</a:t>
            </a:r>
          </a:p>
          <a:p>
            <a:pPr lvl="1"/>
            <a:r>
              <a:rPr lang="fr-BE" dirty="0"/>
              <a:t>Visualiser l’historique</a:t>
            </a:r>
          </a:p>
          <a:p>
            <a:pPr lvl="2"/>
            <a:r>
              <a:rPr lang="fr-BE" dirty="0"/>
              <a:t>Git log [--online –graph]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68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58C7-9C9E-3CDC-A00B-E62D197D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C6E8B-0F57-C2AF-2CEE-7EAB9AA7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08038D-84E5-2FF5-0EF6-8E8EA657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Annuler des actions</a:t>
            </a:r>
          </a:p>
          <a:p>
            <a:pPr lvl="2"/>
            <a:r>
              <a:rPr lang="nb-NO" dirty="0"/>
              <a:t>git restore</a:t>
            </a:r>
          </a:p>
          <a:p>
            <a:pPr lvl="3"/>
            <a:r>
              <a:rPr lang="nb-NO" dirty="0"/>
              <a:t>Restaure les chemins spécifiés dans l’arbre avec certains contenus d’une source.</a:t>
            </a:r>
          </a:p>
          <a:p>
            <a:pPr lvl="2"/>
            <a:r>
              <a:rPr lang="nb-NO" dirty="0"/>
              <a:t>git reset</a:t>
            </a:r>
          </a:p>
          <a:p>
            <a:pPr lvl="3"/>
            <a:r>
              <a:rPr lang="nb-NO" dirty="0"/>
              <a:t>(1) copie les entrées d’un arbre vers l’index</a:t>
            </a:r>
          </a:p>
          <a:p>
            <a:pPr lvl="3"/>
            <a:r>
              <a:rPr lang="nb-NO" dirty="0"/>
              <a:t>(2) ramène la branche actuelle à un commit spécifique</a:t>
            </a:r>
          </a:p>
          <a:p>
            <a:pPr lvl="2"/>
            <a:r>
              <a:rPr lang="nb-NO" dirty="0"/>
              <a:t>git revert</a:t>
            </a:r>
          </a:p>
          <a:p>
            <a:pPr lvl="3"/>
            <a:r>
              <a:rPr lang="nb-NO" dirty="0"/>
              <a:t>Inverse l’ordre des modificationsque chaque commit introduit en enregistrant un nouveau commit</a:t>
            </a:r>
          </a:p>
          <a:p>
            <a:pPr lvl="1"/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9887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9179-4684-58A1-8D4D-69CE6929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363AF-C68F-8676-0FA5-D6D46AD5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C3D89-73EE-78CA-FADA-ABF7332D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Dépôt distant (</a:t>
            </a:r>
            <a:r>
              <a:rPr lang="fr-BE" dirty="0" err="1"/>
              <a:t>remote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Connexion à un serveur distant</a:t>
            </a:r>
          </a:p>
          <a:p>
            <a:pPr lvl="3"/>
            <a:r>
              <a:rPr lang="fr-BE" dirty="0" err="1"/>
              <a:t>Github</a:t>
            </a:r>
            <a:endParaRPr lang="fr-BE" dirty="0"/>
          </a:p>
          <a:p>
            <a:pPr lvl="3"/>
            <a:r>
              <a:rPr lang="fr-BE" dirty="0" err="1"/>
              <a:t>Gitlab</a:t>
            </a:r>
            <a:r>
              <a:rPr lang="fr-BE" dirty="0"/>
              <a:t> </a:t>
            </a:r>
          </a:p>
          <a:p>
            <a:pPr lvl="2"/>
            <a:r>
              <a:rPr lang="fr-BE" dirty="0"/>
              <a:t>Les commandes</a:t>
            </a:r>
          </a:p>
          <a:p>
            <a:pPr lvl="3"/>
            <a:r>
              <a:rPr lang="fr-BE" dirty="0"/>
              <a:t>Git </a:t>
            </a:r>
            <a:r>
              <a:rPr lang="fr-BE" dirty="0" err="1"/>
              <a:t>fetch</a:t>
            </a:r>
            <a:endParaRPr lang="fr-BE" dirty="0"/>
          </a:p>
          <a:p>
            <a:pPr lvl="4"/>
            <a:r>
              <a:rPr lang="fr-BE" dirty="0"/>
              <a:t>Récupère les branches ou les tags depuis un ou plusieurs autres dépôts, ainsi que les objets nécessaire pour compléter leur historique.</a:t>
            </a:r>
          </a:p>
          <a:p>
            <a:pPr lvl="3"/>
            <a:r>
              <a:rPr lang="fr-BE" dirty="0"/>
              <a:t>Git pull</a:t>
            </a:r>
          </a:p>
          <a:p>
            <a:pPr lvl="4"/>
            <a:r>
              <a:rPr lang="fr-BE" dirty="0"/>
              <a:t>Incorpore les modifications d’un dépôt distant dans la branche courante. SI cette branche et le dépôt ont divergés, un conflit devra être potentiellement résolu.</a:t>
            </a:r>
          </a:p>
          <a:p>
            <a:pPr lvl="3"/>
            <a:r>
              <a:rPr lang="fr-BE" dirty="0"/>
              <a:t>Git push</a:t>
            </a:r>
          </a:p>
          <a:p>
            <a:pPr lvl="4"/>
            <a:r>
              <a:rPr lang="fr-BE" dirty="0"/>
              <a:t>Met à jour les références distantes à l’aide des références locales, tout en envoyant les objets nécessaires pour compléter les références données.</a:t>
            </a:r>
          </a:p>
        </p:txBody>
      </p:sp>
    </p:spTree>
    <p:extLst>
      <p:ext uri="{BB962C8B-B14F-4D97-AF65-F5344CB8AC3E}">
        <p14:creationId xmlns:p14="http://schemas.microsoft.com/office/powerpoint/2010/main" val="417552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4FA27-694B-C6DB-3849-C46DED8C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4E26F-8488-3F0B-F3E5-A02466075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C06F7A-B38B-BECE-618E-A5769FD6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bases de GIT</a:t>
            </a:r>
          </a:p>
          <a:p>
            <a:pPr lvl="1"/>
            <a:r>
              <a:rPr lang="fr-BE" dirty="0"/>
              <a:t>Etiquette (tag)</a:t>
            </a:r>
          </a:p>
          <a:p>
            <a:pPr lvl="2"/>
            <a:r>
              <a:rPr lang="fr-BE" dirty="0"/>
              <a:t>Permet de marquer des versions stables ou des releases</a:t>
            </a:r>
          </a:p>
          <a:p>
            <a:pPr lvl="1"/>
            <a:r>
              <a:rPr lang="fr-BE" dirty="0"/>
              <a:t>Alias</a:t>
            </a:r>
          </a:p>
          <a:p>
            <a:pPr lvl="2"/>
            <a:r>
              <a:rPr lang="fr-BE" dirty="0"/>
              <a:t>Permet la création de commandes personnalisées au sein de la configuration du git installer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588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5CA8B-2B78-511B-081F-1BA55C6E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A8B076-662D-E047-B33F-A933F2D81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</a:t>
            </a:r>
          </a:p>
          <a:p>
            <a:pPr lvl="1"/>
            <a:r>
              <a:rPr lang="fr-BE" dirty="0"/>
              <a:t>Git commit</a:t>
            </a:r>
          </a:p>
          <a:p>
            <a:pPr lvl="1"/>
            <a:endParaRPr lang="fr-BE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049AC2-9AAF-49B1-B806-3CC6841A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339" y="2109879"/>
            <a:ext cx="7795461" cy="433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5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28BAD-34A1-09D7-42EF-128F3749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5DFCE-599B-F312-DBF1-2FBFCDCE9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 commit et son arbre	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FB1C405-1D31-465A-BAFC-BA7BB177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68" y="2310816"/>
            <a:ext cx="7773485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8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044BE-64C2-3CF8-0E9B-F9071EDB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FAA93-9AD6-3B5B-0E37-07D29BC0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branches</a:t>
            </a:r>
          </a:p>
          <a:p>
            <a:pPr lvl="1"/>
            <a:r>
              <a:rPr lang="fr-BE" dirty="0"/>
              <a:t>Git </a:t>
            </a:r>
            <a:r>
              <a:rPr lang="fr-BE" dirty="0" err="1"/>
              <a:t>branch</a:t>
            </a:r>
            <a:r>
              <a:rPr lang="fr-BE" dirty="0"/>
              <a:t> (ex : git </a:t>
            </a:r>
            <a:r>
              <a:rPr lang="fr-BE" dirty="0" err="1"/>
              <a:t>branch</a:t>
            </a:r>
            <a:r>
              <a:rPr lang="fr-BE" dirty="0"/>
              <a:t> </a:t>
            </a:r>
            <a:r>
              <a:rPr lang="fr-BE" dirty="0" err="1"/>
              <a:t>testing</a:t>
            </a:r>
            <a:r>
              <a:rPr lang="fr-BE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2F9649-CDEC-4083-A08F-61EC6E8D7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871" y="2643370"/>
            <a:ext cx="6604929" cy="366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044BE-64C2-3CF8-0E9B-F9071EDB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2. Contrôle de version - GIT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FAA93-9AD6-3B5B-0E37-07D29BC0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Les branches</a:t>
            </a:r>
          </a:p>
          <a:p>
            <a:pPr lvl="1"/>
            <a:r>
              <a:rPr lang="fr-BE"/>
              <a:t>Git checkout (ex: testing)</a:t>
            </a:r>
            <a:endParaRPr lang="fr-BE" dirty="0"/>
          </a:p>
        </p:txBody>
      </p:sp>
      <p:pic>
        <p:nvPicPr>
          <p:cNvPr id="5" name="Image 4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5BEB2A81-5F5B-CBEF-A24E-28373ACB4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686" y="2658595"/>
            <a:ext cx="6373114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0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044BE-64C2-3CF8-0E9B-F9071EDB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FAA93-9AD6-3B5B-0E37-07D29BC0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branches</a:t>
            </a:r>
          </a:p>
          <a:p>
            <a:pPr lvl="1"/>
            <a:r>
              <a:rPr lang="fr-BE" dirty="0"/>
              <a:t>Git commit</a:t>
            </a:r>
          </a:p>
        </p:txBody>
      </p:sp>
      <p:pic>
        <p:nvPicPr>
          <p:cNvPr id="5" name="Image 4" descr="Une image contenant capture d’écran, texte, Rectangle, carré&#10;&#10;Le contenu généré par l’IA peut être incorrect.">
            <a:extLst>
              <a:ext uri="{FF2B5EF4-FFF2-40B4-BE49-F238E27FC236}">
                <a16:creationId xmlns:a16="http://schemas.microsoft.com/office/drawing/2014/main" id="{90E18631-32D0-FC1C-7B41-56647D754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830" y="2653318"/>
            <a:ext cx="7615607" cy="322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6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044BE-64C2-3CF8-0E9B-F9071EDB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FAA93-9AD6-3B5B-0E37-07D29BC0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branches</a:t>
            </a:r>
          </a:p>
          <a:p>
            <a:pPr lvl="1"/>
            <a:r>
              <a:rPr lang="fr-BE" dirty="0"/>
              <a:t>Git log</a:t>
            </a:r>
          </a:p>
          <a:p>
            <a:endParaRPr lang="fr-BE" dirty="0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E00BCF6-7E55-414E-E137-0DB549C4F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041" y="2222642"/>
            <a:ext cx="8199759" cy="395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3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26C71-2E18-7D2F-D413-49F0574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16352-F52A-801C-3C7A-70C8B01E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 (1)</a:t>
            </a:r>
          </a:p>
        </p:txBody>
      </p:sp>
      <p:pic>
        <p:nvPicPr>
          <p:cNvPr id="5" name="Image 4" descr="Une image contenant capture d’écran, texte, Police, Rectangle&#10;&#10;Le contenu généré par l’IA peut être incorrect.">
            <a:extLst>
              <a:ext uri="{FF2B5EF4-FFF2-40B4-BE49-F238E27FC236}">
                <a16:creationId xmlns:a16="http://schemas.microsoft.com/office/drawing/2014/main" id="{C35155D3-5F71-FE48-1122-A6537E0D3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2756"/>
            <a:ext cx="6296904" cy="1962424"/>
          </a:xfrm>
          <a:prstGeom prst="rect">
            <a:avLst/>
          </a:prstGeom>
        </p:spPr>
      </p:pic>
      <p:pic>
        <p:nvPicPr>
          <p:cNvPr id="7" name="Image 6" descr="Une image contenant texte, Appareils électroniques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E4E21E5-9DDD-2EB6-C396-8BC07A677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093" y="2742756"/>
            <a:ext cx="6344535" cy="3553321"/>
          </a:xfrm>
          <a:prstGeom prst="rect">
            <a:avLst/>
          </a:prstGeom>
        </p:spPr>
      </p:pic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C90DCAE-BC3B-2292-35BC-D8370CC9D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798" y="3041046"/>
            <a:ext cx="6306430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6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6AAB-CA9E-6A0A-6EC1-375D4419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D70E47-0E7B-A13C-9B00-92ABC40E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2B5618-94DB-6905-1ABA-6DF5C259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 (2)</a:t>
            </a:r>
          </a:p>
        </p:txBody>
      </p:sp>
      <p:pic>
        <p:nvPicPr>
          <p:cNvPr id="5" name="Image 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909FBB8-95FB-DBC2-BFDE-DEB634368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791" y="1825625"/>
            <a:ext cx="6335009" cy="4163006"/>
          </a:xfrm>
          <a:prstGeom prst="rect">
            <a:avLst/>
          </a:prstGeom>
        </p:spPr>
      </p:pic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8E0223D-13EB-1DEA-5F59-EACEE8537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999" y="2725863"/>
            <a:ext cx="6335009" cy="1181265"/>
          </a:xfrm>
          <a:prstGeom prst="rect">
            <a:avLst/>
          </a:prstGeom>
        </p:spPr>
      </p:pic>
      <p:pic>
        <p:nvPicPr>
          <p:cNvPr id="9" name="Image 8" descr="Une image contenant capture d’écran, texte, Police, nombre&#10;&#10;Le contenu généré par l’IA peut être incorrect.">
            <a:extLst>
              <a:ext uri="{FF2B5EF4-FFF2-40B4-BE49-F238E27FC236}">
                <a16:creationId xmlns:a16="http://schemas.microsoft.com/office/drawing/2014/main" id="{538DF752-79E1-2AC6-9A9B-FA2EE1F4F6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790" y="2178099"/>
            <a:ext cx="619211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1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26C71-2E18-7D2F-D413-49F0574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16352-F52A-801C-3C7A-70C8B01E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</a:t>
            </a:r>
            <a:r>
              <a:rPr lang="fr-BE" dirty="0" err="1"/>
              <a:t>delete</a:t>
            </a:r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C2CA06-0ED6-C22F-B9F4-FDB1F8439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393" y="2753154"/>
            <a:ext cx="6296904" cy="466790"/>
          </a:xfrm>
          <a:prstGeom prst="rect">
            <a:avLst/>
          </a:prstGeom>
        </p:spPr>
      </p:pic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96A5B9F-C39B-0977-59BB-1F12EBE3C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96" y="2246689"/>
            <a:ext cx="6296904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5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C7A5A-51B8-5E18-519A-34DC28D9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5E2A47-D791-EF93-3132-27509203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B2DDD8-15A0-1160-4C67-44ED6163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 (3)</a:t>
            </a:r>
          </a:p>
        </p:txBody>
      </p:sp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E6EB18F-8A00-BE23-880F-F03064C6D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59" y="2788288"/>
            <a:ext cx="6306430" cy="1124107"/>
          </a:xfrm>
          <a:prstGeom prst="rect">
            <a:avLst/>
          </a:prstGeom>
        </p:spPr>
      </p:pic>
      <p:pic>
        <p:nvPicPr>
          <p:cNvPr id="7" name="Image 6" descr="Une image contenant capture d’écran, texte, nombre, Police&#10;&#10;Le contenu généré par l’IA peut être incorrect.">
            <a:extLst>
              <a:ext uri="{FF2B5EF4-FFF2-40B4-BE49-F238E27FC236}">
                <a16:creationId xmlns:a16="http://schemas.microsoft.com/office/drawing/2014/main" id="{2093F262-E512-73AB-B91C-AF4BE4DAA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87" y="2784225"/>
            <a:ext cx="7809808" cy="28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7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ABA9-3A08-0197-DFBA-245B17A3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AA1BE-3FA0-8F43-4932-670EC5FDE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FC107C-D39C-DCA9-C52E-EC2BB7C75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 (4)</a:t>
            </a:r>
          </a:p>
        </p:txBody>
      </p:sp>
      <p:pic>
        <p:nvPicPr>
          <p:cNvPr id="9" name="Image 8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125EF473-FE9C-5AB0-9AAE-51C7BE51D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825" y="2794057"/>
            <a:ext cx="8948350" cy="298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8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EC7AC-77E1-58D9-DDBA-05A11C3C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0AC84-F43C-B4ED-EDCF-683B87BB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388CC9-62B2-4224-B91F-EACD72AD9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 (5)</a:t>
            </a:r>
          </a:p>
        </p:txBody>
      </p:sp>
      <p:pic>
        <p:nvPicPr>
          <p:cNvPr id="5" name="Image 4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C97849F-F34C-F289-01A3-BA5534C0A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548" y="2628788"/>
            <a:ext cx="6296904" cy="800212"/>
          </a:xfrm>
          <a:prstGeom prst="rect">
            <a:avLst/>
          </a:prstGeom>
        </p:spPr>
      </p:pic>
      <p:pic>
        <p:nvPicPr>
          <p:cNvPr id="7" name="Image 6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BF319B23-89F3-F642-6ECA-21F92E98F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022" y="2802452"/>
            <a:ext cx="6306430" cy="2000529"/>
          </a:xfrm>
          <a:prstGeom prst="rect">
            <a:avLst/>
          </a:prstGeom>
        </p:spPr>
      </p:pic>
      <p:pic>
        <p:nvPicPr>
          <p:cNvPr id="10" name="Image 9" descr="Une image contenant texte, Police, capture d’écran, algèbre&#10;&#10;Le contenu généré par l’IA peut être incorrect.">
            <a:extLst>
              <a:ext uri="{FF2B5EF4-FFF2-40B4-BE49-F238E27FC236}">
                <a16:creationId xmlns:a16="http://schemas.microsoft.com/office/drawing/2014/main" id="{F07914AB-E264-30EF-A3C5-C41DE4ACE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548" y="2940584"/>
            <a:ext cx="6306430" cy="1324160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3FD6BFA-6D87-8FE5-0A7C-9EC02C5DFB7C}"/>
              </a:ext>
            </a:extLst>
          </p:cNvPr>
          <p:cNvCxnSpPr>
            <a:cxnSpLocks/>
          </p:cNvCxnSpPr>
          <p:nvPr/>
        </p:nvCxnSpPr>
        <p:spPr>
          <a:xfrm>
            <a:off x="1524000" y="5781368"/>
            <a:ext cx="934065" cy="0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E97D2D2C-0EC0-2B79-4E38-810A7B84F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042" y="5527536"/>
            <a:ext cx="1368940" cy="50194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2B768D5-3B32-4D34-5BCB-32C6CBB079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266" y="5534347"/>
            <a:ext cx="2421469" cy="4694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3328782-742D-0E78-8DEA-B61AFBB43694}"/>
              </a:ext>
            </a:extLst>
          </p:cNvPr>
          <p:cNvCxnSpPr>
            <a:cxnSpLocks/>
          </p:cNvCxnSpPr>
          <p:nvPr/>
        </p:nvCxnSpPr>
        <p:spPr>
          <a:xfrm flipH="1">
            <a:off x="4227689" y="5291959"/>
            <a:ext cx="454540" cy="9756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85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7B41-628A-C59C-D04C-FE6A19E7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FEFDB-9D97-78DE-3D6F-DD71BFC9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550EC7-921F-744A-04D4-33F4FA0A8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merge (6)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D692E90-C680-44B3-5C33-AA9B67F1626A}"/>
              </a:ext>
            </a:extLst>
          </p:cNvPr>
          <p:cNvCxnSpPr>
            <a:cxnSpLocks/>
          </p:cNvCxnSpPr>
          <p:nvPr/>
        </p:nvCxnSpPr>
        <p:spPr>
          <a:xfrm>
            <a:off x="1514167" y="3313471"/>
            <a:ext cx="934065" cy="0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affichag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58FEFD66-D536-70D1-2945-7A5A443B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022" y="2858469"/>
            <a:ext cx="6315956" cy="1514686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105BFF7-8F17-012E-2DA2-C1AAA0B6AE89}"/>
              </a:ext>
            </a:extLst>
          </p:cNvPr>
          <p:cNvCxnSpPr>
            <a:cxnSpLocks/>
          </p:cNvCxnSpPr>
          <p:nvPr/>
        </p:nvCxnSpPr>
        <p:spPr>
          <a:xfrm>
            <a:off x="1514166" y="4862052"/>
            <a:ext cx="934065" cy="0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950A167C-EDCA-DD6A-A0F0-E739AC8A4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022" y="4742973"/>
            <a:ext cx="819264" cy="238158"/>
          </a:xfrm>
          <a:prstGeom prst="rect">
            <a:avLst/>
          </a:prstGeom>
        </p:spPr>
      </p:pic>
      <p:pic>
        <p:nvPicPr>
          <p:cNvPr id="14" name="Image 13" descr="Une image contenant texte, capture d’écran, affichage, Police&#10;&#10;Le contenu généré par l’IA peut être incorrect.">
            <a:extLst>
              <a:ext uri="{FF2B5EF4-FFF2-40B4-BE49-F238E27FC236}">
                <a16:creationId xmlns:a16="http://schemas.microsoft.com/office/drawing/2014/main" id="{EC0591D0-1070-4379-9945-879D80816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520" y="3061576"/>
            <a:ext cx="6306430" cy="3362794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7834BF1-FA3B-8F1E-D5D7-C08A2B08EE51}"/>
              </a:ext>
            </a:extLst>
          </p:cNvPr>
          <p:cNvCxnSpPr>
            <a:cxnSpLocks/>
          </p:cNvCxnSpPr>
          <p:nvPr/>
        </p:nvCxnSpPr>
        <p:spPr>
          <a:xfrm>
            <a:off x="4124630" y="4862052"/>
            <a:ext cx="934065" cy="0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1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26C71-2E18-7D2F-D413-49F0574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16352-F52A-801C-3C7A-70C8B01E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</a:t>
            </a:r>
            <a:r>
              <a:rPr lang="fr-BE" dirty="0" err="1"/>
              <a:t>fetch</a:t>
            </a:r>
            <a:endParaRPr lang="fr-BE" dirty="0"/>
          </a:p>
        </p:txBody>
      </p:sp>
      <p:pic>
        <p:nvPicPr>
          <p:cNvPr id="5" name="Image 4" descr="Une image contenant texte, capture d’écran, nombre, calculatrice&#10;&#10;Le contenu généré par l’IA peut être incorrect.">
            <a:extLst>
              <a:ext uri="{FF2B5EF4-FFF2-40B4-BE49-F238E27FC236}">
                <a16:creationId xmlns:a16="http://schemas.microsoft.com/office/drawing/2014/main" id="{B1609558-3D59-53BF-0FA2-5905958B3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528" y="1772133"/>
            <a:ext cx="6068272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2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26C71-2E18-7D2F-D413-49F0574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16352-F52A-801C-3C7A-70C8B01E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push</a:t>
            </a:r>
          </a:p>
        </p:txBody>
      </p:sp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8DF55B2-ABBB-97BB-2A93-5E62B0D64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057" y="2666587"/>
            <a:ext cx="9081886" cy="21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26C71-2E18-7D2F-D413-49F0574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16352-F52A-801C-3C7A-70C8B01E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rebase (1)</a:t>
            </a:r>
          </a:p>
        </p:txBody>
      </p:sp>
      <p:pic>
        <p:nvPicPr>
          <p:cNvPr id="5" name="Image 4" descr="Une image contenant capture d’écran, texte, Police, nombre&#10;&#10;Le contenu généré par l’IA peut être incorrect.">
            <a:extLst>
              <a:ext uri="{FF2B5EF4-FFF2-40B4-BE49-F238E27FC236}">
                <a16:creationId xmlns:a16="http://schemas.microsoft.com/office/drawing/2014/main" id="{8AB09FC3-B193-D60A-1B48-36734265F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62510"/>
            <a:ext cx="6068272" cy="2886478"/>
          </a:xfrm>
          <a:prstGeom prst="rect">
            <a:avLst/>
          </a:prstGeom>
        </p:spPr>
      </p:pic>
      <p:pic>
        <p:nvPicPr>
          <p:cNvPr id="7" name="Image 6" descr="Une image contenant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95E8E1D-01A9-CCFF-E29F-DD1448195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731" y="2760052"/>
            <a:ext cx="7971025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F2B5-4B95-FFC2-9215-866A0753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D05161-EA2A-9410-80BC-EC024CA6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2075D3-F147-3A76-8280-F475D9D9D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rebase (2)</a:t>
            </a:r>
          </a:p>
        </p:txBody>
      </p:sp>
      <p:pic>
        <p:nvPicPr>
          <p:cNvPr id="5" name="Image 4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56E55C5-B591-C9BC-4FBC-17DD78BBF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8788"/>
            <a:ext cx="6306430" cy="800212"/>
          </a:xfrm>
          <a:prstGeom prst="rect">
            <a:avLst/>
          </a:prstGeom>
        </p:spPr>
      </p:pic>
      <p:pic>
        <p:nvPicPr>
          <p:cNvPr id="7" name="Image 6" descr="Une image contenant capture d’écran, prise&#10;&#10;Le contenu généré par l’IA peut être incorrect.">
            <a:extLst>
              <a:ext uri="{FF2B5EF4-FFF2-40B4-BE49-F238E27FC236}">
                <a16:creationId xmlns:a16="http://schemas.microsoft.com/office/drawing/2014/main" id="{6A401ADF-EA26-BF14-D1AF-6122DB9BE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63937"/>
            <a:ext cx="9672484" cy="274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7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1AF5-16E5-1A36-4DFF-364B2BDC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08AF2-87EA-8493-0F6E-926A7A84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0DF53E-5A91-09AA-B4FC-799AF202E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branches et fusion</a:t>
            </a:r>
          </a:p>
          <a:p>
            <a:pPr lvl="1"/>
            <a:r>
              <a:rPr lang="fr-BE" dirty="0"/>
              <a:t>Git rebase (3)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6B638A-B75E-DCE5-3999-D8BF12786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28420"/>
            <a:ext cx="6315956" cy="457264"/>
          </a:xfrm>
          <a:prstGeom prst="rect">
            <a:avLst/>
          </a:prstGeom>
        </p:spPr>
      </p:pic>
      <p:pic>
        <p:nvPicPr>
          <p:cNvPr id="7" name="Image 6" descr="Une image contenant capture d’écran, texte, prise&#10;&#10;Le contenu généré par l’IA peut être incorrect.">
            <a:extLst>
              <a:ext uri="{FF2B5EF4-FFF2-40B4-BE49-F238E27FC236}">
                <a16:creationId xmlns:a16="http://schemas.microsoft.com/office/drawing/2014/main" id="{6559959F-1F67-04E1-F636-BB5F51BE7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88584"/>
            <a:ext cx="9061195" cy="25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328EDB-931B-4B2F-8563-E0B08289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3EB160-88CD-42C2-982C-F5988C263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BE" dirty="0"/>
              <a:t>Les Protocoles</a:t>
            </a:r>
          </a:p>
          <a:p>
            <a:pPr lvl="2"/>
            <a:r>
              <a:rPr lang="fr-BE" dirty="0"/>
              <a:t>Local</a:t>
            </a:r>
          </a:p>
          <a:p>
            <a:pPr lvl="3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http </a:t>
            </a:r>
          </a:p>
          <a:p>
            <a:pPr lvl="3"/>
            <a:endParaRPr lang="fr-BE" dirty="0"/>
          </a:p>
          <a:p>
            <a:pPr lvl="2"/>
            <a:r>
              <a:rPr lang="fr-BE" dirty="0"/>
              <a:t>SSH</a:t>
            </a:r>
          </a:p>
          <a:p>
            <a:pPr lvl="3"/>
            <a:endParaRPr lang="fr-BE" dirty="0"/>
          </a:p>
          <a:p>
            <a:pPr lvl="2"/>
            <a:r>
              <a:rPr lang="fr-BE" dirty="0"/>
              <a:t>Git</a:t>
            </a:r>
          </a:p>
          <a:p>
            <a:pPr lvl="3"/>
            <a:r>
              <a:rPr lang="fr-BE" dirty="0"/>
              <a:t>Comme SSH mais sans sécurité mais en plus rapide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F78D35-6D12-3519-E685-0BA30C801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567" y="2258787"/>
            <a:ext cx="6325483" cy="2953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0045038-0C98-1C56-49A0-C40DCB4A1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567" y="2554103"/>
            <a:ext cx="6325483" cy="3143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A8E184D-1043-E560-E654-8B5A1750A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566" y="3220323"/>
            <a:ext cx="6325483" cy="2953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79C90C9-ACD2-59A9-C082-E8B4AF0414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566" y="3886543"/>
            <a:ext cx="6315956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4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328EDB-931B-4B2F-8563-E0B08289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Contrôle de version -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3EB160-88CD-42C2-982C-F5988C263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Contribuer à un projet</a:t>
            </a:r>
          </a:p>
          <a:p>
            <a:pPr lvl="2"/>
            <a:r>
              <a:rPr lang="fr-FR" dirty="0"/>
              <a:t>Fork</a:t>
            </a:r>
          </a:p>
          <a:p>
            <a:pPr lvl="3"/>
            <a:r>
              <a:rPr lang="fr-FR" dirty="0"/>
              <a:t>Si on veut contribuer à un projet sur lequel on n'a pas le droit de push, on peut travailler sur une version dupliquée</a:t>
            </a:r>
          </a:p>
          <a:p>
            <a:pPr lvl="3"/>
            <a:r>
              <a:rPr lang="fr-FR" dirty="0"/>
              <a:t>Une fois le code modifié, on push sur sa branche, puis on créé un « pull </a:t>
            </a:r>
            <a:r>
              <a:rPr lang="fr-FR" dirty="0" err="1"/>
              <a:t>request</a:t>
            </a:r>
            <a:r>
              <a:rPr lang="fr-FR" dirty="0"/>
              <a:t> » pour demander au « </a:t>
            </a:r>
            <a:r>
              <a:rPr lang="fr-FR" dirty="0" err="1"/>
              <a:t>maintainer</a:t>
            </a:r>
            <a:r>
              <a:rPr lang="fr-FR" dirty="0"/>
              <a:t> » du projet d’origine de vérifier la pertinence de votre code et sa plus value avant réintégration.</a:t>
            </a:r>
          </a:p>
        </p:txBody>
      </p:sp>
    </p:spTree>
    <p:extLst>
      <p:ext uri="{BB962C8B-B14F-4D97-AF65-F5344CB8AC3E}">
        <p14:creationId xmlns:p14="http://schemas.microsoft.com/office/powerpoint/2010/main" val="24839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TM03457515[[fn=Vue]]</Template>
  <TotalTime>1514</TotalTime>
  <Words>1860</Words>
  <Application>Microsoft Office PowerPoint</Application>
  <PresentationFormat>Grand écran</PresentationFormat>
  <Paragraphs>345</Paragraphs>
  <Slides>47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Thème Office</vt:lpstr>
      <vt:lpstr>Module 1 – Programmation web Frontend</vt:lpstr>
      <vt:lpstr>Planning</vt:lpstr>
      <vt:lpstr>Source </vt:lpstr>
      <vt:lpstr>Chapitre 4</vt:lpstr>
      <vt:lpstr>Chapitre 4</vt:lpstr>
      <vt:lpstr>Chapitre 4</vt:lpstr>
      <vt:lpstr>Chapitre 4</vt:lpstr>
      <vt:lpstr>1. Rappel</vt:lpstr>
      <vt:lpstr>1. Rappel</vt:lpstr>
      <vt:lpstr>1. Rappel</vt:lpstr>
      <vt:lpstr>1. Rappel</vt:lpstr>
      <vt:lpstr>1. Rappel</vt:lpstr>
      <vt:lpstr>1. Rappel</vt:lpstr>
      <vt:lpstr>1. Rappel</vt:lpstr>
      <vt:lpstr>1. Rappel</vt:lpstr>
      <vt:lpstr>1. Rappel</vt:lpstr>
      <vt:lpstr>1. Rappel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  <vt:lpstr>2. Contrôle de version -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– Programmation web Frontend</dc:title>
  <dc:creator>joachim lejeune</dc:creator>
  <cp:lastModifiedBy>joachim lejeune</cp:lastModifiedBy>
  <cp:revision>28</cp:revision>
  <dcterms:created xsi:type="dcterms:W3CDTF">2025-11-13T18:11:15Z</dcterms:created>
  <dcterms:modified xsi:type="dcterms:W3CDTF">2025-11-20T13:41:06Z</dcterms:modified>
</cp:coreProperties>
</file>