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3" r:id="rId15"/>
    <p:sldId id="274" r:id="rId16"/>
    <p:sldId id="275" r:id="rId17"/>
    <p:sldId id="279" r:id="rId18"/>
    <p:sldId id="276" r:id="rId19"/>
    <p:sldId id="277" r:id="rId20"/>
    <p:sldId id="280" r:id="rId21"/>
    <p:sldId id="281" r:id="rId22"/>
    <p:sldId id="283" r:id="rId23"/>
    <p:sldId id="282" r:id="rId24"/>
    <p:sldId id="260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462DA-C523-4307-83BD-3ACFD4A8708B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35B9F-2F98-4522-BD06-8685CDCEE96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879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66488-AB53-5AD9-4938-C36FFAF96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9F53AE-DED4-420D-D566-FE9A5CA7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F715D1-E43A-802A-389F-BB417261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7BC523-50EA-82CC-7D9D-20F1F89E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D638C-6917-90FB-FD13-F8B776AF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458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811BC-3BAC-4F17-E35E-0F19CBAB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DD411F-A4E6-78D9-21E6-1A7E6940C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3D4DAE-1797-38AD-141D-F1A790B6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56BF0E-8669-60A7-0858-F0D05468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2C1D3F-12AD-17B4-59B8-C94A3A62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413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F8D3F-2053-0669-E9B6-FC3E979D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EE06E-5C79-B43D-329D-B0AD125AD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165665-172C-ED3A-2E08-83CB8121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49C778-A189-008C-26FE-A297C016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91B641-DF8F-9871-22A6-1E1A2D2C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349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44C47-514C-BBAB-B6B2-6BB6F325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ED5A8D-F4EB-FCE8-A55E-E0FD81DF9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DAFDCC-22D5-88C6-3CE3-140EBEAB9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6A13D0-1E8F-6E5A-E95F-2399C8BA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385D92-9235-F642-E9FF-EC5F7273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1CDE8C-939F-5632-B26F-1D60FBDA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503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3643B-4A3B-15EF-04EC-5C66FBD3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901493-6511-DE56-D775-F43B337D5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EBAA46-97DF-522D-652C-1B4642791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61152C-32AF-B12F-E368-5103F70C7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B4C1516-7EB6-9563-618B-BD2D7A5D6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A15C24-8801-2561-71F0-33395ABE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69363D-7ED0-4FCD-F52F-87B1AA73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7E63A3-A333-8C6E-F706-FDFF4600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3428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B87893-77FB-7AE9-24AF-B67F63C1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94E6013-2790-1458-7AF0-A101B6FD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CECFFC2-ED8B-ED53-0F91-05A9A161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B456BD-75D9-9A31-41EE-C8E55080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134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FF9EC1-F922-F6B5-1DB3-FB765BC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C5284F-2A1F-B6FC-D5E2-1F1F80EE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96A603-8A1B-1D77-59DF-7219E9FC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378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E839C-F61A-8F3F-E496-F0DEB9D38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0B1745-F7C8-9CBE-5DD6-DD84DA4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8F8EA0-89CA-745E-5E92-5B68BB601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9EE79A-E04E-7CAA-7D22-39310122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89A854-C977-498D-1F9D-A03E56B9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D8DFF6-438D-8673-A270-71CEEE77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5549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6E96A-4E36-4F26-31BB-1A2C91B0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C8BD2FA-D73D-F7D6-A4E7-AA2494482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8FEAA0-9F87-AFE1-F63B-28698CD96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225D28-0AE8-D7EA-E99A-513F60AF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E89C2D-6256-B430-BD0A-9B38F97C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8DB43E-891F-BC37-2631-806C9071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171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82858-9671-705E-B8AA-BB3C1130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49F675-00F5-80C4-D034-4A3FE902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C500AE-75CE-9A2D-DF31-6D0CFF9B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CC6EEE-3B17-5A5A-EF55-0A1A21DD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375407-9ADC-21C3-66C3-7CBFFC3D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9153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50BCB05-8A90-0138-B0E6-5C18028B5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D03D52-85D6-7BCC-2F8D-51116DA7B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14913E-306B-96CE-CB23-E63D432E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9403A-3340-2D48-9344-5637FD3F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092D11-3438-8DF3-C105-3C5D1F96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6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9EBCD6-30CB-B87A-8884-64740798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4C06D7-1364-3187-CA53-1555E99B2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319DD2-F689-E641-5100-C97BEA51A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88DC8-DBAF-4DFD-82C4-E26E5EA1CF01}" type="datetimeFigureOut">
              <a:rPr lang="fr-BE" smtClean="0"/>
              <a:t>15-10-25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DFE227-A282-1652-E2C3-A5FF27C6B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CE5B9C-6D0E-03C4-D935-AD9CC5A00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28DA1-C487-43C3-B12C-C9CE03CFAD1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3470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vaypaula4b.blogspot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5FACC-8ACE-DAF2-94CB-153B70589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111BB8-DD37-898D-401E-FB29C62BB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865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C9C27-ECFE-D14F-00A7-511FE5C6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Planning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D2DDCE-0A4A-D02D-726C-377C363C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rgbClr val="00B0F0"/>
                </a:solidFill>
              </a:rPr>
              <a:t>18/10/25– Chapitre 2. Introduction web – HTML et CSS</a:t>
            </a:r>
          </a:p>
          <a:p>
            <a:r>
              <a:rPr lang="fr-BE" dirty="0"/>
              <a:t>8/11/25 – Chapitre 3. Introduction web – Arborescence et Formulaire</a:t>
            </a:r>
          </a:p>
          <a:p>
            <a:r>
              <a:rPr lang="fr-BE" dirty="0"/>
              <a:t>22/11 /25 – Chapitre 4. Introduction Team Workflow - Git</a:t>
            </a:r>
          </a:p>
          <a:p>
            <a:r>
              <a:rPr lang="fr-BE" dirty="0"/>
              <a:t>6/12 /25– Chapitre 5. Introduction à Javascript</a:t>
            </a:r>
          </a:p>
          <a:p>
            <a:r>
              <a:rPr lang="fr-BE" dirty="0"/>
              <a:t>10/01/26 – Chapitre 6.</a:t>
            </a:r>
          </a:p>
          <a:p>
            <a:r>
              <a:rPr lang="fr-BE" dirty="0"/>
              <a:t>24/01/26  - Chapitre 7.</a:t>
            </a:r>
          </a:p>
          <a:p>
            <a:r>
              <a:rPr lang="fr-BE" dirty="0"/>
              <a:t>07/02/26  - Chapitre 8.</a:t>
            </a:r>
          </a:p>
          <a:p>
            <a:r>
              <a:rPr lang="fr-BE" dirty="0"/>
              <a:t>21/02/26  - Chapitre 9. Introduction Framework Javascript</a:t>
            </a:r>
          </a:p>
          <a:p>
            <a:r>
              <a:rPr lang="fr-BE" dirty="0"/>
              <a:t>14/03/26 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Chapitre 1.</a:t>
            </a:r>
          </a:p>
          <a:p>
            <a:r>
              <a:rPr lang="fr-BE" dirty="0"/>
              <a:t>11/04/26 – Chapitre 2.</a:t>
            </a:r>
          </a:p>
          <a:p>
            <a:r>
              <a:rPr lang="fr-BE" dirty="0"/>
              <a:t>25/04/26 – Chapitre 3.</a:t>
            </a:r>
          </a:p>
          <a:p>
            <a:r>
              <a:rPr lang="fr-BE" dirty="0"/>
              <a:t>23/05/26  - Examen </a:t>
            </a:r>
          </a:p>
        </p:txBody>
      </p:sp>
    </p:spTree>
    <p:extLst>
      <p:ext uri="{BB962C8B-B14F-4D97-AF65-F5344CB8AC3E}">
        <p14:creationId xmlns:p14="http://schemas.microsoft.com/office/powerpoint/2010/main" val="90897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0F9A5-7232-07CB-A675-3A987183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2.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E5B2A4-45BE-EACC-E9CA-C1C49A12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1. Rappel</a:t>
            </a:r>
          </a:p>
          <a:p>
            <a:pPr lvl="1"/>
            <a:r>
              <a:rPr lang="fr-FR" dirty="0"/>
              <a:t>Structure du web</a:t>
            </a:r>
          </a:p>
          <a:p>
            <a:pPr lvl="1"/>
            <a:r>
              <a:rPr lang="fr-FR" dirty="0"/>
              <a:t>Vocabulaire</a:t>
            </a:r>
          </a:p>
          <a:p>
            <a:pPr lvl="1"/>
            <a:r>
              <a:rPr lang="fr-FR" dirty="0"/>
              <a:t>Outils (IDE et navigateurs)</a:t>
            </a:r>
          </a:p>
          <a:p>
            <a:pPr lvl="1"/>
            <a:r>
              <a:rPr lang="fr-FR" dirty="0"/>
              <a:t>HTML</a:t>
            </a:r>
          </a:p>
          <a:p>
            <a:r>
              <a:rPr lang="fr-FR" dirty="0"/>
              <a:t>2. Introduction CSS</a:t>
            </a:r>
          </a:p>
          <a:p>
            <a:pPr lvl="1"/>
            <a:r>
              <a:rPr lang="fr-FR" dirty="0"/>
              <a:t>Fond et Forme</a:t>
            </a:r>
          </a:p>
          <a:p>
            <a:pPr lvl="1"/>
            <a:r>
              <a:rPr lang="fr-FR" dirty="0"/>
              <a:t>Les types de styles</a:t>
            </a:r>
          </a:p>
          <a:p>
            <a:pPr lvl="1"/>
            <a:r>
              <a:rPr lang="fr-FR" dirty="0"/>
              <a:t>Les règles et déclarations</a:t>
            </a:r>
          </a:p>
          <a:p>
            <a:pPr lvl="1"/>
            <a:r>
              <a:rPr lang="fr-FR" dirty="0"/>
              <a:t>Les sélecteurs</a:t>
            </a:r>
          </a:p>
          <a:p>
            <a:pPr lvl="1"/>
            <a:r>
              <a:rPr lang="fr-FR" dirty="0"/>
              <a:t>Les balises sémantiques div et </a:t>
            </a:r>
            <a:r>
              <a:rPr lang="fr-FR" dirty="0" err="1"/>
              <a:t>span</a:t>
            </a:r>
            <a:endParaRPr lang="fr-FR" dirty="0"/>
          </a:p>
          <a:p>
            <a:pPr lvl="1"/>
            <a:r>
              <a:rPr lang="fr-FR" dirty="0"/>
              <a:t>Les balises sémantiques HTML5</a:t>
            </a:r>
          </a:p>
          <a:p>
            <a:pPr lvl="1"/>
            <a:r>
              <a:rPr lang="fr-FR" dirty="0"/>
              <a:t>Les unités de mesures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2193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BF177-3B88-EC5F-70C3-45DF8BBE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1CFC9B-94F7-5E21-7A0C-3DD3EF8E7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Structure du web</a:t>
            </a:r>
            <a:endParaRPr lang="fr-BE" dirty="0"/>
          </a:p>
        </p:txBody>
      </p:sp>
      <p:pic>
        <p:nvPicPr>
          <p:cNvPr id="4" name="Image 3" descr="Une image contenant texte, capture d’écran, croquis, diagramme">
            <a:extLst>
              <a:ext uri="{FF2B5EF4-FFF2-40B4-BE49-F238E27FC236}">
                <a16:creationId xmlns:a16="http://schemas.microsoft.com/office/drawing/2014/main" id="{27973470-691B-22F3-47D3-5743E5AC7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37804" y="2417531"/>
            <a:ext cx="9716391" cy="34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3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D7E4F-8AEE-5493-F67C-A18DAD2D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B71C93-0E67-5A2F-C157-E501FD878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  <a:p>
            <a:pPr lvl="1"/>
            <a:r>
              <a:rPr lang="fr-FR" dirty="0"/>
              <a:t>Navigateur</a:t>
            </a:r>
          </a:p>
          <a:p>
            <a:pPr lvl="1"/>
            <a:r>
              <a:rPr lang="fr-FR" dirty="0"/>
              <a:t>Client</a:t>
            </a:r>
          </a:p>
          <a:p>
            <a:pPr lvl="1"/>
            <a:r>
              <a:rPr lang="fr-FR" dirty="0"/>
              <a:t>Serveur</a:t>
            </a:r>
          </a:p>
          <a:p>
            <a:pPr lvl="1"/>
            <a:r>
              <a:rPr lang="fr-FR" dirty="0"/>
              <a:t>Protocole</a:t>
            </a:r>
          </a:p>
          <a:p>
            <a:pPr lvl="1"/>
            <a:r>
              <a:rPr lang="fr-FR" dirty="0"/>
              <a:t>FTP / HTTP </a:t>
            </a:r>
          </a:p>
          <a:p>
            <a:pPr lvl="1"/>
            <a:r>
              <a:rPr lang="fr-FR" dirty="0"/>
              <a:t>Hypertexte </a:t>
            </a:r>
          </a:p>
          <a:p>
            <a:pPr lvl="1"/>
            <a:r>
              <a:rPr lang="fr-FR" dirty="0"/>
              <a:t>HTML / URL</a:t>
            </a:r>
            <a:r>
              <a:rPr lang="fr-BE" dirty="0"/>
              <a:t> / Cache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164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A9354-A51E-CAE0-22FE-AEE367B4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694E86-B9A2-93C3-1DAC-9117CA45B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</a:t>
            </a:r>
          </a:p>
          <a:p>
            <a:pPr lvl="1"/>
            <a:r>
              <a:rPr lang="fr-BE" dirty="0"/>
              <a:t>HTML / CSS / Javascript</a:t>
            </a:r>
          </a:p>
          <a:p>
            <a:pPr lvl="1"/>
            <a:r>
              <a:rPr lang="fr-BE" dirty="0" err="1"/>
              <a:t>VSCode</a:t>
            </a:r>
            <a:endParaRPr lang="fr-BE" dirty="0"/>
          </a:p>
          <a:p>
            <a:pPr lvl="1"/>
            <a:r>
              <a:rPr lang="fr-BE" dirty="0"/>
              <a:t>Navigateurs et moteurs (</a:t>
            </a:r>
            <a:r>
              <a:rPr lang="fr-BE" dirty="0" err="1"/>
              <a:t>Chromium</a:t>
            </a:r>
            <a:r>
              <a:rPr lang="fr-BE" dirty="0"/>
              <a:t>, Gecko, </a:t>
            </a:r>
            <a:r>
              <a:rPr lang="fr-BE" dirty="0" err="1"/>
              <a:t>Webkit</a:t>
            </a:r>
            <a:r>
              <a:rPr lang="fr-BE" dirty="0"/>
              <a:t>, </a:t>
            </a:r>
            <a:r>
              <a:rPr lang="fr-BE" dirty="0" err="1"/>
              <a:t>Blink</a:t>
            </a:r>
            <a:r>
              <a:rPr lang="fr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010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D0ED3-C487-8A52-0992-0D332680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Rappel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93058A-6EAA-76D6-DDBA-7C0D387E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HTML</a:t>
            </a:r>
          </a:p>
          <a:p>
            <a:pPr lvl="1"/>
            <a:r>
              <a:rPr lang="fr-FR" dirty="0"/>
              <a:t>Structure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endParaRPr lang="fr-FR" dirty="0"/>
          </a:p>
          <a:p>
            <a:pPr lvl="1"/>
            <a:r>
              <a:rPr lang="fr-BE" dirty="0"/>
              <a:t>Balise</a:t>
            </a:r>
          </a:p>
          <a:p>
            <a:pPr lvl="2"/>
            <a:r>
              <a:rPr lang="fr-BE" dirty="0"/>
              <a:t>Ouverte / fermée</a:t>
            </a:r>
          </a:p>
          <a:p>
            <a:pPr lvl="2"/>
            <a:r>
              <a:rPr lang="fr-BE" dirty="0"/>
              <a:t>Imbrication oui / croisement non</a:t>
            </a:r>
          </a:p>
          <a:p>
            <a:pPr lvl="2"/>
            <a:r>
              <a:rPr lang="fr-BE" dirty="0"/>
              <a:t>Indentation </a:t>
            </a:r>
          </a:p>
          <a:p>
            <a:pPr lvl="2"/>
            <a:r>
              <a:rPr lang="fr-BE" dirty="0"/>
              <a:t>Commentaires</a:t>
            </a:r>
          </a:p>
          <a:p>
            <a:pPr lvl="2"/>
            <a:r>
              <a:rPr lang="fr-BE" dirty="0"/>
              <a:t>Contenus et attributs</a:t>
            </a:r>
          </a:p>
          <a:p>
            <a:pPr lvl="3"/>
            <a:r>
              <a:rPr lang="sv-SE" dirty="0"/>
              <a:t>&lt;tag attr="val" attr="val"&gt; contenu &lt;/tag&gt;</a:t>
            </a:r>
          </a:p>
          <a:p>
            <a:pPr lvl="2"/>
            <a:r>
              <a:rPr lang="sv-SE" dirty="0"/>
              <a:t>Attributs généraux (id, title, class, style, …)</a:t>
            </a:r>
          </a:p>
        </p:txBody>
      </p: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A043A5D-15F5-3D9B-C586-C7CAF2634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510" y="1825625"/>
            <a:ext cx="2925290" cy="240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6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DD13A2-FCEC-CDE3-EE08-36E1EF66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9B450-45D5-7DA7-AD2A-768139AE5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Fond et forme</a:t>
            </a:r>
          </a:p>
          <a:p>
            <a:pPr lvl="1"/>
            <a:r>
              <a:rPr lang="fr-FR" dirty="0"/>
              <a:t>Fond : le contenu, le message, l’information, le texte, …</a:t>
            </a:r>
          </a:p>
          <a:p>
            <a:pPr lvl="1"/>
            <a:r>
              <a:rPr lang="fr-FR" dirty="0"/>
              <a:t>Forme : la typo, la couleur, l’épaisseur, …</a:t>
            </a:r>
          </a:p>
          <a:p>
            <a:r>
              <a:rPr lang="fr-FR" dirty="0"/>
              <a:t>Analogies</a:t>
            </a:r>
          </a:p>
          <a:p>
            <a:pPr lvl="1"/>
            <a:r>
              <a:rPr lang="fr-BE" dirty="0"/>
              <a:t>En traitement de texte</a:t>
            </a:r>
          </a:p>
          <a:p>
            <a:pPr lvl="2"/>
            <a:r>
              <a:rPr lang="fr-BE" dirty="0"/>
              <a:t>Fond = le texte</a:t>
            </a:r>
          </a:p>
          <a:p>
            <a:pPr lvl="2"/>
            <a:r>
              <a:rPr lang="fr-BE" dirty="0"/>
              <a:t>forme = l’épaisseur des interlignes, le format des titres, la taille des marges, …</a:t>
            </a:r>
          </a:p>
          <a:p>
            <a:pPr lvl="1"/>
            <a:r>
              <a:rPr lang="fr-BE" dirty="0"/>
              <a:t>En programmation</a:t>
            </a:r>
          </a:p>
          <a:p>
            <a:pPr lvl="2"/>
            <a:r>
              <a:rPr lang="fr-BE" dirty="0"/>
              <a:t>Fond = le code</a:t>
            </a:r>
          </a:p>
          <a:p>
            <a:pPr lvl="2"/>
            <a:r>
              <a:rPr lang="fr-BE" dirty="0"/>
              <a:t>Forme = le </a:t>
            </a:r>
            <a:r>
              <a:rPr lang="fr-BE" dirty="0" err="1"/>
              <a:t>nomage</a:t>
            </a:r>
            <a:r>
              <a:rPr lang="fr-BE" dirty="0"/>
              <a:t>, le clean code, indentation, …</a:t>
            </a:r>
          </a:p>
        </p:txBody>
      </p:sp>
    </p:spTree>
    <p:extLst>
      <p:ext uri="{BB962C8B-B14F-4D97-AF65-F5344CB8AC3E}">
        <p14:creationId xmlns:p14="http://schemas.microsoft.com/office/powerpoint/2010/main" val="109508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381D-5D09-4921-DE90-0BE677BC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A0C92-BCD8-A921-0A73-AB33F046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B0595E-2658-FF07-D77D-02E83F80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une page web</a:t>
            </a:r>
          </a:p>
          <a:p>
            <a:pPr lvl="1"/>
            <a:r>
              <a:rPr lang="fr-BE" dirty="0"/>
              <a:t>Fond = HTML</a:t>
            </a:r>
          </a:p>
          <a:p>
            <a:pPr lvl="1"/>
            <a:r>
              <a:rPr lang="fr-BE" dirty="0"/>
              <a:t>Forme = CSS</a:t>
            </a:r>
          </a:p>
          <a:p>
            <a:pPr lvl="1"/>
            <a:r>
              <a:rPr lang="fr-BE" dirty="0"/>
              <a:t>(mais pas toujours, ex: &lt;b&gt; et &lt;i&gt; </a:t>
            </a:r>
            <a:r>
              <a:rPr lang="fr-BE" dirty="0">
                <a:sym typeface="Wingdings" panose="05000000000000000000" pitchFamily="2" charset="2"/>
              </a:rPr>
              <a:t> &lt;</a:t>
            </a:r>
            <a:r>
              <a:rPr lang="fr-BE" dirty="0" err="1">
                <a:sym typeface="Wingdings" panose="05000000000000000000" pitchFamily="2" charset="2"/>
              </a:rPr>
              <a:t>strong</a:t>
            </a:r>
            <a:r>
              <a:rPr lang="fr-BE" dirty="0">
                <a:sym typeface="Wingdings" panose="05000000000000000000" pitchFamily="2" charset="2"/>
              </a:rPr>
              <a:t>&gt; et &lt;</a:t>
            </a:r>
            <a:r>
              <a:rPr lang="fr-BE" dirty="0" err="1">
                <a:sym typeface="Wingdings" panose="05000000000000000000" pitchFamily="2" charset="2"/>
              </a:rPr>
              <a:t>em</a:t>
            </a:r>
            <a:r>
              <a:rPr lang="fr-BE" dirty="0">
                <a:sym typeface="Wingdings" panose="05000000000000000000" pitchFamily="2" charset="2"/>
              </a:rPr>
              <a:t>&gt;</a:t>
            </a:r>
            <a:r>
              <a:rPr lang="fr-BE" dirty="0"/>
              <a:t>)</a:t>
            </a:r>
          </a:p>
          <a:p>
            <a:pPr lvl="1"/>
            <a:endParaRPr lang="fr-BE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8F4BDFF-BF62-29FE-8E4F-9DA200A6E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12" y="3429000"/>
            <a:ext cx="7502376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2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3512-FA2C-BCD5-2F9D-E68CA7C7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F5448-D406-4602-8E43-7276126A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- Les types de styles (3)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2FEA3E-51C9-80A4-1303-A4824C87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Pour chaque balise, on peut appliquer un style</a:t>
            </a:r>
          </a:p>
          <a:p>
            <a:r>
              <a:rPr lang="fr-BE" dirty="0"/>
              <a:t>Le style « </a:t>
            </a:r>
            <a:r>
              <a:rPr lang="fr-BE" u="sng" dirty="0" err="1"/>
              <a:t>inline</a:t>
            </a:r>
            <a:r>
              <a:rPr lang="fr-BE" u="sng" dirty="0"/>
              <a:t> </a:t>
            </a:r>
            <a:r>
              <a:rPr lang="fr-BE" dirty="0"/>
              <a:t>» (1</a:t>
            </a:r>
            <a:r>
              <a:rPr lang="fr-BE" baseline="30000" dirty="0"/>
              <a:t>er</a:t>
            </a:r>
            <a:r>
              <a:rPr lang="fr-BE" dirty="0"/>
              <a:t> )</a:t>
            </a:r>
          </a:p>
          <a:p>
            <a:pPr lvl="1"/>
            <a:r>
              <a:rPr lang="fr-BE" dirty="0"/>
              <a:t>Ex: </a:t>
            </a:r>
          </a:p>
          <a:p>
            <a:pPr lvl="2"/>
            <a:r>
              <a:rPr lang="fr-BE" dirty="0"/>
              <a:t>&lt;h1 style =« </a:t>
            </a:r>
            <a:r>
              <a:rPr lang="fr-BE" dirty="0" err="1"/>
              <a:t>color</a:t>
            </a:r>
            <a:r>
              <a:rPr lang="fr-BE" dirty="0"/>
              <a:t>: </a:t>
            </a:r>
            <a:r>
              <a:rPr lang="fr-BE" dirty="0" err="1"/>
              <a:t>blue</a:t>
            </a:r>
            <a:r>
              <a:rPr lang="fr-BE" dirty="0"/>
              <a:t>; »&gt;Fond et Forme&lt;/h1&gt;</a:t>
            </a:r>
          </a:p>
          <a:p>
            <a:pPr lvl="2"/>
            <a:r>
              <a:rPr lang="fr-BE" dirty="0"/>
              <a:t>&lt;p style="</a:t>
            </a:r>
            <a:r>
              <a:rPr lang="fr-BE" dirty="0" err="1"/>
              <a:t>text-align:center</a:t>
            </a:r>
            <a:r>
              <a:rPr lang="fr-BE" dirty="0"/>
              <a:t>"&gt; </a:t>
            </a:r>
          </a:p>
          <a:p>
            <a:pPr lvl="1"/>
            <a:r>
              <a:rPr lang="fr-BE" dirty="0"/>
              <a:t>Avantage</a:t>
            </a:r>
          </a:p>
          <a:p>
            <a:pPr lvl="2"/>
            <a:r>
              <a:rPr lang="fr-BE" dirty="0"/>
              <a:t>C’ est rapide à ajouter, retirer, modifier</a:t>
            </a:r>
          </a:p>
          <a:p>
            <a:pPr lvl="1"/>
            <a:r>
              <a:rPr lang="fr-BE" dirty="0" err="1"/>
              <a:t>Désavantage</a:t>
            </a:r>
            <a:r>
              <a:rPr lang="fr-BE" b="1" dirty="0" err="1"/>
              <a:t>S</a:t>
            </a:r>
            <a:endParaRPr lang="fr-BE" b="1" dirty="0"/>
          </a:p>
          <a:p>
            <a:pPr lvl="2"/>
            <a:r>
              <a:rPr lang="fr-BE" dirty="0"/>
              <a:t>50 titres, 50 ajouts, 50 retraits, … </a:t>
            </a:r>
            <a:r>
              <a:rPr lang="fr-BE" dirty="0">
                <a:sym typeface="Wingdings" panose="05000000000000000000" pitchFamily="2" charset="2"/>
              </a:rPr>
              <a:t> fichier lourds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Aucun point de modification unique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Un seul style possible  pas de réactivité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25087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9325-7AD4-B7DC-6A5C-19E7842A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6E3CF3-5CB9-D30F-6CEB-0A8B35BF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- Les types de styles (3)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9A0BA-BEBA-4D6F-4C20-8A5378E56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style « </a:t>
            </a:r>
            <a:r>
              <a:rPr lang="fr-BE" u="sng" dirty="0"/>
              <a:t>interne </a:t>
            </a:r>
            <a:r>
              <a:rPr lang="fr-BE" dirty="0"/>
              <a:t>» (2</a:t>
            </a:r>
            <a:r>
              <a:rPr lang="fr-BE" baseline="30000" dirty="0"/>
              <a:t>ème</a:t>
            </a:r>
            <a:r>
              <a:rPr lang="fr-BE" dirty="0"/>
              <a:t> )</a:t>
            </a:r>
          </a:p>
          <a:p>
            <a:pPr lvl="1"/>
            <a:r>
              <a:rPr lang="fr-BE" dirty="0"/>
              <a:t>Grouper les règles CSS dans une balise &lt;style&gt; dans la partie &lt;</a:t>
            </a:r>
            <a:r>
              <a:rPr lang="fr-BE" dirty="0" err="1"/>
              <a:t>head</a:t>
            </a:r>
            <a:r>
              <a:rPr lang="fr-BE" dirty="0"/>
              <a:t>&gt; de la page HTML</a:t>
            </a:r>
          </a:p>
          <a:p>
            <a:pPr lvl="1"/>
            <a:r>
              <a:rPr lang="fr-BE" dirty="0"/>
              <a:t>Ex : 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marL="457200" lvl="1" indent="0">
              <a:buNone/>
            </a:pPr>
            <a:endParaRPr lang="fr-BE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9AB41F9E-E8F6-86B4-53D7-669296F02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26" y="3429000"/>
            <a:ext cx="9228258" cy="234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0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FE9B-0045-4A51-8435-61E1D8C6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760C4-93C8-8686-A482-D2B2D278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- Les types de styles (3)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263C35-1B75-085B-6E5A-55436A5F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style « </a:t>
            </a:r>
            <a:r>
              <a:rPr lang="fr-BE" u="sng" dirty="0"/>
              <a:t>interne </a:t>
            </a:r>
            <a:r>
              <a:rPr lang="fr-BE" dirty="0"/>
              <a:t>» (2</a:t>
            </a:r>
            <a:r>
              <a:rPr lang="fr-BE" baseline="30000" dirty="0"/>
              <a:t>ème</a:t>
            </a:r>
            <a:r>
              <a:rPr lang="fr-BE" dirty="0"/>
              <a:t> )</a:t>
            </a:r>
          </a:p>
          <a:p>
            <a:pPr lvl="1"/>
            <a:r>
              <a:rPr lang="fr-BE" dirty="0"/>
              <a:t>Avantages</a:t>
            </a:r>
          </a:p>
          <a:p>
            <a:pPr lvl="2"/>
            <a:r>
              <a:rPr lang="fr-BE" dirty="0"/>
              <a:t>Moins de répétition</a:t>
            </a:r>
          </a:p>
          <a:p>
            <a:pPr lvl="2"/>
            <a:r>
              <a:rPr lang="fr-BE" dirty="0"/>
              <a:t>Point de modification unique … par fichier html</a:t>
            </a:r>
          </a:p>
          <a:p>
            <a:pPr lvl="2"/>
            <a:r>
              <a:rPr lang="fr-BE" dirty="0"/>
              <a:t>Plusieurs balises &lt;style&gt; possible</a:t>
            </a:r>
          </a:p>
          <a:p>
            <a:pPr lvl="1"/>
            <a:r>
              <a:rPr lang="fr-BE" dirty="0"/>
              <a:t>Désavantages</a:t>
            </a:r>
          </a:p>
          <a:p>
            <a:pPr lvl="2"/>
            <a:r>
              <a:rPr lang="fr-BE" dirty="0"/>
              <a:t>Pas de point de modification unique sur le projet</a:t>
            </a:r>
          </a:p>
          <a:p>
            <a:pPr lvl="2"/>
            <a:r>
              <a:rPr lang="fr-BE" dirty="0"/>
              <a:t>A chaque page web, son style </a:t>
            </a:r>
            <a:r>
              <a:rPr lang="fr-BE" dirty="0">
                <a:sym typeface="Wingdings" panose="05000000000000000000" pitchFamily="2" charset="2"/>
              </a:rPr>
              <a:t> risque de divergence de style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313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C8583-FCF5-9300-D003-184A9F39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7E711-9311-6060-6064-4F3BAFA4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- Les types de styles (3)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D3C85-1990-755B-A6AB-3BB02F6BE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style « </a:t>
            </a:r>
            <a:r>
              <a:rPr lang="fr-BE" u="sng" dirty="0"/>
              <a:t>externe </a:t>
            </a:r>
            <a:r>
              <a:rPr lang="fr-BE" dirty="0"/>
              <a:t>» (3</a:t>
            </a:r>
            <a:r>
              <a:rPr lang="fr-BE" baseline="30000" dirty="0"/>
              <a:t>ème</a:t>
            </a:r>
            <a:r>
              <a:rPr lang="fr-BE" dirty="0"/>
              <a:t> )</a:t>
            </a:r>
          </a:p>
          <a:p>
            <a:pPr lvl="1"/>
            <a:r>
              <a:rPr lang="fr-BE" dirty="0"/>
              <a:t>Grouper toutes les règles CSS dans un fichier « .</a:t>
            </a:r>
            <a:r>
              <a:rPr lang="fr-BE" dirty="0" err="1"/>
              <a:t>css</a:t>
            </a:r>
            <a:r>
              <a:rPr lang="fr-BE" dirty="0"/>
              <a:t> »</a:t>
            </a:r>
          </a:p>
          <a:p>
            <a:pPr lvl="1"/>
            <a:r>
              <a:rPr lang="fr-BE" dirty="0"/>
              <a:t>Dans le fichier HTML, inclure une balise </a:t>
            </a:r>
            <a:r>
              <a:rPr lang="fr-BE" dirty="0" err="1"/>
              <a:t>link</a:t>
            </a:r>
            <a:r>
              <a:rPr lang="fr-BE" dirty="0"/>
              <a:t> qui fera le lien</a:t>
            </a:r>
          </a:p>
          <a:p>
            <a:pPr lvl="1"/>
            <a:r>
              <a:rPr lang="fr-BE" dirty="0"/>
              <a:t>Ex : </a:t>
            </a:r>
          </a:p>
        </p:txBody>
      </p:sp>
      <p:pic>
        <p:nvPicPr>
          <p:cNvPr id="7" name="Image 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8CBD772-2348-BF32-510D-E9336ABD4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10" y="3576275"/>
            <a:ext cx="7192379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6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4F417-D1E4-5B59-87F6-E1B3B623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- Les types de styles (3)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8E9DB6-7DB9-D4AF-12C2-BAB841B12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Que choisir ?</a:t>
            </a:r>
          </a:p>
          <a:p>
            <a:pPr lvl="1"/>
            <a:r>
              <a:rPr lang="fr-BE" dirty="0"/>
              <a:t>Pour un projet en cours ou surtout des tests ponctuels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</a:t>
            </a:r>
            <a:r>
              <a:rPr lang="fr-BE" dirty="0" err="1">
                <a:sym typeface="Wingdings" panose="05000000000000000000" pitchFamily="2" charset="2"/>
              </a:rPr>
              <a:t>inline</a:t>
            </a:r>
            <a:r>
              <a:rPr lang="fr-BE" dirty="0">
                <a:sym typeface="Wingdings" panose="05000000000000000000" pitchFamily="2" charset="2"/>
              </a:rPr>
              <a:t> ou interne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Pour un projet fini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externe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71013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489C-D21D-1C23-7EA3-353DFA07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253BD-1A25-8EB2-BA34-0BB2563F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Introduction CSS - Les règles et déclarations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3DA7B6-D66E-27C6-7C56-12E5F1BCD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Syntaxe identique en interne et externe</a:t>
            </a:r>
          </a:p>
          <a:p>
            <a:r>
              <a:rPr lang="fr-BE" dirty="0"/>
              <a:t>Ex :</a:t>
            </a:r>
          </a:p>
          <a:p>
            <a:pPr lvl="1"/>
            <a:r>
              <a:rPr lang="en-GB" dirty="0"/>
              <a:t>h2 { </a:t>
            </a:r>
            <a:r>
              <a:rPr lang="en-GB" dirty="0" err="1"/>
              <a:t>color:blue</a:t>
            </a:r>
            <a:r>
              <a:rPr lang="en-GB" dirty="0"/>
              <a:t> ; font-size:250% }</a:t>
            </a:r>
          </a:p>
          <a:p>
            <a:r>
              <a:rPr lang="en-GB" dirty="0"/>
              <a:t>Une </a:t>
            </a:r>
            <a:r>
              <a:rPr lang="en-GB" dirty="0" err="1"/>
              <a:t>règle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composée</a:t>
            </a:r>
            <a:endParaRPr lang="en-GB" dirty="0"/>
          </a:p>
          <a:p>
            <a:pPr lvl="1"/>
            <a:r>
              <a:rPr lang="en-GB" dirty="0"/>
              <a:t>D’un </a:t>
            </a:r>
            <a:r>
              <a:rPr lang="en-GB" dirty="0" err="1"/>
              <a:t>sélecteur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indique</a:t>
            </a:r>
            <a:r>
              <a:rPr lang="en-GB" dirty="0">
                <a:sym typeface="Wingdings" panose="05000000000000000000" pitchFamily="2" charset="2"/>
              </a:rPr>
              <a:t> à quells </a:t>
            </a:r>
            <a:r>
              <a:rPr lang="en-GB" dirty="0" err="1">
                <a:sym typeface="Wingdings" panose="05000000000000000000" pitchFamily="2" charset="2"/>
              </a:rPr>
              <a:t>éléments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elle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s’applique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D’une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liste</a:t>
            </a:r>
            <a:r>
              <a:rPr lang="en-GB" dirty="0">
                <a:sym typeface="Wingdings" panose="05000000000000000000" pitchFamily="2" charset="2"/>
              </a:rPr>
              <a:t> de declarations (</a:t>
            </a:r>
            <a:r>
              <a:rPr lang="en-GB" dirty="0" err="1">
                <a:sym typeface="Wingdings" panose="05000000000000000000" pitchFamily="2" charset="2"/>
              </a:rPr>
              <a:t>séparés</a:t>
            </a:r>
            <a:r>
              <a:rPr lang="en-GB" dirty="0">
                <a:sym typeface="Wingdings" panose="05000000000000000000" pitchFamily="2" charset="2"/>
              </a:rPr>
              <a:t> de “;”)</a:t>
            </a:r>
          </a:p>
          <a:p>
            <a:r>
              <a:rPr lang="en-GB" dirty="0">
                <a:sym typeface="Wingdings" panose="05000000000000000000" pitchFamily="2" charset="2"/>
              </a:rPr>
              <a:t>Une declaration </a:t>
            </a:r>
            <a:r>
              <a:rPr lang="en-GB" dirty="0" err="1">
                <a:sym typeface="Wingdings" panose="05000000000000000000" pitchFamily="2" charset="2"/>
              </a:rPr>
              <a:t>est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composée</a:t>
            </a:r>
            <a:r>
              <a:rPr lang="en-GB" dirty="0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D’un nom de </a:t>
            </a:r>
            <a:r>
              <a:rPr lang="en-GB" dirty="0" err="1">
                <a:sym typeface="Wingdings" panose="05000000000000000000" pitchFamily="2" charset="2"/>
              </a:rPr>
              <a:t>propriété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suivi</a:t>
            </a:r>
            <a:r>
              <a:rPr lang="en-GB" dirty="0">
                <a:sym typeface="Wingdings" panose="05000000000000000000" pitchFamily="2" charset="2"/>
              </a:rPr>
              <a:t> de “:”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D’une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valeur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1756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CA75-E721-96B0-1BB7-404CFD5F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43982-5DDB-47FC-9E2D-E3B84FCD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Introduction CSS - Les règles et déclarations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B1C456-91D5-1530-3F3A-AB9E8C2DD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Particularité </a:t>
            </a:r>
          </a:p>
          <a:p>
            <a:pPr lvl="1"/>
            <a:r>
              <a:rPr lang="fr-FR" dirty="0" err="1"/>
              <a:t>Plusieures</a:t>
            </a:r>
            <a:r>
              <a:rPr lang="fr-FR" dirty="0"/>
              <a:t> déclarations peuvent s’enchainées pour une même règle, séparées par un « ; »</a:t>
            </a:r>
          </a:p>
          <a:p>
            <a:pPr lvl="2"/>
            <a:r>
              <a:rPr lang="en-GB" dirty="0"/>
              <a:t>h2 { </a:t>
            </a:r>
            <a:r>
              <a:rPr lang="en-GB" dirty="0" err="1"/>
              <a:t>color:blue</a:t>
            </a:r>
            <a:r>
              <a:rPr lang="en-GB" dirty="0"/>
              <a:t>; font-size:250%; }</a:t>
            </a:r>
          </a:p>
          <a:p>
            <a:pPr lvl="1"/>
            <a:r>
              <a:rPr lang="en-GB" dirty="0"/>
              <a:t>Le CSS ignore les </a:t>
            </a:r>
            <a:r>
              <a:rPr lang="en-GB" dirty="0" err="1"/>
              <a:t>blancs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h2 { </a:t>
            </a:r>
            <a:br>
              <a:rPr lang="en-GB" dirty="0"/>
            </a:br>
            <a:r>
              <a:rPr lang="en-GB" dirty="0"/>
              <a:t>	</a:t>
            </a:r>
            <a:r>
              <a:rPr lang="en-GB" dirty="0" err="1"/>
              <a:t>color</a:t>
            </a:r>
            <a:r>
              <a:rPr lang="en-GB" dirty="0"/>
              <a:t> : blue; </a:t>
            </a:r>
            <a:br>
              <a:rPr lang="en-GB" dirty="0"/>
            </a:br>
            <a:r>
              <a:rPr lang="en-GB" dirty="0"/>
              <a:t>	font-size : 250%; </a:t>
            </a:r>
            <a:br>
              <a:rPr lang="en-GB" dirty="0"/>
            </a:br>
            <a:r>
              <a:rPr lang="en-GB" dirty="0"/>
              <a:t>}</a:t>
            </a:r>
          </a:p>
          <a:p>
            <a:pPr lvl="1"/>
            <a:r>
              <a:rPr lang="en-GB" dirty="0" err="1"/>
              <a:t>Possibilité</a:t>
            </a:r>
            <a:r>
              <a:rPr lang="en-GB" dirty="0"/>
              <a:t> de </a:t>
            </a:r>
            <a:r>
              <a:rPr lang="en-GB" dirty="0" err="1"/>
              <a:t>mettre</a:t>
            </a:r>
            <a:r>
              <a:rPr lang="en-GB" dirty="0"/>
              <a:t> des </a:t>
            </a:r>
            <a:r>
              <a:rPr lang="en-GB" dirty="0" err="1"/>
              <a:t>commentaires</a:t>
            </a:r>
            <a:endParaRPr lang="en-GB" dirty="0"/>
          </a:p>
          <a:p>
            <a:pPr lvl="2"/>
            <a:r>
              <a:rPr lang="fr-BE" dirty="0"/>
              <a:t>/* Styles liés aux tableaux */</a:t>
            </a:r>
          </a:p>
        </p:txBody>
      </p:sp>
    </p:spTree>
    <p:extLst>
      <p:ext uri="{BB962C8B-B14F-4D97-AF65-F5344CB8AC3E}">
        <p14:creationId xmlns:p14="http://schemas.microsoft.com/office/powerpoint/2010/main" val="3689089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EE154-E816-A78F-071B-29609DF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2. Introduction CSS - Les sélecteurs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495256-8D4E-4C60-BF4F-18C11E2B0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fr-FR" dirty="0"/>
              <a:t>Sélecteur de balise</a:t>
            </a:r>
          </a:p>
          <a:p>
            <a:pPr lvl="1"/>
            <a:r>
              <a:rPr lang="fr-FR" dirty="0"/>
              <a:t>Via le nom de la balise</a:t>
            </a:r>
          </a:p>
          <a:p>
            <a:pPr lvl="2"/>
            <a:r>
              <a:rPr lang="fr-FR" dirty="0"/>
              <a:t>Ex : h2</a:t>
            </a:r>
          </a:p>
          <a:p>
            <a:pPr marL="0" indent="0">
              <a:buNone/>
            </a:pPr>
            <a:r>
              <a:rPr lang="fr-FR" dirty="0"/>
              <a:t>2. Sélecteur d’identificateur</a:t>
            </a:r>
            <a:endParaRPr lang="fr-BE" dirty="0"/>
          </a:p>
          <a:p>
            <a:pPr lvl="1"/>
            <a:r>
              <a:rPr lang="fr-BE" dirty="0"/>
              <a:t>Via l’identificateur (id) de la balise précédé d’un « # »</a:t>
            </a:r>
          </a:p>
          <a:p>
            <a:pPr lvl="2"/>
            <a:r>
              <a:rPr lang="fr-BE" dirty="0"/>
              <a:t>Ex : #para1 { </a:t>
            </a:r>
            <a:r>
              <a:rPr lang="fr-BE" dirty="0" err="1"/>
              <a:t>color</a:t>
            </a:r>
            <a:r>
              <a:rPr lang="fr-BE" dirty="0"/>
              <a:t> : </a:t>
            </a:r>
            <a:r>
              <a:rPr lang="fr-BE" dirty="0" err="1"/>
              <a:t>red</a:t>
            </a:r>
            <a:r>
              <a:rPr lang="fr-BE" dirty="0"/>
              <a:t> }</a:t>
            </a:r>
            <a:br>
              <a:rPr lang="fr-BE" dirty="0"/>
            </a:br>
            <a:r>
              <a:rPr lang="fr-BE" dirty="0"/>
              <a:t>…</a:t>
            </a:r>
          </a:p>
          <a:p>
            <a:pPr lvl="2"/>
            <a:r>
              <a:rPr lang="fr-BE" dirty="0"/>
              <a:t>&lt;p id="para1"&gt;Voici mon 1er paragraphe.&lt;/p&gt;</a:t>
            </a:r>
          </a:p>
          <a:p>
            <a:pPr marL="0" indent="0">
              <a:buNone/>
            </a:pPr>
            <a:r>
              <a:rPr lang="fr-BE" dirty="0"/>
              <a:t>3. Sélecteur de classe</a:t>
            </a:r>
          </a:p>
          <a:p>
            <a:pPr lvl="1"/>
            <a:r>
              <a:rPr lang="fr-BE" dirty="0"/>
              <a:t>Via le nom de la classe précédé d’un « . »</a:t>
            </a:r>
          </a:p>
          <a:p>
            <a:pPr lvl="2"/>
            <a:r>
              <a:rPr lang="fr-BE" dirty="0"/>
              <a:t>Ex : .important { </a:t>
            </a:r>
            <a:r>
              <a:rPr lang="fr-BE" dirty="0" err="1"/>
              <a:t>color</a:t>
            </a:r>
            <a:r>
              <a:rPr lang="fr-BE" dirty="0"/>
              <a:t> : </a:t>
            </a:r>
            <a:r>
              <a:rPr lang="fr-BE" dirty="0" err="1"/>
              <a:t>red</a:t>
            </a:r>
            <a:r>
              <a:rPr lang="fr-BE" dirty="0"/>
              <a:t> } </a:t>
            </a:r>
            <a:br>
              <a:rPr lang="fr-BE" dirty="0"/>
            </a:br>
            <a:r>
              <a:rPr lang="fr-FR" dirty="0"/>
              <a:t>…</a:t>
            </a:r>
            <a:br>
              <a:rPr lang="fr-FR" dirty="0"/>
            </a:br>
            <a:r>
              <a:rPr lang="fr-FR" dirty="0"/>
              <a:t>&lt;h2 class="important"&gt;Titre important&lt;/h2&gt;</a:t>
            </a:r>
          </a:p>
        </p:txBody>
      </p:sp>
    </p:spTree>
    <p:extLst>
      <p:ext uri="{BB962C8B-B14F-4D97-AF65-F5344CB8AC3E}">
        <p14:creationId xmlns:p14="http://schemas.microsoft.com/office/powerpoint/2010/main" val="2608810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37E8-BC67-73A5-FBFF-892D1F88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C930E-0A73-E03C-D1F4-ABD346C2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Introduction CSS - Les règles et déclarations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F6D954-AEEA-DD30-A674-67C3CB0F5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Remarques</a:t>
            </a:r>
          </a:p>
          <a:p>
            <a:pPr lvl="1"/>
            <a:r>
              <a:rPr lang="fr-FR" dirty="0"/>
              <a:t>Point commun : </a:t>
            </a:r>
          </a:p>
          <a:p>
            <a:pPr lvl="2"/>
            <a:r>
              <a:rPr lang="fr-FR" dirty="0"/>
              <a:t>On les déclare en utilisant un attribut (« id » ou « class »)</a:t>
            </a:r>
          </a:p>
          <a:p>
            <a:pPr lvl="1"/>
            <a:r>
              <a:rPr lang="fr-FR" dirty="0"/>
              <a:t>Différences</a:t>
            </a:r>
          </a:p>
          <a:p>
            <a:pPr lvl="2"/>
            <a:r>
              <a:rPr lang="fr-FR" dirty="0"/>
              <a:t>Un id </a:t>
            </a:r>
            <a:r>
              <a:rPr lang="fr-FR" u="sng" dirty="0"/>
              <a:t>doit</a:t>
            </a:r>
            <a:r>
              <a:rPr lang="fr-FR" dirty="0"/>
              <a:t> cibler un élément </a:t>
            </a:r>
            <a:r>
              <a:rPr lang="fr-FR" u="sng" dirty="0"/>
              <a:t>unique</a:t>
            </a:r>
          </a:p>
          <a:p>
            <a:pPr lvl="2"/>
            <a:r>
              <a:rPr lang="fr-FR" dirty="0"/>
              <a:t>Une class peut cibler plusieurs éléments</a:t>
            </a:r>
          </a:p>
          <a:p>
            <a:pPr lvl="2"/>
            <a:r>
              <a:rPr lang="fr-FR" dirty="0"/>
              <a:t>Un élément peut avoir plusieurs classes </a:t>
            </a:r>
          </a:p>
          <a:p>
            <a:pPr lvl="3"/>
            <a:r>
              <a:rPr lang="fr-FR" dirty="0"/>
              <a:t>Ex : </a:t>
            </a:r>
            <a:r>
              <a:rPr lang="fr-BE" dirty="0"/>
              <a:t>&lt;p class="important encadre"&gt;…&lt;/p&gt;</a:t>
            </a:r>
          </a:p>
          <a:p>
            <a:pPr lvl="3"/>
            <a:endParaRPr lang="fr-BE" dirty="0"/>
          </a:p>
          <a:p>
            <a:pPr lvl="1"/>
            <a:r>
              <a:rPr lang="fr-BE" dirty="0"/>
              <a:t>Résumé</a:t>
            </a:r>
          </a:p>
          <a:p>
            <a:pPr lvl="2"/>
            <a:r>
              <a:rPr lang="fr-BE" dirty="0" err="1"/>
              <a:t>nombalise</a:t>
            </a:r>
            <a:r>
              <a:rPr lang="fr-BE" dirty="0"/>
              <a:t> 		</a:t>
            </a:r>
            <a:r>
              <a:rPr lang="fr-BE" dirty="0">
                <a:solidFill>
                  <a:srgbClr val="00B050"/>
                </a:solidFill>
              </a:rPr>
              <a:t>#</a:t>
            </a:r>
            <a:r>
              <a:rPr lang="fr-BE" dirty="0"/>
              <a:t>ident 			</a:t>
            </a:r>
            <a:r>
              <a:rPr lang="fr-BE" dirty="0">
                <a:solidFill>
                  <a:srgbClr val="00B050"/>
                </a:solidFill>
              </a:rPr>
              <a:t>.</a:t>
            </a:r>
            <a:r>
              <a:rPr lang="fr-BE" dirty="0"/>
              <a:t>classe</a:t>
            </a:r>
          </a:p>
        </p:txBody>
      </p:sp>
    </p:spTree>
    <p:extLst>
      <p:ext uri="{BB962C8B-B14F-4D97-AF65-F5344CB8AC3E}">
        <p14:creationId xmlns:p14="http://schemas.microsoft.com/office/powerpoint/2010/main" val="1983157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3440-1D07-DA57-1A26-D1322265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9DAA6-DE18-46E1-C312-078F3044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Introduction CSS - Les balises sémantiques div et </a:t>
            </a:r>
            <a:r>
              <a:rPr lang="fr-FR" dirty="0" err="1"/>
              <a:t>span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992B19-C8A8-4789-DD5E-02C4D19B4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Une balise sémantique a pour fonction de structurer le contenu d’une page html</a:t>
            </a:r>
          </a:p>
          <a:p>
            <a:r>
              <a:rPr lang="fr-BE" dirty="0"/>
              <a:t>La balise &lt;div&gt; permet de regrouper un ensemble de balise potentiellement différente au sein d’un même </a:t>
            </a:r>
            <a:r>
              <a:rPr lang="fr-BE" u="sng" dirty="0"/>
              <a:t>groupe </a:t>
            </a:r>
            <a:endParaRPr lang="fr-BE" dirty="0"/>
          </a:p>
          <a:p>
            <a:r>
              <a:rPr lang="fr-BE" dirty="0"/>
              <a:t>La balise &lt;</a:t>
            </a:r>
            <a:r>
              <a:rPr lang="fr-BE" dirty="0" err="1"/>
              <a:t>span</a:t>
            </a:r>
            <a:r>
              <a:rPr lang="fr-BE" dirty="0"/>
              <a:t>&gt; permet de regrouper une portion de mot au sein d’un texte</a:t>
            </a:r>
          </a:p>
        </p:txBody>
      </p:sp>
    </p:spTree>
    <p:extLst>
      <p:ext uri="{BB962C8B-B14F-4D97-AF65-F5344CB8AC3E}">
        <p14:creationId xmlns:p14="http://schemas.microsoft.com/office/powerpoint/2010/main" val="3112746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F513-5ED7-F5EC-E2A7-274737800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8AEFF-EB86-2596-A799-C091D009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Introduction CSS - Les balises sémantiques div et </a:t>
            </a:r>
            <a:r>
              <a:rPr lang="fr-FR" dirty="0" err="1"/>
              <a:t>span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7C6A7-9D2C-1E0E-4B2B-A34CF1C5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HTML5 a apporté son lot de balise sémantiques qui correspondent à des &lt;div&gt; commun à beaucoup de pages web</a:t>
            </a:r>
          </a:p>
          <a:p>
            <a:pPr lvl="1"/>
            <a:r>
              <a:rPr lang="fr-BE" dirty="0" err="1"/>
              <a:t>Footer</a:t>
            </a:r>
            <a:r>
              <a:rPr lang="fr-BE" dirty="0"/>
              <a:t> / main / header</a:t>
            </a:r>
          </a:p>
          <a:p>
            <a:pPr lvl="1"/>
            <a:r>
              <a:rPr lang="fr-BE" dirty="0"/>
              <a:t>Nav</a:t>
            </a:r>
          </a:p>
          <a:p>
            <a:pPr lvl="1"/>
            <a:r>
              <a:rPr lang="fr-BE" dirty="0"/>
              <a:t>Article</a:t>
            </a:r>
          </a:p>
          <a:p>
            <a:pPr lvl="1"/>
            <a:r>
              <a:rPr lang="fr-BE" dirty="0" err="1"/>
              <a:t>Aside</a:t>
            </a:r>
            <a:r>
              <a:rPr lang="fr-BE" dirty="0"/>
              <a:t> (complément d’information)</a:t>
            </a:r>
          </a:p>
          <a:p>
            <a:pPr lvl="1"/>
            <a:r>
              <a:rPr lang="fr-BE" dirty="0"/>
              <a:t>Code </a:t>
            </a:r>
          </a:p>
          <a:p>
            <a:pPr lvl="1"/>
            <a:r>
              <a:rPr lang="fr-BE" dirty="0" err="1"/>
              <a:t>Blockquote</a:t>
            </a:r>
            <a:r>
              <a:rPr lang="fr-BE" dirty="0"/>
              <a:t> (forme un bloc paragraphe de type citation)</a:t>
            </a:r>
          </a:p>
          <a:p>
            <a:pPr lvl="1"/>
            <a:r>
              <a:rPr lang="fr-BE" dirty="0"/>
              <a:t>Cite (titre ou référence bibliographique)</a:t>
            </a:r>
          </a:p>
          <a:p>
            <a:pPr lvl="1"/>
            <a:r>
              <a:rPr lang="fr-BE" dirty="0" err="1"/>
              <a:t>Abbr</a:t>
            </a:r>
            <a:endParaRPr lang="fr-BE" dirty="0"/>
          </a:p>
          <a:p>
            <a:pPr lvl="1"/>
            <a:r>
              <a:rPr lang="fr-BE" dirty="0" err="1"/>
              <a:t>Dfn</a:t>
            </a:r>
            <a:endParaRPr lang="fr-BE" dirty="0"/>
          </a:p>
          <a:p>
            <a:pPr lvl="1"/>
            <a:r>
              <a:rPr lang="fr-BE" dirty="0"/>
              <a:t>Q</a:t>
            </a:r>
          </a:p>
          <a:p>
            <a:pPr lvl="1"/>
            <a:r>
              <a:rPr lang="fr-BE" dirty="0" err="1"/>
              <a:t>Samp</a:t>
            </a:r>
            <a:r>
              <a:rPr lang="fr-BE" dirty="0"/>
              <a:t> (petit bout de code)</a:t>
            </a:r>
          </a:p>
          <a:p>
            <a:pPr lvl="1"/>
            <a:r>
              <a:rPr lang="fr-BE" dirty="0"/>
              <a:t>…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68072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800EC-1FF9-456E-D2B2-547173E6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– Les unités de mesures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4E1B3C-D1D2-C716-F9C6-1872A4D5D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principales catégories d’unités CSS sont fixes et flexibles.</a:t>
            </a:r>
          </a:p>
          <a:p>
            <a:pPr lvl="1"/>
            <a:r>
              <a:rPr lang="fr-BE" u="sng" dirty="0"/>
              <a:t>Unités fixes (absolues)</a:t>
            </a:r>
            <a:r>
              <a:rPr lang="fr-BE" dirty="0"/>
              <a:t>, comme les pixels (px), ne changent pas de taille.</a:t>
            </a:r>
          </a:p>
          <a:p>
            <a:pPr lvl="2"/>
            <a:r>
              <a:rPr lang="fr-BE" dirty="0"/>
              <a:t>Avantage </a:t>
            </a:r>
          </a:p>
          <a:p>
            <a:pPr lvl="3"/>
            <a:r>
              <a:rPr lang="fr-BE" dirty="0"/>
              <a:t>Un pixel correspond toujours à un point sur votre écran.</a:t>
            </a:r>
          </a:p>
          <a:p>
            <a:pPr lvl="3"/>
            <a:r>
              <a:rPr lang="fr-BE" dirty="0"/>
              <a:t>Cela les rend faciles à utiliser, mais elles peuvent nécessiter des ajustements pour la conception responsive.</a:t>
            </a:r>
          </a:p>
          <a:p>
            <a:pPr lvl="2"/>
            <a:r>
              <a:rPr lang="fr-BE" dirty="0"/>
              <a:t>Désavantage</a:t>
            </a:r>
          </a:p>
          <a:p>
            <a:pPr lvl="3"/>
            <a:r>
              <a:rPr lang="fr-BE" dirty="0"/>
              <a:t>Pas réactif</a:t>
            </a:r>
          </a:p>
          <a:p>
            <a:pPr lvl="1"/>
            <a:r>
              <a:rPr lang="fr-BE" dirty="0"/>
              <a:t>Ex: </a:t>
            </a:r>
          </a:p>
          <a:p>
            <a:pPr lvl="2"/>
            <a:r>
              <a:rPr lang="fr-BE" dirty="0"/>
              <a:t>Pixels (px) : Taille fixe, appropriée pour un contrôle précis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AC00BB-2046-6AAB-AC6A-5794E854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fr-BE" dirty="0"/>
              <a:t>https://elementor.com/blog/fr/rem-vs-em-en-css-guide-de-a-a-z</a:t>
            </a:r>
          </a:p>
        </p:txBody>
      </p:sp>
    </p:spTree>
    <p:extLst>
      <p:ext uri="{BB962C8B-B14F-4D97-AF65-F5344CB8AC3E}">
        <p14:creationId xmlns:p14="http://schemas.microsoft.com/office/powerpoint/2010/main" val="2656702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91FA-F6DD-8286-3D67-7639F227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455CB0-426B-8096-0790-402D5E1D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CSS – Les unités de mesures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71DE20-93FA-E271-C5C3-C9F1974DD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principales catégories d’unités CSS sont fixes et flexibles.</a:t>
            </a:r>
          </a:p>
          <a:p>
            <a:pPr lvl="1"/>
            <a:r>
              <a:rPr lang="fr-BE" u="sng" dirty="0"/>
              <a:t>Unités flexibles (relative) </a:t>
            </a:r>
            <a:r>
              <a:rPr lang="fr-BE" dirty="0"/>
              <a:t>changent de taille en fonction d’autres facteurs, comme la taille de l’écran.</a:t>
            </a:r>
          </a:p>
          <a:p>
            <a:pPr lvl="2"/>
            <a:r>
              <a:rPr lang="fr-BE" dirty="0"/>
              <a:t>Avantage </a:t>
            </a:r>
          </a:p>
          <a:p>
            <a:pPr lvl="3"/>
            <a:r>
              <a:rPr lang="fr-BE" dirty="0"/>
              <a:t>Réactif</a:t>
            </a:r>
          </a:p>
          <a:p>
            <a:pPr lvl="2"/>
            <a:r>
              <a:rPr lang="fr-BE" dirty="0"/>
              <a:t>Moins intuitifs</a:t>
            </a:r>
          </a:p>
          <a:p>
            <a:pPr lvl="1"/>
            <a:r>
              <a:rPr lang="fr-BE" dirty="0"/>
              <a:t>Ex : </a:t>
            </a:r>
          </a:p>
          <a:p>
            <a:pPr lvl="2"/>
            <a:r>
              <a:rPr lang="fr-BE" dirty="0"/>
              <a:t>Pourcentages (%) : Flexibles, souvent utilisés pour les largeurs et les hauteurs</a:t>
            </a:r>
          </a:p>
          <a:p>
            <a:pPr lvl="2"/>
            <a:r>
              <a:rPr lang="fr-BE" dirty="0"/>
              <a:t>Unités de fenêtre (</a:t>
            </a:r>
            <a:r>
              <a:rPr lang="fr-BE" dirty="0" err="1"/>
              <a:t>vw</a:t>
            </a:r>
            <a:r>
              <a:rPr lang="fr-BE" dirty="0"/>
              <a:t>, </a:t>
            </a:r>
            <a:r>
              <a:rPr lang="fr-BE" dirty="0" err="1"/>
              <a:t>vh</a:t>
            </a:r>
            <a:r>
              <a:rPr lang="fr-BE" dirty="0"/>
              <a:t>) : Taille basée sur la fenêtre du navigateur</a:t>
            </a:r>
          </a:p>
          <a:p>
            <a:pPr lvl="2"/>
            <a:r>
              <a:rPr lang="fr-BE" dirty="0"/>
              <a:t>‘rem’ et ’</a:t>
            </a:r>
            <a:r>
              <a:rPr lang="fr-BE" dirty="0" err="1"/>
              <a:t>em</a:t>
            </a:r>
            <a:r>
              <a:rPr lang="fr-BE" dirty="0"/>
              <a:t>’ : Unités flexibles basé sur la taille des éléments d’écriture</a:t>
            </a:r>
          </a:p>
          <a:p>
            <a:r>
              <a:rPr lang="fr-BE"/>
              <a:t>Plus d’infos </a:t>
            </a:r>
            <a:r>
              <a:rPr lang="fr-BE">
                <a:sym typeface="Wingdings" panose="05000000000000000000" pitchFamily="2" charset="2"/>
              </a:rPr>
              <a:t> https://www.w3schools.com/cssref/css_units.php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04D257-1ADE-7705-B1C8-40201E36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fr-BE" dirty="0"/>
              <a:t>https://elementor.com/blog/fr/rem-vs-em-en-css-guide-de-a-a-z</a:t>
            </a:r>
          </a:p>
        </p:txBody>
      </p:sp>
    </p:spTree>
    <p:extLst>
      <p:ext uri="{BB962C8B-B14F-4D97-AF65-F5344CB8AC3E}">
        <p14:creationId xmlns:p14="http://schemas.microsoft.com/office/powerpoint/2010/main" val="1878909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B9F793-BF60-4455-59F8-66EFC193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C3CD02-74F0-5B3F-4873-495332563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2347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A76F28-E2DB-28EA-4DCC-1D4BEC53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Labo - Mise en pratique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748E3-3DA9-2F35-83B6-BEE0F0012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Ressources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70634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1300</Words>
  <Application>Microsoft Office PowerPoint</Application>
  <PresentationFormat>Grand écran</PresentationFormat>
  <Paragraphs>197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2.</vt:lpstr>
      <vt:lpstr>1. Rappel</vt:lpstr>
      <vt:lpstr>1. Rappel</vt:lpstr>
      <vt:lpstr>1. Rappel</vt:lpstr>
      <vt:lpstr>1. Rappel</vt:lpstr>
      <vt:lpstr>2. Introduction CSS</vt:lpstr>
      <vt:lpstr>2. Introduction CSS</vt:lpstr>
      <vt:lpstr>2. Introduction CSS - Les types de styles (3) </vt:lpstr>
      <vt:lpstr>2. Introduction CSS - Les types de styles (3) </vt:lpstr>
      <vt:lpstr>2. Introduction CSS - Les types de styles (3)</vt:lpstr>
      <vt:lpstr>2. Introduction CSS - Les types de styles (3)</vt:lpstr>
      <vt:lpstr>2. Introduction CSS - Les types de styles (3)</vt:lpstr>
      <vt:lpstr>2. Introduction CSS - Les règles et déclarations</vt:lpstr>
      <vt:lpstr>2. Introduction CSS - Les règles et déclarations</vt:lpstr>
      <vt:lpstr> 2. Introduction CSS - Les sélecteurs</vt:lpstr>
      <vt:lpstr>2. Introduction CSS - Les règles et déclarations</vt:lpstr>
      <vt:lpstr>2. Introduction CSS - Les balises sémantiques div et span</vt:lpstr>
      <vt:lpstr>2. Introduction CSS - Les balises sémantiques div et span</vt:lpstr>
      <vt:lpstr>2. Introduction CSS – Les unités de mesures</vt:lpstr>
      <vt:lpstr>2. Introduction CSS – Les unités de mesures</vt:lpstr>
      <vt:lpstr>Présentation PowerPoint</vt:lpstr>
      <vt:lpstr>Labo - Mise en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12</cp:revision>
  <dcterms:created xsi:type="dcterms:W3CDTF">2025-10-07T17:36:00Z</dcterms:created>
  <dcterms:modified xsi:type="dcterms:W3CDTF">2025-10-15T16:09:40Z</dcterms:modified>
</cp:coreProperties>
</file>